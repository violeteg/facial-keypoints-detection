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theme" Target="theme/theme2.xml"/><Relationship Id="rId8" Type="http://schemas.openxmlformats.org/officeDocument/2006/relationships/slideMaster" Target="slideMasters/slideMaster2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notesSlide" Target="notesSlides/notesSlide1.xml"/><Relationship Id="rId20" Type="http://schemas.openxmlformats.org/officeDocument/2006/relationships/notesSlide" Target="notesSlides/notesSlide2.xml"/><Relationship Id="rId21" Type="http://schemas.openxmlformats.org/officeDocument/2006/relationships/notesSlide" Target="notesSlides/notesSlide3.xml"/><Relationship Id="rId22" Type="http://schemas.openxmlformats.org/officeDocument/2006/relationships/notesSlide" Target="notesSlides/notesSlide4.xml"/><Relationship Id="rId23" Type="http://schemas.openxmlformats.org/officeDocument/2006/relationships/notesSlide" Target="notesSlides/notesSlide5.xml"/><Relationship Id="rId24" Type="http://schemas.openxmlformats.org/officeDocument/2006/relationships/notesSlide" Target="notesSlides/notesSlide6.xml"/><Relationship Id="rId25" Type="http://schemas.openxmlformats.org/officeDocument/2006/relationships/notesSlide" Target="notesSlides/notesSlide7.xml"/><Relationship Id="rId26" Type="http://schemas.openxmlformats.org/officeDocument/2006/relationships/notesSlide" Target="notesSlides/notesSlide8.xml"/><Relationship Id="rId27" Type="http://schemas.openxmlformats.org/officeDocument/2006/relationships/notesSlide" Target="notesSlides/notesSlide9.xml"/><Relationship Id="rId28" Type="http://schemas.openxmlformats.org/officeDocument/2006/relationships/notesSlide" Target="notesSlides/notes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大家好，欢迎参加我们的项目最终展示。本次报告将详细介绍我们在“面部关键点回归”这个迷你项目中的工作。我们的团队由Tianran Zhang, Yongjia Zhang和Shilpi Roy组成。我们将分享我们如何理解任务、分析数据、构建模型，并最终取得了竞赛中的第85名。接下来，我们将按照标准的建模流程，为大家展示我们的完整工作。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本次报告将遵循一个清晰的故事线，分为五个部分。首先，我们会明确任务的定义和评估标准。其次，我们将深入分析数据集并识别其中的挑战。接着，我们会介绍我们建立的基线模型。然后，详细阐述我们为提升模型性能所做的各项改进。最后，我们会展示最终的结果，并进行反思总结。这个结构将帮助大家系统性地了解我们的项目全过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首先，我们来明确任务。本次竞赛是关于面部关键点回归，目标是预测图像中15个面部关键点的坐标。输入是灰度图像，任务类型是回归。官方评估指标是均方误差（MSE），我们的目标是尽可能降低这个值。这个任务在人脸识别、情绪检测等领域有重要应用。我们的核心目标就是构建一个高精度的预测模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数据分析与挑战。我们的数据集包含约7000张带标签的训练图像。每个图像是96x96的灰度图，展平后是一个9216维的向量。主要挑战包括：部分样本存在缺失的关键点标签，这需要我们进行预处理；并非所有关键点在每张图中都可见，导致标签稀疏；以及测试集可能存在与训练集不同的姿态或光照，即领域漂移问题。这些分析告诉我们，数据预处理和降维将是关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我们的基线模型非常简单。我们首先将图像像素值归一化到0到1之间，然后直接使用展平后的9216维向量作为输入，训练一个线性回归模型。损失函数采用均方误差。这个模型在公共排行榜上取得了3.81958的分数。选择线性回归作为基线是因为它简单、可解释，能为我们提供一个性能基准，方便后续评估更复杂模型的改进效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这是我们的最终结果。我们的最佳模型在测试集上取得了3.59529的分数，在竞赛中排名第85位。虽然相比基线有了很大提升，但与第一名的1.28236分相比仍有差距。关键结论是，CNN模型是我们成功的核心。通过对比图可以看到，顶尖选手的分数显著更低。错误分析显示，模型在处理遮挡、极端姿态的人脸时表现不佳，这是未来需要改进的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等线"/>
                <a:ea typeface="等线"/>
                <a:cs typeface="等线"/>
                <a:sym typeface="等线"/>
              </a:rPr>
              <a:t>现在我们来进行讨论与反思。本次项目中最成功的部分是采用了CNN模型，它显著提升了预测精度，证明了深度学习在图像处理任务中的强大能力。然而，一些尝试并未取得预期效果，比如简单的数据增强。这可能是因为增强的力度不够。项目的主要局限性在于模型对极端姿态和遮挡的人脸处理能力不足。未来，我们计划尝试更先进的网络架构，如ResNet，并采用更复杂的数据增强技术来进一步提升模型性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关于AI工具的使用和项目的可复现性。在项目中，我们使用了GitHub Copilot作为代码辅助工具，主要用于自动补全和调试，以提高编码效率。但所有核心的模型设计、数据处理策略和实验流程均由团队独立完成。为了确保可复现性，我们已经记录了所有必要的信息，包括随机种子、环境配置、训练参数、代码链接以及指标计算细节，任何人都可以根据这些信息复现我们的实验结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我的报告到此结束。感谢大家的聆听。现在是问答环节，欢迎大家提问。如果需要，我们也准备了附录幻灯片，包含更多关于实验细节、数据可视化和模型架构的信息。谢谢！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Relationship Id="rId5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6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203200" cy="6858000"/>
          </a:xfrm>
          <a:prstGeom prst="roundRect">
            <a:avLst>
              <a:gd name="adj" fmla="val 0"/>
            </a:avLst>
          </a:prstGeom>
          <a:solidFill>
            <a:srgbClr val="B4343A">
              <a:alpha val="100000"/>
            </a:srgbClr>
          </a:solidFill>
          <a:ln w="12700" cmpd="sng" cap="flat">
            <a:solidFill>
              <a:srgbClr val="B4343A">
                <a:alpha val="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779000" y="0"/>
            <a:ext cx="2413000" cy="6858000"/>
          </a:xfrm>
          <a:prstGeom prst="roundRect">
            <a:avLst>
              <a:gd name="adj" fmla="val 0"/>
            </a:avLst>
          </a:prstGeom>
          <a:solidFill>
            <a:srgbClr val="16253F">
              <a:alpha val="100000"/>
            </a:srgbClr>
          </a:solidFill>
          <a:ln w="12700" cmpd="sng" cap="flat">
            <a:solidFill>
              <a:srgbClr val="16253F">
                <a:alpha val="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067800" y="660400"/>
            <a:ext cx="711200" cy="4940300"/>
          </a:xfrm>
          <a:prstGeom prst="roundRect">
            <a:avLst>
              <a:gd name="adj" fmla="val 0"/>
            </a:avLst>
          </a:prstGeom>
          <a:solidFill>
            <a:srgbClr val="B4343A">
              <a:alpha val="100000"/>
            </a:srgbClr>
          </a:solidFill>
          <a:ln w="12700" cmpd="sng" cap="flat">
            <a:solidFill>
              <a:srgbClr val="B4343A">
                <a:alpha val="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36600" y="838200"/>
            <a:ext cx="2921000" cy="203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SDSC8007 • MINI PROJECT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11200" y="1231900"/>
            <a:ext cx="5397500" cy="1422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500">
                <a:solidFill>
                  <a:srgbClr val="16253F"/>
                </a:solidFill>
                <a:latin typeface="Play"/>
                <a:ea typeface="Play"/>
                <a:cs typeface="Play"/>
                <a:sym typeface="Play"/>
              </a:rPr>
              <a:t>Facial Keypoints</a:t>
            </a:r>
            <a:r>
              <a:rPr lang="en-US" b="true" i="false" strike="noStrike" u="none" sz="2500">
                <a:solidFill>
                  <a:srgbClr val="16253F"/>
                </a:solidFill>
                <a:latin typeface="Play"/>
                <a:ea typeface="Play"/>
                <a:cs typeface="Play"/>
                <a:sym typeface="Play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true" i="false" strike="noStrike" u="none" sz="2500">
                <a:solidFill>
                  <a:srgbClr val="16253F"/>
                </a:solidFill>
                <a:latin typeface="Play"/>
                <a:ea typeface="Play"/>
                <a:cs typeface="Play"/>
                <a:sym typeface="Play"/>
              </a:rPr>
              <a:t>Regression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49300" y="2755900"/>
            <a:ext cx="5346700" cy="711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254" rIns="254" tIns="254" bIns="254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500">
                <a:solidFill>
                  <a:srgbClr val="16253F"/>
                </a:solidFill>
                <a:latin typeface="Aptos"/>
                <a:ea typeface="Aptos"/>
                <a:cs typeface="Aptos"/>
                <a:sym typeface="Aptos"/>
              </a:rPr>
              <a:t>This presentation covers the end-to-end pipeline for predicting 15 facial keypoints (30 outputs) from 96×96 grayscale images, including data preprocessing, CNN modeling, K-Fold training, and Kaggle inference.l construction, and performance evaluation for the Kaggle mini-competition.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36600" y="3810000"/>
            <a:ext cx="5473700" cy="1485900"/>
          </a:xfrm>
          <a:prstGeom prst="roundRect">
            <a:avLst>
              <a:gd name="adj" fmla="val 5128"/>
            </a:avLst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D5CCB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65200" y="4000500"/>
            <a:ext cx="5461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TEAM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65200" y="4229100"/>
            <a:ext cx="20574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381" rIns="381" tIns="381" bIns="381"/>
          <a:lstStyle/>
          <a:p>
            <a:pPr algn="l" indent="0">
              <a:lnSpc>
                <a:spcPct val="100000"/>
              </a:lnSpc>
              <a:defRPr/>
            </a:pPr>
            <a:r>
              <a:rPr sz="1000" b="0">
                <a:solidFill>
                  <a:srgbClr val="000000"/>
                </a:solidFill>
              </a:rPr>
              <a:t>VioletEG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403600" y="4000500"/>
            <a:ext cx="10922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COMPETITION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403600" y="4229100"/>
            <a:ext cx="2095500" cy="762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381" rIns="381" tIns="381" bIns="381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Facial Keypoints Regression</a:t>
            </a:r>
            <a:r>
              <a:rPr lang="en-US" b="false" i="false" strike="noStrike" u="none" sz="1600">
                <a:solidFill>
                  <a:srgbClr val="1F2329"/>
                </a:solidFill>
                <a:latin typeface="Aptos"/>
                <a:ea typeface="Aptos"/>
                <a:cs typeface="Aptos"/>
                <a:sym typeface="Aptos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9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kaggle.com/competitions/mini-project-facial-keypoints-detection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65200" y="5080000"/>
            <a:ext cx="5461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DATE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65200" y="5334000"/>
            <a:ext cx="2108200" cy="292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381" rIns="381" tIns="381" bIns="381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2026-04-28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403600" y="5080000"/>
            <a:ext cx="7366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TAGLINE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403600" y="5334000"/>
            <a:ext cx="2159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381" rIns="381" tIns="381" bIns="381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End-to-end CNN pipeline: BaselineCNN → ImprovedCNN, 5-Fold CV, masked MSE loss, Kaggle submission.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21900" y="5461000"/>
            <a:ext cx="1422400" cy="203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CITYU-DG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982200" y="5740400"/>
            <a:ext cx="1689100" cy="177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D5DBE7"/>
                </a:solidFill>
                <a:latin typeface="Aptos"/>
                <a:ea typeface="Aptos"/>
                <a:cs typeface="Aptos"/>
                <a:sym typeface="Aptos"/>
              </a:rPr>
              <a:t>Final Presentation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236200" y="5969000"/>
            <a:ext cx="1143000" cy="177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D5DBE7"/>
                </a:solidFill>
                <a:latin typeface="Aptos"/>
                <a:ea typeface="Aptos"/>
                <a:cs typeface="Aptos"/>
                <a:sym typeface="Aptos"/>
              </a:rPr>
              <a:t/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1379200" y="6464300"/>
            <a:ext cx="4064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01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65100" cy="6858000"/>
          </a:xfrm>
          <a:prstGeom prst="roundRect">
            <a:avLst>
              <a:gd name="adj" fmla="val 0"/>
            </a:avLst>
          </a:prstGeom>
          <a:solidFill>
            <a:srgbClr val="B4343A">
              <a:alpha val="100000"/>
            </a:srgbClr>
          </a:solidFill>
          <a:ln w="12700" cmpd="sng" cap="flat">
            <a:solidFill>
              <a:srgbClr val="B4343A">
                <a:alpha val="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544300" y="0"/>
            <a:ext cx="647700" cy="1003300"/>
          </a:xfrm>
          <a:prstGeom prst="roundRect">
            <a:avLst>
              <a:gd name="adj" fmla="val 0"/>
            </a:avLst>
          </a:prstGeom>
          <a:solidFill>
            <a:srgbClr val="B4343A">
              <a:alpha val="100000"/>
            </a:srgbClr>
          </a:solidFill>
          <a:ln w="12700" cmpd="sng" cap="flat">
            <a:solidFill>
              <a:srgbClr val="B4343A">
                <a:alpha val="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1125200" y="0"/>
            <a:ext cx="406400" cy="419100"/>
          </a:xfrm>
          <a:prstGeom prst="roundRect">
            <a:avLst>
              <a:gd name="adj" fmla="val 0"/>
            </a:avLst>
          </a:prstGeom>
          <a:solidFill>
            <a:srgbClr val="16253F">
              <a:alpha val="100000"/>
            </a:srgbClr>
          </a:solidFill>
          <a:ln w="12700" cmpd="sng" cap="flat">
            <a:solidFill>
              <a:srgbClr val="16253F">
                <a:alpha val="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292100"/>
            <a:ext cx="2921000" cy="203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FINAL PRESENTATION TEMPLATE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508000"/>
            <a:ext cx="8089900" cy="4699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600">
                <a:solidFill>
                  <a:srgbClr val="16253F"/>
                </a:solidFill>
                <a:latin typeface="Play"/>
                <a:ea typeface="Play"/>
                <a:cs typeface="Play"/>
                <a:sym typeface="Play"/>
              </a:rPr>
              <a:t>Recommended Storyline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508000" y="6438900"/>
            <a:ext cx="111506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sq">
            <a:solidFill>
              <a:srgbClr val="D5CCB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533400" y="6477000"/>
            <a:ext cx="64897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SDSC8007 • Mini Project • Facial Keypoints Detection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372600" y="292100"/>
            <a:ext cx="1651000" cy="254000"/>
          </a:xfrm>
          <a:prstGeom prst="roundRect">
            <a:avLst>
              <a:gd name="adj" fmla="val 20000"/>
            </a:avLst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EDE2D3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448800" y="330200"/>
            <a:ext cx="1498600" cy="127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8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USE AS ROADMAP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1" flipH="false" flipV="false">
            <a:off x="4495800" y="3022600"/>
            <a:ext cx="123196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sq">
            <a:solidFill>
              <a:srgbClr val="D5CCB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12" id="12"/>
          <p:cNvCxnSpPr/>
          <p:nvPr/>
        </p:nvCxnSpPr>
        <p:spPr>
          <a:xfrm rot="1" flipH="false" flipV="false">
            <a:off x="6362700" y="3022600"/>
            <a:ext cx="124466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sq">
            <a:solidFill>
              <a:srgbClr val="D5CCB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13" id="13"/>
          <p:cNvCxnSpPr/>
          <p:nvPr/>
        </p:nvCxnSpPr>
        <p:spPr>
          <a:xfrm rot="1" flipH="false" flipV="false">
            <a:off x="8242300" y="3022600"/>
            <a:ext cx="123196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sq">
            <a:solidFill>
              <a:srgbClr val="D5CCB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14" id="14"/>
          <p:cNvCxnSpPr/>
          <p:nvPr/>
        </p:nvCxnSpPr>
        <p:spPr>
          <a:xfrm rot="1" flipH="false" flipV="false">
            <a:off x="10121900" y="3022600"/>
            <a:ext cx="123196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sq">
            <a:solidFill>
              <a:srgbClr val="D5CCB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15" id="15"/>
          <p:cNvCxnSpPr/>
          <p:nvPr/>
        </p:nvCxnSpPr>
        <p:spPr>
          <a:xfrm rot="1" flipH="false" flipV="false">
            <a:off x="2197100" y="3022600"/>
            <a:ext cx="124466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sq">
            <a:solidFill>
              <a:srgbClr val="D5CCB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16" id="16"/>
          <p:cNvCxnSpPr/>
          <p:nvPr/>
        </p:nvCxnSpPr>
        <p:spPr>
          <a:xfrm rot="1" flipH="false" flipV="false">
            <a:off x="4076700" y="3022600"/>
            <a:ext cx="1231965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sq">
            <a:solidFill>
              <a:srgbClr val="D5CCB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1549400" y="2565400"/>
            <a:ext cx="685800" cy="685800"/>
          </a:xfrm>
          <a:prstGeom prst="ellipse">
            <a:avLst/>
          </a:prstGeom>
          <a:solidFill>
            <a:srgbClr val="B4343A">
              <a:alpha val="100000"/>
            </a:srgbClr>
          </a:solidFill>
          <a:ln w="12700" cmpd="sng" cap="flat">
            <a:solidFill>
              <a:srgbClr val="B4343A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549400" y="2755900"/>
            <a:ext cx="6858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01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143000" y="3454400"/>
            <a:ext cx="17780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6253F"/>
                </a:solidFill>
                <a:latin typeface="Aptos"/>
                <a:ea typeface="Aptos"/>
                <a:cs typeface="Aptos"/>
                <a:sym typeface="Aptos"/>
              </a:rPr>
              <a:t>Task &amp; metric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143000" y="3937000"/>
            <a:ext cx="17780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What is the competition?</a:t>
            </a:r>
            <a:r>
              <a:rPr lang="en-US" b="false" i="false" strike="noStrike" u="none" sz="11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/>
            </a:r>
            <a:br>
              <a:rPr lang="en-US" b="false" i="false" strike="noStrike" u="none" sz="11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-US" b="false" i="false" strike="noStrike" u="none" sz="11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What is the exact prediction target and evaluation metric?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429000" y="2565400"/>
            <a:ext cx="685800" cy="685800"/>
          </a:xfrm>
          <a:prstGeom prst="ellipse">
            <a:avLst/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16253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429000" y="2755900"/>
            <a:ext cx="6858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16253F"/>
                </a:solidFill>
                <a:latin typeface="Aptos"/>
                <a:ea typeface="Aptos"/>
                <a:cs typeface="Aptos"/>
                <a:sym typeface="Aptos"/>
              </a:rPr>
              <a:t>02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009900" y="3454400"/>
            <a:ext cx="17780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6253F"/>
                </a:solidFill>
                <a:latin typeface="Aptos"/>
                <a:ea typeface="Aptos"/>
                <a:cs typeface="Aptos"/>
                <a:sym typeface="Aptos"/>
              </a:rPr>
              <a:t>Data &amp; challenges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3009900" y="3937000"/>
            <a:ext cx="17780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What data do you have,</a:t>
            </a:r>
            <a:r>
              <a:rPr lang="en-US" b="false" i="false" strike="noStrike" u="none" sz="11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/>
            </a:r>
            <a:br>
              <a:rPr lang="en-US" b="false" i="false" strike="noStrike" u="none" sz="11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-US" b="false" i="false" strike="noStrike" u="none" sz="11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and what makes the task difficult?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715000" y="2565400"/>
            <a:ext cx="685800" cy="685800"/>
          </a:xfrm>
          <a:prstGeom prst="ellipse">
            <a:avLst/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16253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715000" y="2755900"/>
            <a:ext cx="6858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16253F"/>
                </a:solidFill>
                <a:latin typeface="Aptos"/>
                <a:ea typeface="Aptos"/>
                <a:cs typeface="Aptos"/>
                <a:sym typeface="Aptos"/>
              </a:rPr>
              <a:t>03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5295900" y="3454400"/>
            <a:ext cx="17780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6253F"/>
                </a:solidFill>
                <a:latin typeface="Aptos"/>
                <a:ea typeface="Aptos"/>
                <a:cs typeface="Aptos"/>
                <a:sym typeface="Aptos"/>
              </a:rPr>
              <a:t>Baseline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5295900" y="3937000"/>
            <a:ext cx="17780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Start from a reproducible model before improvements.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594600" y="2565400"/>
            <a:ext cx="685800" cy="685800"/>
          </a:xfrm>
          <a:prstGeom prst="ellipse">
            <a:avLst/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16253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594600" y="2755900"/>
            <a:ext cx="6858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16253F"/>
                </a:solidFill>
                <a:latin typeface="Aptos"/>
                <a:ea typeface="Aptos"/>
                <a:cs typeface="Aptos"/>
                <a:sym typeface="Aptos"/>
              </a:rPr>
              <a:t>04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175500" y="3454400"/>
            <a:ext cx="17780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6253F"/>
                </a:solidFill>
                <a:latin typeface="Aptos"/>
                <a:ea typeface="Aptos"/>
                <a:cs typeface="Aptos"/>
                <a:sym typeface="Aptos"/>
              </a:rPr>
              <a:t>Improvements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175500" y="3937000"/>
            <a:ext cx="17780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Show the logic behind each major change and its effect.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9474200" y="2565400"/>
            <a:ext cx="685800" cy="685800"/>
          </a:xfrm>
          <a:prstGeom prst="ellipse">
            <a:avLst/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16253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9474200" y="2755900"/>
            <a:ext cx="6858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16253F"/>
                </a:solidFill>
                <a:latin typeface="Aptos"/>
                <a:ea typeface="Aptos"/>
                <a:cs typeface="Aptos"/>
                <a:sym typeface="Aptos"/>
              </a:rPr>
              <a:t>05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9055100" y="3454400"/>
            <a:ext cx="17780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6253F"/>
                </a:solidFill>
                <a:latin typeface="Aptos"/>
                <a:ea typeface="Aptos"/>
                <a:cs typeface="Aptos"/>
                <a:sym typeface="Aptos"/>
              </a:rPr>
              <a:t>Results &amp; reflection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9055100" y="3937000"/>
            <a:ext cx="17780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Final score, Top-5 target,</a:t>
            </a:r>
            <a:r>
              <a:rPr lang="en-US" b="false" i="false" strike="noStrike" u="none" sz="11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/>
            </a:r>
            <a:br>
              <a:rPr lang="en-US" b="false" i="false" strike="noStrike" u="none" sz="11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-US" b="false" i="false" strike="noStrike" u="none" sz="11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what worked, what remains.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660400" y="1143000"/>
            <a:ext cx="4978400" cy="838200"/>
          </a:xfrm>
          <a:prstGeom prst="roundRect">
            <a:avLst>
              <a:gd name="adj" fmla="val 9090"/>
            </a:avLst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D5CCB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838200" y="1358900"/>
            <a:ext cx="11938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COURSE REMINDER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838200" y="1574800"/>
            <a:ext cx="45720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Presentation should reflect the complete modeling pipeline: data understanding, validation design, baseline, model improvement, result analysis, and summary.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5880100" y="1143000"/>
            <a:ext cx="5435600" cy="838200"/>
          </a:xfrm>
          <a:prstGeom prst="roundRect">
            <a:avLst>
              <a:gd name="adj" fmla="val 9090"/>
            </a:avLst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D5CCB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6083300" y="1358900"/>
            <a:ext cx="8255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EDITING TIP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6083300" y="1574800"/>
            <a:ext cx="49403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Delete this slide in the final version if you do not want to show the roadmap. Duplicate section slides when you need more space.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11379200" y="6464300"/>
            <a:ext cx="4064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6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65100" cy="6858000"/>
          </a:xfrm>
          <a:prstGeom prst="roundRect">
            <a:avLst>
              <a:gd name="adj" fmla="val 0"/>
            </a:avLst>
          </a:prstGeom>
          <a:solidFill>
            <a:srgbClr val="B4343A">
              <a:alpha val="100000"/>
            </a:srgbClr>
          </a:solidFill>
          <a:ln w="12700" cmpd="sng" cap="flat">
            <a:solidFill>
              <a:srgbClr val="B4343A">
                <a:alpha val="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544300" y="0"/>
            <a:ext cx="647700" cy="1003300"/>
          </a:xfrm>
          <a:prstGeom prst="roundRect">
            <a:avLst>
              <a:gd name="adj" fmla="val 0"/>
            </a:avLst>
          </a:prstGeom>
          <a:solidFill>
            <a:srgbClr val="B4343A">
              <a:alpha val="100000"/>
            </a:srgbClr>
          </a:solidFill>
          <a:ln w="12700" cmpd="sng" cap="flat">
            <a:solidFill>
              <a:srgbClr val="B4343A">
                <a:alpha val="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1125200" y="0"/>
            <a:ext cx="406400" cy="419100"/>
          </a:xfrm>
          <a:prstGeom prst="roundRect">
            <a:avLst>
              <a:gd name="adj" fmla="val 0"/>
            </a:avLst>
          </a:prstGeom>
          <a:solidFill>
            <a:srgbClr val="16253F">
              <a:alpha val="100000"/>
            </a:srgbClr>
          </a:solidFill>
          <a:ln w="12700" cmpd="sng" cap="flat">
            <a:solidFill>
              <a:srgbClr val="16253F">
                <a:alpha val="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292100"/>
            <a:ext cx="2921000" cy="203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SDSC8007 • MINI PROJECT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508000"/>
            <a:ext cx="8089900" cy="4699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600">
                <a:solidFill>
                  <a:srgbClr val="16253F"/>
                </a:solidFill>
                <a:latin typeface="Play"/>
                <a:ea typeface="Play"/>
                <a:cs typeface="Play"/>
                <a:sym typeface="Play"/>
              </a:rPr>
              <a:t>1. Task Description &amp; Metric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508000" y="6438900"/>
            <a:ext cx="111506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sq">
            <a:solidFill>
              <a:srgbClr val="D5CCB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533400" y="6477000"/>
            <a:ext cx="64897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SDSC8007 • Mini Project • Facial Keypoints Detection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372600" y="292100"/>
            <a:ext cx="1651000" cy="254000"/>
          </a:xfrm>
          <a:prstGeom prst="roundRect">
            <a:avLst>
              <a:gd name="adj" fmla="val 20000"/>
            </a:avLst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EDE2D3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448800" y="330200"/>
            <a:ext cx="1498600" cy="127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8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TASK OVERVIEW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85800" y="1231900"/>
            <a:ext cx="3022600" cy="1828800"/>
          </a:xfrm>
          <a:prstGeom prst="roundRect">
            <a:avLst>
              <a:gd name="adj" fmla="val 4166"/>
            </a:avLst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D5CCB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01700" y="1460500"/>
            <a:ext cx="13716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COMPETITION SNAPSHOT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01700" y="1739900"/>
            <a:ext cx="2514600" cy="1143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12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Name:</a:t>
            </a:r>
            <a:r>
              <a:rPr lang="en-US" b="false" i="false" strike="noStrike" u="none" sz="1200">
                <a:solidFill>
                  <a:srgbClr val="3C3C3C"/>
                </a:solidFill>
                <a:latin typeface="Aptos"/>
                <a:ea typeface="Aptos"/>
                <a:cs typeface="Aptos"/>
                <a:sym typeface="Aptos"/>
              </a:rPr>
              <a:t>Facial Keypoints Detection</a:t>
            </a:r>
            <a:r>
              <a:rPr lang="en-US" b="false" i="false" strike="noStrike" u="none" sz="1200">
                <a:solidFill>
                  <a:srgbClr val="1F2329"/>
                </a:solidFill>
                <a:latin typeface="Aptos"/>
                <a:ea typeface="Aptos"/>
                <a:cs typeface="Aptos"/>
                <a:sym typeface="Aptos"/>
              </a:rPr>
              <a:t/>
            </a:r>
            <a:endParaRPr lang="en-US" sz="1100"/>
          </a:p>
          <a:p>
            <a:pPr algn="l" indent="0">
              <a:lnSpc>
                <a:spcPct val="91666"/>
              </a:lnSpc>
            </a:pPr>
            <a:r>
              <a:rPr lang="en-US" b="true" i="false" strike="noStrike" u="none" sz="12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Domain:</a:t>
            </a:r>
            <a:r>
              <a:rPr lang="en-US" b="false" i="false" strike="noStrike" u="none" sz="1200">
                <a:solidFill>
                  <a:srgbClr val="3C3C3C"/>
                </a:solidFill>
                <a:latin typeface="Aptos"/>
                <a:ea typeface="Aptos"/>
                <a:cs typeface="Aptos"/>
                <a:sym typeface="Aptos"/>
              </a:rPr>
              <a:t>Kaggle / SDSC8007 Mini Project</a:t>
            </a:r>
            <a:r>
              <a:rPr lang="en-US" b="false" i="false" strike="noStrike" u="none" sz="1200">
                <a:solidFill>
                  <a:srgbClr val="1F2329"/>
                </a:solidFill>
                <a:latin typeface="Aptos"/>
                <a:ea typeface="Aptos"/>
                <a:cs typeface="Aptos"/>
                <a:sym typeface="Aptos"/>
              </a:rPr>
              <a:t/>
            </a:r>
          </a:p>
          <a:p>
            <a:pPr algn="l" indent="0">
              <a:lnSpc>
                <a:spcPct val="91666"/>
              </a:lnSpc>
            </a:pPr>
            <a:r>
              <a:rPr lang="en-US" b="true" i="false" strike="noStrike" u="none" sz="12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Impact:</a:t>
            </a:r>
            <a:r>
              <a:rPr lang="en-US" b="false" i="false" strike="noStrike" u="none" sz="1200">
                <a:solidFill>
                  <a:srgbClr val="3C3C3C"/>
                </a:solidFill>
                <a:latin typeface="Aptos"/>
                <a:ea typeface="Aptos"/>
                <a:cs typeface="Aptos"/>
                <a:sym typeface="Aptos"/>
              </a:rPr>
              <a:t>Fundamental for face recognition, emotion detection &amp; AR.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85800" y="3276600"/>
            <a:ext cx="3022600" cy="2425700"/>
          </a:xfrm>
          <a:prstGeom prst="roundRect">
            <a:avLst>
              <a:gd name="adj" fmla="val 3141"/>
            </a:avLst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D5CCB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01700" y="3505200"/>
            <a:ext cx="12827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PREDICTION SETUP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01700" y="3771900"/>
            <a:ext cx="2489200" cy="152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1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• Type:</a:t>
            </a:r>
            <a:r>
              <a:rPr lang="en-US" b="false" i="false" strike="noStrike" u="none" sz="1100">
                <a:solidFill>
                  <a:srgbClr val="3C3C3C"/>
                </a:solidFill>
                <a:latin typeface="Aptos"/>
                <a:ea typeface="Aptos"/>
                <a:cs typeface="Aptos"/>
                <a:sym typeface="Aptos"/>
              </a:rPr>
              <a:t>Regression (predict continuous coordinates)</a:t>
            </a:r>
            <a:r>
              <a:rPr lang="en-US" b="false" i="false" strike="noStrike" u="none" sz="1100">
                <a:solidFill>
                  <a:srgbClr val="1F2329"/>
                </a:solidFill>
                <a:latin typeface="Aptos"/>
                <a:ea typeface="Aptos"/>
                <a:cs typeface="Aptos"/>
                <a:sym typeface="Aptos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true" i="false" strike="noStrike" u="none" sz="11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• Input:</a:t>
            </a:r>
            <a:r>
              <a:rPr lang="en-US" b="false" i="false" strike="noStrike" u="none" sz="1100">
                <a:solidFill>
                  <a:srgbClr val="3C3C3C"/>
                </a:solidFill>
                <a:latin typeface="Aptos"/>
                <a:ea typeface="Aptos"/>
                <a:cs typeface="Aptos"/>
                <a:sym typeface="Aptos"/>
              </a:rPr>
              <a:t>2D Grayscale Facial Images</a:t>
            </a:r>
            <a:r>
              <a:rPr lang="en-US" b="false" i="false" strike="noStrike" u="none" sz="1100">
                <a:solidFill>
                  <a:srgbClr val="1F2329"/>
                </a:solidFill>
                <a:latin typeface="Aptos"/>
                <a:ea typeface="Aptos"/>
                <a:cs typeface="Aptos"/>
                <a:sym typeface="Aptos"/>
              </a:rPr>
              <a:t/>
            </a:r>
          </a:p>
          <a:p>
            <a:pPr algn="l" indent="0">
              <a:lnSpc>
                <a:spcPct val="108333"/>
              </a:lnSpc>
            </a:pPr>
            <a:r>
              <a:rPr lang="en-US" b="true" i="false" strike="noStrike" u="none" sz="11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• Output:</a:t>
            </a:r>
            <a:r>
              <a:rPr lang="en-US" b="false" i="false" strike="noStrike" u="none" sz="1100">
                <a:solidFill>
                  <a:srgbClr val="3C3C3C"/>
                </a:solidFill>
                <a:latin typeface="Aptos"/>
                <a:ea typeface="Aptos"/>
                <a:cs typeface="Aptos"/>
                <a:sym typeface="Aptos"/>
              </a:rPr>
              <a:t>The (x, y) coordinates of 15 distinct facial keypoints.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975100" y="1231900"/>
            <a:ext cx="3975100" cy="4483100"/>
          </a:xfrm>
          <a:prstGeom prst="roundRect">
            <a:avLst>
              <a:gd name="adj" fmla="val 1916"/>
            </a:avLst>
          </a:prstGeom>
          <a:solidFill>
            <a:srgbClr val="FFFFFF">
              <a:alpha val="78000"/>
            </a:srgbClr>
          </a:solidFill>
          <a:ln w="12700" cmpd="sng" cap="flat">
            <a:solidFill>
              <a:srgbClr val="B8BDC7">
                <a:alpha val="100000"/>
              </a:srgbClr>
            </a:solidFill>
            <a:prstDash val="dash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140200" y="1397000"/>
            <a:ext cx="3644900" cy="203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6253F"/>
                </a:solidFill>
                <a:latin typeface="Aptos"/>
                <a:ea typeface="Aptos"/>
                <a:cs typeface="Aptos"/>
                <a:sym typeface="Aptos"/>
              </a:rPr>
              <a:t>Task Visualization Concept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140200" y="1778000"/>
            <a:ext cx="3644900" cy="355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05050"/>
                </a:solidFill>
                <a:latin typeface="Aptos"/>
                <a:ea typeface="Aptos"/>
                <a:cs typeface="Aptos"/>
                <a:sym typeface="Aptos"/>
              </a:rPr>
              <a:t>Imagine a grayscale portrait of a human face.</a:t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505050"/>
                </a:solidFill>
                <a:latin typeface="Aptos"/>
                <a:ea typeface="Aptos"/>
                <a:cs typeface="Aptos"/>
                <a:sym typeface="Aptos"/>
              </a:rPr>
              <a:t>Our model analyzes the pixel data to pinpoint 15 critical landmarks:</a:t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505050"/>
                </a:solidFill>
                <a:latin typeface="Aptos"/>
                <a:ea typeface="Aptos"/>
                <a:cs typeface="Aptos"/>
                <a:sym typeface="Aptos"/>
              </a:rPr>
              <a:t>• Eyes (inner/outer corners)</a:t>
            </a:r>
            <a:br>
              <a:rPr lang="en-US" b="false" i="false" strike="noStrike" u="none" sz="1200">
                <a:solidFill>
                  <a:srgbClr val="505050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-US" b="false" i="false" strike="noStrike" u="none" sz="1200">
                <a:solidFill>
                  <a:srgbClr val="505050"/>
                </a:solidFill>
                <a:latin typeface="Aptos"/>
                <a:ea typeface="Aptos"/>
                <a:cs typeface="Aptos"/>
                <a:sym typeface="Aptos"/>
              </a:rPr>
              <a:t>• Nose (tip &amp; bridge)</a:t>
            </a:r>
            <a:br>
              <a:rPr lang="en-US" b="false" i="false" strike="noStrike" u="none" sz="1200">
                <a:solidFill>
                  <a:srgbClr val="505050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-US" b="false" i="false" strike="noStrike" u="none" sz="1200">
                <a:solidFill>
                  <a:srgbClr val="505050"/>
                </a:solidFill>
                <a:latin typeface="Aptos"/>
                <a:ea typeface="Aptos"/>
                <a:cs typeface="Aptos"/>
                <a:sym typeface="Aptos"/>
              </a:rPr>
              <a:t>• Mouth (corners, upper/lower lips)</a:t>
            </a:r>
            <a:br>
              <a:rPr lang="en-US" b="false" i="false" strike="noStrike" u="none" sz="1200">
                <a:solidFill>
                  <a:srgbClr val="505050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-US" b="false" i="false" strike="noStrike" u="none" sz="1200">
                <a:solidFill>
                  <a:srgbClr val="505050"/>
                </a:solidFill>
                <a:latin typeface="Aptos"/>
                <a:ea typeface="Aptos"/>
                <a:cs typeface="Aptos"/>
                <a:sym typeface="Aptos"/>
              </a:rPr>
              <a:t>• Jawline &amp; Eyebrows</a:t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505050"/>
                </a:solidFill>
                <a:latin typeface="Aptos"/>
                <a:ea typeface="Aptos"/>
                <a:cs typeface="Aptos"/>
                <a:sym typeface="Aptos"/>
              </a:rPr>
              <a:t>Output: 30 numbers (15 pairs of x, y).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229600" y="1231900"/>
            <a:ext cx="3251200" cy="2006600"/>
          </a:xfrm>
          <a:prstGeom prst="roundRect">
            <a:avLst>
              <a:gd name="adj" fmla="val 3797"/>
            </a:avLst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D5CCB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445500" y="1460500"/>
            <a:ext cx="10033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OFFICIAL METRIC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445500" y="1778000"/>
            <a:ext cx="2794000" cy="1270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sz="1100" b="1">
                <a:solidFill>
                  <a:srgbClr val="697386"/>
                </a:solidFill>
              </a:rPr>
              <a:t>Name: RMSE (Root Mean Squared Error)</a:t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sz="1100" b="1">
                <a:solidFill>
                  <a:srgbClr val="697386"/>
                </a:solidFill>
              </a:rPr>
              <a:t>Interpretation: Lower = Better. Computed only on labeled keypoints (masked).</a:t>
            </a:r>
          </a:p>
          <a:p>
            <a:pPr algn="l" indent="0">
              <a:lnSpc>
                <a:spcPct val="100000"/>
              </a:lnSpc>
            </a:pPr>
            <a:r>
              <a:rPr sz="1100" b="1">
                <a:solidFill>
                  <a:srgbClr val="697386"/>
                </a:solidFill>
              </a:rPr>
              <a:t>Implementation: MaskedMSELoss + rmse_with_mask() — NaN labels excluded from loss.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229600" y="3492500"/>
            <a:ext cx="3251200" cy="2222500"/>
          </a:xfrm>
          <a:prstGeom prst="roundRect">
            <a:avLst>
              <a:gd name="adj" fmla="val 3428"/>
            </a:avLst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D5CCB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445500" y="3733800"/>
            <a:ext cx="7366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YOUR GOAL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445500" y="4064000"/>
            <a:ext cx="2794000" cy="1397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C3C3C"/>
                </a:solidFill>
                <a:latin typeface="Aptos"/>
                <a:ea typeface="Aptos"/>
                <a:cs typeface="Aptos"/>
                <a:sym typeface="Aptos"/>
              </a:rPr>
              <a:t>Build a CNN model predicting 30 continuous values (x,y for 15 keypoints), trained with K-Fold CV and evaluated by masked RMSE on Kaggle.ints for unseen grayscale face images, with the aim of minimizing the Mean Squared Error (MSE) on the test set.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1379200" y="6464300"/>
            <a:ext cx="4064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01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6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65100" cy="6858000"/>
          </a:xfrm>
          <a:prstGeom prst="roundRect">
            <a:avLst>
              <a:gd name="adj" fmla="val 0"/>
            </a:avLst>
          </a:prstGeom>
          <a:solidFill>
            <a:srgbClr val="B4343A">
              <a:alpha val="100000"/>
            </a:srgbClr>
          </a:solidFill>
          <a:ln w="12700" cmpd="sng" cap="flat">
            <a:solidFill>
              <a:srgbClr val="B4343A">
                <a:alpha val="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544300" y="0"/>
            <a:ext cx="647700" cy="1003300"/>
          </a:xfrm>
          <a:prstGeom prst="roundRect">
            <a:avLst>
              <a:gd name="adj" fmla="val 0"/>
            </a:avLst>
          </a:prstGeom>
          <a:solidFill>
            <a:srgbClr val="B4343A">
              <a:alpha val="100000"/>
            </a:srgbClr>
          </a:solidFill>
          <a:ln w="12700" cmpd="sng" cap="flat">
            <a:solidFill>
              <a:srgbClr val="B4343A">
                <a:alpha val="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1125200" y="0"/>
            <a:ext cx="406400" cy="419100"/>
          </a:xfrm>
          <a:prstGeom prst="roundRect">
            <a:avLst>
              <a:gd name="adj" fmla="val 0"/>
            </a:avLst>
          </a:prstGeom>
          <a:solidFill>
            <a:srgbClr val="16253F">
              <a:alpha val="100000"/>
            </a:srgbClr>
          </a:solidFill>
          <a:ln w="12700" cmpd="sng" cap="flat">
            <a:solidFill>
              <a:srgbClr val="16253F">
                <a:alpha val="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292100"/>
            <a:ext cx="2921000" cy="203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SDSC8007 • MINI PROJECT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508000"/>
            <a:ext cx="8089900" cy="4699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600">
                <a:solidFill>
                  <a:srgbClr val="16253F"/>
                </a:solidFill>
                <a:latin typeface="Play"/>
                <a:ea typeface="Play"/>
                <a:cs typeface="Play"/>
                <a:sym typeface="Play"/>
              </a:rPr>
              <a:t>2. Data Analysis &amp; Challenges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508000" y="6438900"/>
            <a:ext cx="111506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sq">
            <a:solidFill>
              <a:srgbClr val="D5CCB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533400" y="6477000"/>
            <a:ext cx="64897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Data Analysis • Key Findings &amp; Obstacles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372600" y="292100"/>
            <a:ext cx="1651000" cy="254000"/>
          </a:xfrm>
          <a:prstGeom prst="roundRect">
            <a:avLst>
              <a:gd name="adj" fmla="val 20000"/>
            </a:avLst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EDE2D3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448800" y="330200"/>
            <a:ext cx="1498600" cy="127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8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KEY INSIGHTS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98500" y="1257300"/>
            <a:ext cx="4889500" cy="3606800"/>
          </a:xfrm>
          <a:prstGeom prst="roundRect">
            <a:avLst>
              <a:gd name="adj" fmla="val 211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B8BDC7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63600" y="1422400"/>
            <a:ext cx="45593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6253F"/>
                </a:solidFill>
                <a:latin typeface="Aptos"/>
                <a:ea typeface="Aptos"/>
                <a:cs typeface="Aptos"/>
                <a:sym typeface="Aptos"/>
              </a:rPr>
              <a:t>DATASET SNAPSHOT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63600" y="1968500"/>
            <a:ext cx="4559300" cy="279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63500" rIns="63500" tIns="63500" bIns="6350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B4343A"/>
                </a:solidFill>
                <a:latin typeface="Noto Sans SC"/>
                <a:ea typeface="Noto Sans SC"/>
                <a:cs typeface="Noto Sans SC"/>
                <a:sym typeface="Noto Sans SC"/>
              </a:rPr>
              <a:t>• Scale:</a:t>
            </a:r>
            <a:r>
              <a:rPr lang="en-US" b="false" i="false" strike="noStrike" u="none" sz="13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~7,049 training images; ~1,783 test images.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B4343A"/>
                </a:solidFill>
                <a:latin typeface="Noto Sans SC"/>
                <a:ea typeface="Noto Sans SC"/>
                <a:cs typeface="Noto Sans SC"/>
                <a:sym typeface="Noto Sans SC"/>
              </a:rPr>
              <a:t>• Resolution:</a:t>
            </a:r>
            <a:r>
              <a:rPr lang="en-US" b="false" i="false" strike="noStrike" u="none" sz="13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96x96 pixels (grayscale), resulting in 9216-dimensional feature vectors.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B4343A"/>
                </a:solidFill>
                <a:latin typeface="Noto Sans SC"/>
                <a:ea typeface="Noto Sans SC"/>
                <a:cs typeface="Noto Sans SC"/>
                <a:sym typeface="Noto Sans SC"/>
              </a:rPr>
              <a:t>• Key Task:</a:t>
            </a:r>
            <a:r>
              <a:rPr lang="en-US" b="false" i="false" strike="noStrike" u="none" sz="13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Localize facial keypoints (e.g., eyes, nose, mouth) from the 2D images.</a:t>
            </a:r>
            <a:r>
              <a:rPr lang="en-US" b="false" i="false" strike="noStrike" u="none" sz="13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</a:pPr>
            <a:r>
              <a:rPr lang="en-US" b="true" i="false" strike="noStrike" u="none" sz="1300">
                <a:solidFill>
                  <a:srgbClr val="B4343A"/>
                </a:solidFill>
                <a:latin typeface="Noto Sans SC"/>
                <a:ea typeface="Noto Sans SC"/>
                <a:cs typeface="Noto Sans SC"/>
                <a:sym typeface="Noto Sans SC"/>
              </a:rPr>
              <a:t>• Input Space:</a:t>
            </a:r>
            <a:r>
              <a:rPr lang="en-US" b="false" i="false" strike="noStrike" u="none" sz="13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High dimensionality poses a risk of overfitting simple models.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829300" y="1257300"/>
            <a:ext cx="2463800" cy="1600200"/>
          </a:xfrm>
          <a:prstGeom prst="roundRect">
            <a:avLst>
              <a:gd name="adj" fmla="val 4761"/>
            </a:avLst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D5CCB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981700" y="1397000"/>
            <a:ext cx="21590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PREPROCESSING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981700" y="1778000"/>
            <a:ext cx="21590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25400" rIns="25400" tIns="25400" bIns="2540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1. Parse pixel string → reshape to 96×96 numpy array → divide by 255.0.</a:t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2. Build mask (masks = ~np.isnan(targets)); fill NaN → 0 for training.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521700" y="1257300"/>
            <a:ext cx="2768600" cy="1600200"/>
          </a:xfrm>
          <a:prstGeom prst="roundRect">
            <a:avLst>
              <a:gd name="adj" fmla="val 4761"/>
            </a:avLst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D5CCB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674100" y="1397000"/>
            <a:ext cx="24130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MAIN CHALLENGES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674100" y="1778000"/>
            <a:ext cx="2413000" cy="1016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25400" rIns="25400" tIns="25400" bIns="2540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• Up to ~70% of images missing labels for some keypoints.</a:t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• Sparse labels require MaskedMSELoss to exclude NaN targets from loss/metric.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829300" y="3124200"/>
            <a:ext cx="5461000" cy="1739900"/>
          </a:xfrm>
          <a:prstGeom prst="roundRect">
            <a:avLst>
              <a:gd name="adj" fmla="val 4379"/>
            </a:avLst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D5CCB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981700" y="3302000"/>
            <a:ext cx="10160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TAKEAWAY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981700" y="3683000"/>
            <a:ext cx="4953000" cy="1079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25400" rIns="25400" tIns="25400" bIns="2540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TrainData dataclass stores images, targets, masks, and target_columns. Mask ensures missing labels never contribute to training loss.g the high dimensionality (9216 features) is essential to avoid overfitting and improve model efficiency.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98500" y="5143500"/>
            <a:ext cx="3251200" cy="914400"/>
          </a:xfrm>
          <a:prstGeom prst="roundRect">
            <a:avLst>
              <a:gd name="adj" fmla="val 8333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B8BDC7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63600" y="5270500"/>
            <a:ext cx="2921000" cy="698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25400" rIns="25400" tIns="25400" bIns="2540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6253F"/>
                </a:solidFill>
                <a:latin typeface="Noto Sans SC"/>
                <a:ea typeface="Noto Sans SC"/>
                <a:cs typeface="Noto Sans SC"/>
                <a:sym typeface="Noto Sans SC"/>
              </a:rPr>
              <a:t>High Dimensionality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97386"/>
                </a:solidFill>
                <a:latin typeface="Noto Sans SC"/>
                <a:ea typeface="Noto Sans SC"/>
                <a:cs typeface="Noto Sans SC"/>
                <a:sym typeface="Noto Sans SC"/>
              </a:rPr>
              <a:t>9216-D (96×96) → CNN extracts spatial features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165600" y="5143500"/>
            <a:ext cx="3251200" cy="914400"/>
          </a:xfrm>
          <a:prstGeom prst="roundRect">
            <a:avLst>
              <a:gd name="adj" fmla="val 8333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B8BDC7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330700" y="5270500"/>
            <a:ext cx="2921000" cy="698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25400" rIns="25400" tIns="25400" bIns="2540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6253F"/>
                </a:solidFill>
                <a:latin typeface="Noto Sans SC"/>
                <a:ea typeface="Noto Sans SC"/>
                <a:cs typeface="Noto Sans SC"/>
                <a:sym typeface="Noto Sans SC"/>
              </a:rPr>
              <a:t>Label Issues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97386"/>
                </a:solidFill>
                <a:latin typeface="Noto Sans SC"/>
                <a:ea typeface="Noto Sans SC"/>
                <a:cs typeface="Noto Sans SC"/>
                <a:sym typeface="Noto Sans SC"/>
              </a:rPr>
              <a:t>Missing Values &amp; Sparse Keypoints</a:t>
            </a:r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0" y="5143500"/>
            <a:ext cx="3670300" cy="914400"/>
          </a:xfrm>
          <a:prstGeom prst="roundRect">
            <a:avLst>
              <a:gd name="adj" fmla="val 8333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B8BDC7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785100" y="5270500"/>
            <a:ext cx="3340100" cy="698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25400" rIns="25400" tIns="25400" bIns="2540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6253F"/>
                </a:solidFill>
                <a:latin typeface="Noto Sans SC"/>
                <a:ea typeface="Noto Sans SC"/>
                <a:cs typeface="Noto Sans SC"/>
                <a:sym typeface="Noto Sans SC"/>
              </a:rPr>
              <a:t>Data Quality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697386"/>
                </a:solidFill>
                <a:latin typeface="Noto Sans SC"/>
                <a:ea typeface="Noto Sans SC"/>
                <a:cs typeface="Noto Sans SC"/>
                <a:sym typeface="Noto Sans SC"/>
              </a:rPr>
              <a:t>Requires Strict Normalization &amp; Centering</a:t>
            </a:r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11379200" y="6464300"/>
            <a:ext cx="4064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04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6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65100" cy="6858000"/>
          </a:xfrm>
          <a:prstGeom prst="roundRect">
            <a:avLst>
              <a:gd name="adj" fmla="val 0"/>
            </a:avLst>
          </a:prstGeom>
          <a:solidFill>
            <a:srgbClr val="B4343A">
              <a:alpha val="100000"/>
            </a:srgbClr>
          </a:solidFill>
          <a:ln w="12700" cmpd="sng" cap="flat">
            <a:solidFill>
              <a:srgbClr val="B4343A">
                <a:alpha val="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544300" y="0"/>
            <a:ext cx="647700" cy="1003300"/>
          </a:xfrm>
          <a:prstGeom prst="roundRect">
            <a:avLst>
              <a:gd name="adj" fmla="val 0"/>
            </a:avLst>
          </a:prstGeom>
          <a:solidFill>
            <a:srgbClr val="B4343A">
              <a:alpha val="100000"/>
            </a:srgbClr>
          </a:solidFill>
          <a:ln w="12700" cmpd="sng" cap="flat">
            <a:solidFill>
              <a:srgbClr val="B4343A">
                <a:alpha val="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1125200" y="0"/>
            <a:ext cx="406400" cy="419100"/>
          </a:xfrm>
          <a:prstGeom prst="roundRect">
            <a:avLst>
              <a:gd name="adj" fmla="val 0"/>
            </a:avLst>
          </a:prstGeom>
          <a:solidFill>
            <a:srgbClr val="16253F">
              <a:alpha val="100000"/>
            </a:srgbClr>
          </a:solidFill>
          <a:ln w="12700" cmpd="sng" cap="flat">
            <a:solidFill>
              <a:srgbClr val="16253F">
                <a:alpha val="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292100"/>
            <a:ext cx="2921000" cy="203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SDSC8007 • MINI PROJECT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508000"/>
            <a:ext cx="8089900" cy="4699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600">
                <a:solidFill>
                  <a:srgbClr val="16253F"/>
                </a:solidFill>
                <a:latin typeface="Play"/>
                <a:ea typeface="Play"/>
                <a:cs typeface="Play"/>
                <a:sym typeface="Play"/>
              </a:rPr>
              <a:t>3. Baseline CNN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508000" y="6438900"/>
            <a:ext cx="111506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sq">
            <a:solidFill>
              <a:srgbClr val="D5CCB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533400" y="6477000"/>
            <a:ext cx="64897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Baseline: BaselineCNN — 3-Block Conv Net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372600" y="292100"/>
            <a:ext cx="1651000" cy="254000"/>
          </a:xfrm>
          <a:prstGeom prst="roundRect">
            <a:avLst>
              <a:gd name="adj" fmla="val 20000"/>
            </a:avLst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EDE2D3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448800" y="330200"/>
            <a:ext cx="1498600" cy="127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8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START SIMPLE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98500" y="1257300"/>
            <a:ext cx="6400800" cy="4559300"/>
          </a:xfrm>
          <a:prstGeom prst="roundRect">
            <a:avLst>
              <a:gd name="adj" fmla="val 1671"/>
            </a:avLst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D5CCB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14400" y="1498600"/>
            <a:ext cx="9652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BASELINE PIPELINE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14400" y="1752600"/>
            <a:ext cx="5842000" cy="203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3 Conv-ReLU-MaxPool blocks → Flatten → FC(512) → Dropout(0.3) → FC(30 outputs).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65200" y="2743200"/>
            <a:ext cx="1320800" cy="9906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6253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28700" y="2921000"/>
            <a:ext cx="1181100" cy="203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16253F"/>
                </a:solidFill>
                <a:latin typeface="Aptos"/>
                <a:ea typeface="Aptos"/>
                <a:cs typeface="Aptos"/>
                <a:sym typeface="Aptos"/>
              </a:rPr>
              <a:t>Preprocess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28700" y="3225800"/>
            <a:ext cx="1181100" cy="431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91666"/>
              </a:lnSpc>
              <a:defRPr/>
            </a:pPr>
            <a:r>
              <a:rPr lang="en-US" b="false" i="false" strike="noStrike" u="none" sz="900">
                <a:solidFill>
                  <a:srgbClr val="525C69"/>
                </a:solidFill>
                <a:latin typeface="Aptos"/>
                <a:ea typeface="Aptos"/>
                <a:cs typeface="Aptos"/>
                <a:sym typeface="Aptos"/>
              </a:rPr>
              <a:t>Pixel string → 96×96 / 255.0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213" flipH="false" flipV="false">
            <a:off x="2286000" y="3238508"/>
            <a:ext cx="25431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sq">
            <a:solidFill>
              <a:srgbClr val="D5CCBF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2425700" y="2743200"/>
            <a:ext cx="1320800" cy="9906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6253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2501900" y="2921000"/>
            <a:ext cx="1181100" cy="203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16253F"/>
                </a:solidFill>
                <a:latin typeface="Aptos"/>
                <a:ea typeface="Aptos"/>
                <a:cs typeface="Aptos"/>
                <a:sym typeface="Aptos"/>
              </a:rPr>
              <a:t>Input Features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501900" y="3225800"/>
            <a:ext cx="1181100" cy="431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91666"/>
              </a:lnSpc>
              <a:defRPr/>
            </a:pPr>
            <a:br>
              <a:rPr lang="en-US" b="false" i="false" strike="noStrike" u="none" sz="900">
                <a:solidFill>
                  <a:srgbClr val="525C69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sz="900" b="0">
                <a:solidFill>
                  <a:srgbClr val="525C69"/>
                </a:solidFill>
              </a:rPr>
              <a:t>1×96×96 grayscale image tensor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213" flipH="false" flipV="false">
            <a:off x="3746500" y="3238508"/>
            <a:ext cx="25431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sq">
            <a:solidFill>
              <a:srgbClr val="D5CCBF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4165600" y="2743200"/>
            <a:ext cx="1320800" cy="990600"/>
          </a:xfrm>
          <a:prstGeom prst="roundRect">
            <a:avLst>
              <a:gd name="adj" fmla="val 5128"/>
            </a:avLst>
          </a:prstGeom>
          <a:solidFill>
            <a:srgbClr val="EAF0F7">
              <a:alpha val="100000"/>
            </a:srgbClr>
          </a:solidFill>
          <a:ln w="12700" cmpd="sng" cap="flat">
            <a:solidFill>
              <a:srgbClr val="16253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229100" y="2921000"/>
            <a:ext cx="1181100" cy="203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16253F"/>
                </a:solidFill>
                <a:latin typeface="Aptos"/>
                <a:ea typeface="Aptos"/>
                <a:cs typeface="Aptos"/>
                <a:sym typeface="Aptos"/>
              </a:rPr>
              <a:t>Model Type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229100" y="3225800"/>
            <a:ext cx="1181100" cy="431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91666"/>
              </a:lnSpc>
              <a:defRPr/>
            </a:pPr>
            <a:br>
              <a:rPr lang="en-US" b="false" i="false" strike="noStrike" u="none" sz="900">
                <a:solidFill>
                  <a:srgbClr val="525C69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sz="900" b="0">
                <a:solidFill>
                  <a:srgbClr val="525C69"/>
                </a:solidFill>
              </a:rPr>
              <a:t>BaselineCNN (3 Conv blocks + MLP head)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213" flipH="false" flipV="false">
            <a:off x="5486400" y="3238508"/>
            <a:ext cx="25431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sq">
            <a:solidFill>
              <a:srgbClr val="D5CCBF">
                <a:alpha val="100000"/>
              </a:srgbClr>
            </a:solidFill>
            <a:prstDash val="solid"/>
            <a:miter lim="10000000"/>
            <a:headEnd type="none" w="med" len="med"/>
            <a:tailEnd type="triangle" w="med" len="med"/>
          </a:ln>
        </p:spPr>
      </p:cxnSp>
      <p:sp>
        <p:nvSpPr>
          <p:cNvPr name="AutoShape 26" id="26"/>
          <p:cNvSpPr/>
          <p:nvPr/>
        </p:nvSpPr>
        <p:spPr>
          <a:xfrm rot="0" flipH="false" flipV="false">
            <a:off x="5575300" y="2743200"/>
            <a:ext cx="1079500" cy="990600"/>
          </a:xfrm>
          <a:prstGeom prst="roundRect">
            <a:avLst>
              <a:gd name="adj" fmla="val 512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16253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5651500" y="2921000"/>
            <a:ext cx="927100" cy="203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16253F"/>
                </a:solidFill>
                <a:latin typeface="Aptos"/>
                <a:ea typeface="Aptos"/>
                <a:cs typeface="Aptos"/>
                <a:sym typeface="Aptos"/>
              </a:rPr>
              <a:t>Loss &amp; Train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5651500" y="3225800"/>
            <a:ext cx="927100" cy="4318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91666"/>
              </a:lnSpc>
              <a:defRPr/>
            </a:pPr>
            <a:br>
              <a:rPr lang="en-US" b="false" i="false" strike="noStrike" u="none" sz="900">
                <a:solidFill>
                  <a:srgbClr val="525C69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sz="900" b="0">
                <a:solidFill>
                  <a:srgbClr val="525C69"/>
                </a:solidFill>
              </a:rPr>
              <a:t>MaskedMSELoss + AdamW optimizer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965200" y="4229100"/>
            <a:ext cx="2794000" cy="10795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CCB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1130300" y="4419600"/>
            <a:ext cx="8636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MODEL SUMMARY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1130300" y="4699000"/>
            <a:ext cx="2413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000">
                <a:solidFill>
                  <a:srgbClr val="525C69"/>
                </a:solidFill>
                <a:latin typeface="Aptos"/>
                <a:ea typeface="Aptos"/>
                <a:cs typeface="Aptos"/>
                <a:sym typeface="Aptos"/>
              </a:rPr>
              <a:t>input → Conv32 → Conv64 → Conv128 → FC512 → Dropout(0.3) → out30. Simple reproducible benchmark.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3975100" y="4229100"/>
            <a:ext cx="2794000" cy="10795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CCB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4152900" y="4419600"/>
            <a:ext cx="8636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LEADERBOARD SCORE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4152900" y="4699000"/>
            <a:ext cx="2413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sz="1400" b="1">
                <a:solidFill>
                  <a:srgbClr val="16253F"/>
                </a:solidFill>
              </a:rPr>
              <a:t>Public: 3.81359 — Baseline benchmark.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7353300" y="1257300"/>
            <a:ext cx="3911600" cy="1879600"/>
          </a:xfrm>
          <a:prstGeom prst="roundRect">
            <a:avLst>
              <a:gd name="adj" fmla="val 4054"/>
            </a:avLst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D5CCB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7594600" y="1498600"/>
            <a:ext cx="10541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WHY THIS BASELINE?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7594600" y="1841500"/>
            <a:ext cx="3429000" cy="1143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sz="1100" b="0">
                <a:solidFill>
                  <a:srgbClr val="404A58"/>
                </a:solidFill>
              </a:rPr>
              <a:t>BaselineCNN captures spatial patterns via convolutions. Serves as a reproducible benchmark before adding BN, Dropout2d, and a larger head in ImprovedCNN.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7353300" y="3403600"/>
            <a:ext cx="3911600" cy="2413000"/>
          </a:xfrm>
          <a:prstGeom prst="roundRect">
            <a:avLst>
              <a:gd name="adj" fmla="val 3157"/>
            </a:avLst>
          </a:prstGeom>
          <a:solidFill>
            <a:srgbClr val="F2F5F9">
              <a:alpha val="100000"/>
            </a:srgbClr>
          </a:solidFill>
          <a:ln w="12700" cmpd="sng" cap="flat">
            <a:solidFill>
              <a:srgbClr val="B8BDC7">
                <a:alpha val="100000"/>
              </a:srgbClr>
            </a:solidFill>
            <a:prstDash val="dash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7518400" y="3568700"/>
            <a:ext cx="3581400" cy="203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6253F"/>
                </a:solidFill>
                <a:latin typeface="Aptos"/>
                <a:ea typeface="Aptos"/>
                <a:cs typeface="Aptos"/>
                <a:sym typeface="Aptos"/>
              </a:rPr>
              <a:t>Interpretation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7518400" y="3937000"/>
            <a:ext cx="3581400" cy="165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525C69"/>
                </a:solidFill>
                <a:latin typeface="Aptos"/>
                <a:ea typeface="Aptos"/>
                <a:cs typeface="Aptos"/>
                <a:sym typeface="Aptos"/>
              </a:rPr>
              <a:t>Public RMSE 3.81 shows that a simple CNN already learns meaningful keypoint structure. Improvements via BN + Dropout2d + larger head should push this lower.cantly lower MSE to demonstrate effectiveness. The linear model serves as a sanity check to ensure data loading and pipeline are correct.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11379200" y="6464300"/>
            <a:ext cx="4064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03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6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65100" cy="6858000"/>
          </a:xfrm>
          <a:prstGeom prst="roundRect">
            <a:avLst>
              <a:gd name="adj" fmla="val 0"/>
            </a:avLst>
          </a:prstGeom>
          <a:solidFill>
            <a:srgbClr val="B4343A">
              <a:alpha val="100000"/>
            </a:srgbClr>
          </a:solidFill>
          <a:ln w="12700" cmpd="sng" cap="flat">
            <a:solidFill>
              <a:srgbClr val="B4343A">
                <a:alpha val="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544300" y="0"/>
            <a:ext cx="647700" cy="1003300"/>
          </a:xfrm>
          <a:prstGeom prst="roundRect">
            <a:avLst>
              <a:gd name="adj" fmla="val 0"/>
            </a:avLst>
          </a:prstGeom>
          <a:solidFill>
            <a:srgbClr val="B4343A">
              <a:alpha val="100000"/>
            </a:srgbClr>
          </a:solidFill>
          <a:ln w="12700" cmpd="sng" cap="flat">
            <a:solidFill>
              <a:srgbClr val="B4343A">
                <a:alpha val="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1125200" y="0"/>
            <a:ext cx="406400" cy="419100"/>
          </a:xfrm>
          <a:prstGeom prst="roundRect">
            <a:avLst>
              <a:gd name="adj" fmla="val 0"/>
            </a:avLst>
          </a:prstGeom>
          <a:solidFill>
            <a:srgbClr val="16253F">
              <a:alpha val="100000"/>
            </a:srgbClr>
          </a:solidFill>
          <a:ln w="12700" cmpd="sng" cap="flat">
            <a:solidFill>
              <a:srgbClr val="16253F">
                <a:alpha val="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292100"/>
            <a:ext cx="2921000" cy="203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SDSC8007 • MINI PROJECT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508000"/>
            <a:ext cx="8089900" cy="4699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600">
                <a:solidFill>
                  <a:srgbClr val="16253F"/>
                </a:solidFill>
                <a:latin typeface="Play"/>
                <a:ea typeface="Play"/>
                <a:cs typeface="Play"/>
                <a:sym typeface="Play"/>
              </a:rPr>
              <a:t>4. ImprovedCNN &amp; Training Strategy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508000" y="6438900"/>
            <a:ext cx="111506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sq">
            <a:solidFill>
              <a:srgbClr val="D5CCB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533400" y="6477000"/>
            <a:ext cx="64897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SDSC8007 • Mini Project • ImprovedCNN + K-Fold CV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372600" y="292100"/>
            <a:ext cx="1651000" cy="254000"/>
          </a:xfrm>
          <a:prstGeom prst="roundRect">
            <a:avLst>
              <a:gd name="adj" fmla="val 20000"/>
            </a:avLst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EDE2D3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448800" y="330200"/>
            <a:ext cx="1498600" cy="127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8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SHOW REASONING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98500" y="1295400"/>
            <a:ext cx="2743200" cy="4406900"/>
          </a:xfrm>
          <a:prstGeom prst="roundRect">
            <a:avLst>
              <a:gd name="adj" fmla="val 2777"/>
            </a:avLst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D5CCB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98500" y="1295400"/>
            <a:ext cx="2743200" cy="469900"/>
          </a:xfrm>
          <a:prstGeom prst="roundRect">
            <a:avLst>
              <a:gd name="adj" fmla="val 0"/>
            </a:avLst>
          </a:prstGeom>
          <a:solidFill>
            <a:srgbClr val="B4343A">
              <a:alpha val="100000"/>
            </a:srgbClr>
          </a:solidFill>
          <a:ln w="12700" cmpd="sng" cap="flat">
            <a:solidFill>
              <a:srgbClr val="B4343A">
                <a:alpha val="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63600" y="1397000"/>
            <a:ext cx="2413000" cy="317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ImprovedCNN: BN + Dropout2d + Larger Head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01700" y="1968500"/>
            <a:ext cx="762000" cy="190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HYPOTHESIS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01700" y="2209800"/>
            <a:ext cx="2336800" cy="571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91666"/>
              </a:lnSpc>
              <a:defRPr/>
            </a:pPr>
            <a:r>
              <a:rPr lang="en-US" b="false" i="false" strike="noStrike" u="none" sz="1100">
                <a:solidFill>
                  <a:srgbClr val="3C3C3C"/>
                </a:solidFill>
                <a:latin typeface="Aptos"/>
                <a:ea typeface="Aptos"/>
                <a:cs typeface="Aptos"/>
                <a:sym typeface="Aptos"/>
              </a:rPr>
              <a:t>Adding BatchNorm stabilizes training; Dropout2d regularizes; deeper head (1024→512→30) increases capacity.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65100" cy="6858000"/>
          </a:xfrm>
          <a:prstGeom prst="roundRect">
            <a:avLst>
              <a:gd name="adj" fmla="val 0"/>
            </a:avLst>
          </a:prstGeom>
          <a:solidFill>
            <a:srgbClr val="B4343A">
              <a:alpha val="100000"/>
            </a:srgbClr>
          </a:solidFill>
          <a:ln w="12700" cmpd="sng" cap="flat">
            <a:solidFill>
              <a:srgbClr val="B4343A">
                <a:alpha val="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544300" y="0"/>
            <a:ext cx="647700" cy="1003300"/>
          </a:xfrm>
          <a:prstGeom prst="roundRect">
            <a:avLst>
              <a:gd name="adj" fmla="val 0"/>
            </a:avLst>
          </a:prstGeom>
          <a:solidFill>
            <a:srgbClr val="B4343A">
              <a:alpha val="100000"/>
            </a:srgbClr>
          </a:solidFill>
          <a:ln w="12700" cmpd="sng" cap="flat">
            <a:solidFill>
              <a:srgbClr val="B4343A">
                <a:alpha val="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1125200" y="0"/>
            <a:ext cx="406400" cy="419100"/>
          </a:xfrm>
          <a:prstGeom prst="roundRect">
            <a:avLst>
              <a:gd name="adj" fmla="val 0"/>
            </a:avLst>
          </a:prstGeom>
          <a:solidFill>
            <a:srgbClr val="16253F">
              <a:alpha val="100000"/>
            </a:srgbClr>
          </a:solidFill>
          <a:ln w="12700" cmpd="sng" cap="flat">
            <a:solidFill>
              <a:srgbClr val="16253F">
                <a:alpha val="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292100"/>
            <a:ext cx="2921000" cy="203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PROJECT RESULTS &amp; ANALYSIS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508000"/>
            <a:ext cx="8089900" cy="4699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600">
                <a:solidFill>
                  <a:srgbClr val="16253F"/>
                </a:solidFill>
                <a:latin typeface="Play"/>
                <a:ea typeface="Play"/>
                <a:cs typeface="Play"/>
                <a:sym typeface="Play"/>
              </a:rPr>
              <a:t>5. Final Results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508000" y="6438900"/>
            <a:ext cx="111506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sq">
            <a:solidFill>
              <a:srgbClr val="D5CCB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533400" y="6477000"/>
            <a:ext cx="64897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SDSC8007 • Mini Project • Facial Keypoints Detection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372600" y="292100"/>
            <a:ext cx="1651000" cy="254000"/>
          </a:xfrm>
          <a:prstGeom prst="roundRect">
            <a:avLst>
              <a:gd name="adj" fmla="val 20000"/>
            </a:avLst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EDE2D3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448800" y="330200"/>
            <a:ext cx="1498600" cy="127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8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PERFORMANCE REVIEW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98500" y="1244600"/>
            <a:ext cx="2755900" cy="1993900"/>
          </a:xfrm>
          <a:prstGeom prst="roundRect">
            <a:avLst>
              <a:gd name="adj" fmla="val 3821"/>
            </a:avLst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D5CCB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14400" y="1422400"/>
            <a:ext cx="1270000" cy="228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FINAL SCORE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14400" y="1778000"/>
            <a:ext cx="2286000" cy="571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800">
                <a:solidFill>
                  <a:srgbClr val="16253F"/>
                </a:solidFill>
                <a:latin typeface="Play"/>
                <a:ea typeface="Play"/>
                <a:cs typeface="Play"/>
                <a:sym typeface="Play"/>
              </a:rPr>
              <a:t>3.58178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14400" y="2413000"/>
            <a:ext cx="2286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1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Private: 3.58178 | Public: 3.81359</a:t>
            </a:r>
            <a:r>
              <a:rPr lang="en-US" b="false" i="false" strike="noStrike" u="none" sz="11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/>
            </a:r>
            <a:br>
              <a:rPr lang="en-US" b="false" i="false" strike="noStrike" u="none" sz="11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-US" b="false" i="false" strike="noStrike" u="none" sz="11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Metric: RMSE (masked, lower = better)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670300" y="1244600"/>
            <a:ext cx="3822700" cy="1993900"/>
          </a:xfrm>
          <a:prstGeom prst="roundRect">
            <a:avLst>
              <a:gd name="adj" fmla="val 3821"/>
            </a:avLst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D5CCB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911600" y="1422400"/>
            <a:ext cx="1524000" cy="228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TOP-LEVEL TARGET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911600" y="1841500"/>
            <a:ext cx="3365500" cy="1206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3C3C3C"/>
                </a:solidFill>
                <a:latin typeface="Aptos"/>
                <a:ea typeface="Aptos"/>
                <a:cs typeface="Aptos"/>
                <a:sym typeface="Aptos"/>
              </a:rPr>
              <a:t>The ImprovedCNN with 5-Fold CV achieved a private score of 3.58178. Ensemble of 5 fold checkpoints reduces variance and improves generalization over single-fold training.rovement over the baseline model, but still has clear room for growth compared to the competition leaders (Top 1: 1.28).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721600" y="1244600"/>
            <a:ext cx="3543300" cy="1993900"/>
          </a:xfrm>
          <a:prstGeom prst="roundRect">
            <a:avLst>
              <a:gd name="adj" fmla="val 3821"/>
            </a:avLst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D5CCB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950200" y="1422400"/>
            <a:ext cx="1524000" cy="228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KEY TAKEAWAY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950200" y="1841500"/>
            <a:ext cx="3111500" cy="12065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3C3C3C"/>
                </a:solidFill>
                <a:latin typeface="Aptos"/>
                <a:ea typeface="Aptos"/>
                <a:cs typeface="Aptos"/>
                <a:sym typeface="Aptos"/>
              </a:rPr>
              <a:t>Key improvements: BatchNorm for stable training,</a:t>
            </a:r>
            <a:r>
              <a:rPr lang="en-US" b="true" i="false" strike="noStrike" u="none" sz="1100">
                <a:solidFill>
                  <a:srgbClr val="3C3C3C"/>
                </a:solidFill>
                <a:latin typeface="Aptos"/>
                <a:ea typeface="Aptos"/>
                <a:cs typeface="Aptos"/>
                <a:sym typeface="Aptos"/>
              </a:rPr>
              <a:t>Dropout2d for spatial regularization,</a:t>
            </a:r>
            <a:r>
              <a:rPr lang="en-US" b="false" i="false" strike="noStrike" u="none" sz="1100">
                <a:solidFill>
                  <a:srgbClr val="3C3C3C"/>
                </a:solidFill>
                <a:latin typeface="Aptos"/>
                <a:ea typeface="Aptos"/>
                <a:cs typeface="Aptos"/>
                <a:sym typeface="Aptos"/>
              </a:rPr>
              <a:t>larger head (1024→512→30), and 5-fold ensemble for robust submission.ing the power of deep learning for this image-based regression task.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98500" y="3505200"/>
            <a:ext cx="6654800" cy="2197100"/>
          </a:xfrm>
          <a:prstGeom prst="roundRect">
            <a:avLst>
              <a:gd name="adj" fmla="val 3468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B8BDC7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63600" y="3632200"/>
            <a:ext cx="63246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6253F"/>
                </a:solidFill>
                <a:latin typeface="Aptos"/>
                <a:ea typeface="Aptos"/>
                <a:cs typeface="Aptos"/>
                <a:sym typeface="Aptos"/>
              </a:rPr>
              <a:t>COMPETITION RANKING &amp; COMPARISON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569200" y="3505200"/>
            <a:ext cx="3695700" cy="2197100"/>
          </a:xfrm>
          <a:prstGeom prst="roundRect">
            <a:avLst>
              <a:gd name="adj" fmla="val 3468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B8BDC7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734300" y="3632200"/>
            <a:ext cx="33655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6253F"/>
                </a:solidFill>
                <a:latin typeface="Aptos"/>
                <a:ea typeface="Aptos"/>
                <a:cs typeface="Aptos"/>
                <a:sym typeface="Aptos"/>
              </a:rPr>
              <a:t>ERROR ANALYSIS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734300" y="4127500"/>
            <a:ext cx="3365500" cy="1397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63500" bIns="6350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3C3C3C"/>
                </a:solidFill>
                <a:latin typeface="Aptos"/>
                <a:ea typeface="Aptos"/>
                <a:cs typeface="Aptos"/>
                <a:sym typeface="Aptos"/>
              </a:rPr>
              <a:t>Remaining gap to top-1 (≈1.28): no data augmentation, no coord normalization, no LR schedule, no heatmap regression. cases:</a:t>
            </a:r>
            <a:r>
              <a:rPr lang="en-US" b="false" i="false" strike="noStrike" u="none" sz="1100">
                <a:solidFill>
                  <a:srgbClr val="3C3C3C"/>
                </a:solidFill>
                <a:latin typeface="Aptos"/>
                <a:ea typeface="Aptos"/>
                <a:cs typeface="Aptos"/>
                <a:sym typeface="Aptos"/>
              </a:rPr>
              <a:t/>
            </a:r>
            <a:br>
              <a:rPr lang="en-US" b="false" i="false" strike="noStrike" u="none" sz="1100">
                <a:solidFill>
                  <a:srgbClr val="3C3C3C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-US" b="false" i="false" strike="noStrike" u="none" sz="1100">
                <a:solidFill>
                  <a:srgbClr val="3C3C3C"/>
                </a:solidFill>
                <a:latin typeface="Aptos"/>
                <a:ea typeface="Aptos"/>
                <a:cs typeface="Aptos"/>
                <a:sym typeface="Aptos"/>
              </a:rPr>
              <a:t/>
            </a:r>
            <a:r>
              <a:rPr lang="en-US" b="false" i="false" strike="noStrike" u="none" sz="1100">
                <a:solidFill>
                  <a:srgbClr val="3C3C3C"/>
                </a:solidFill>
                <a:latin typeface="Aptos"/>
                <a:ea typeface="Aptos"/>
                <a:cs typeface="Aptos"/>
                <a:sym typeface="Aptos"/>
              </a:rPr>
              <a:t/>
            </a:r>
            <a:br>
              <a:rPr lang="en-US" b="false" i="false" strike="noStrike" u="none" sz="1100">
                <a:solidFill>
                  <a:srgbClr val="3C3C3C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-US" b="false" i="false" strike="noStrike" u="none" sz="1100">
                <a:solidFill>
                  <a:srgbClr val="3C3C3C"/>
                </a:solidFill>
                <a:latin typeface="Aptos"/>
                <a:ea typeface="Aptos"/>
                <a:cs typeface="Aptos"/>
                <a:sym typeface="Aptos"/>
              </a:rPr>
              <a:t/>
            </a:r>
            <a:r>
              <a:rPr lang="en-US" b="false" i="false" strike="noStrike" u="none" sz="1100">
                <a:solidFill>
                  <a:srgbClr val="3C3C3C"/>
                </a:solidFill>
                <a:latin typeface="Aptos"/>
                <a:ea typeface="Aptos"/>
                <a:cs typeface="Aptos"/>
                <a:sym typeface="Aptos"/>
              </a:rPr>
              <a:t/>
            </a:r>
            <a:br>
              <a:rPr lang="en-US" b="false" i="false" strike="noStrike" u="none" sz="1100">
                <a:solidFill>
                  <a:srgbClr val="3C3C3C"/>
                </a:solidFill>
                <a:latin typeface="Aptos"/>
                <a:ea typeface="Aptos"/>
                <a:cs typeface="Aptos"/>
                <a:sym typeface="Aptos"/>
              </a:rPr>
            </a:br>
            <a:r>
              <a:rPr lang="en-US" b="false" i="false" strike="noStrike" u="none" sz="1100">
                <a:solidFill>
                  <a:srgbClr val="3C3C3C"/>
                </a:solidFill>
                <a:latin typeface="Aptos"/>
                <a:ea typeface="Aptos"/>
                <a:cs typeface="Aptos"/>
                <a:sym typeface="Aptos"/>
              </a:rPr>
              <a:t/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11379200" y="6464300"/>
            <a:ext cx="4064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07</a:t>
            </a:r>
            <a:endParaRPr lang="en-US" sz="1100"/>
          </a:p>
        </p:txBody>
      </p:sp>
      <p:pic>
        <p:nvPicPr>
          <p:cNvPr id="29" name="Picture 28" descr="Screenshot_2026_0425_15220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00" y="4127500"/>
            <a:ext cx="2921000" cy="1397000"/>
          </a:xfrm>
          <a:prstGeom prst="rect">
            <a:avLst/>
          </a:prstGeom>
        </p:spPr>
      </p:pic>
      <p:pic>
        <p:nvPicPr>
          <p:cNvPr id="30" name="Picture 29" descr="Screenshot_2026_0425_15220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7000" y="4127500"/>
            <a:ext cx="2921000" cy="139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6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65100" cy="6858000"/>
          </a:xfrm>
          <a:prstGeom prst="roundRect">
            <a:avLst>
              <a:gd name="adj" fmla="val 0"/>
            </a:avLst>
          </a:prstGeom>
          <a:solidFill>
            <a:srgbClr val="B4343A">
              <a:alpha val="100000"/>
            </a:srgbClr>
          </a:solidFill>
          <a:ln w="12700" cmpd="sng" cap="flat">
            <a:solidFill>
              <a:srgbClr val="B4343A">
                <a:alpha val="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544300" y="0"/>
            <a:ext cx="647700" cy="1003300"/>
          </a:xfrm>
          <a:prstGeom prst="roundRect">
            <a:avLst>
              <a:gd name="adj" fmla="val 0"/>
            </a:avLst>
          </a:prstGeom>
          <a:solidFill>
            <a:srgbClr val="B4343A">
              <a:alpha val="100000"/>
            </a:srgbClr>
          </a:solidFill>
          <a:ln w="12700" cmpd="sng" cap="flat">
            <a:solidFill>
              <a:srgbClr val="B4343A">
                <a:alpha val="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1125200" y="0"/>
            <a:ext cx="406400" cy="419100"/>
          </a:xfrm>
          <a:prstGeom prst="roundRect">
            <a:avLst>
              <a:gd name="adj" fmla="val 0"/>
            </a:avLst>
          </a:prstGeom>
          <a:solidFill>
            <a:srgbClr val="16253F">
              <a:alpha val="100000"/>
            </a:srgbClr>
          </a:solidFill>
          <a:ln w="12700" cmpd="sng" cap="flat">
            <a:solidFill>
              <a:srgbClr val="16253F">
                <a:alpha val="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292100"/>
            <a:ext cx="2921000" cy="203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SDSC8007 • MINI PROJECT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508000"/>
            <a:ext cx="8089900" cy="4699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600">
                <a:solidFill>
                  <a:srgbClr val="16253F"/>
                </a:solidFill>
                <a:latin typeface="Play"/>
                <a:ea typeface="Play"/>
                <a:cs typeface="Play"/>
                <a:sym typeface="Play"/>
              </a:rPr>
              <a:t>6. Discussion &amp; Reflection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508000" y="6438900"/>
            <a:ext cx="111506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sq">
            <a:solidFill>
              <a:srgbClr val="D5CCB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533400" y="6477000"/>
            <a:ext cx="64897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SDSC8007 • Mini Project • Facial Keypoints Detection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372600" y="292100"/>
            <a:ext cx="1651000" cy="254000"/>
          </a:xfrm>
          <a:prstGeom prst="roundRect">
            <a:avLst>
              <a:gd name="adj" fmla="val 20000"/>
            </a:avLst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EDE2D3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448800" y="330200"/>
            <a:ext cx="1498600" cy="127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8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EXPLAIN THE MODELING JOURNEY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98500" y="1257300"/>
            <a:ext cx="3530600" cy="2146300"/>
          </a:xfrm>
          <a:prstGeom prst="roundRect">
            <a:avLst>
              <a:gd name="adj" fmla="val 3550"/>
            </a:avLst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D5CCB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14400" y="1473200"/>
            <a:ext cx="1270000" cy="228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WHAT WORKED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14400" y="1841500"/>
            <a:ext cx="3111500" cy="1397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25400" rIns="25400" tIns="25400" bIns="25400"/>
          <a:lstStyle/>
          <a:p>
            <a:pPr algn="l" indent="0">
              <a:lnSpc>
                <a:spcPct val="108333"/>
              </a:lnSpc>
              <a:defRPr/>
            </a:pPr>
            <a:r>
              <a:rPr sz="1100" b="1">
                <a:solidFill>
                  <a:srgbClr val="434B58"/>
                </a:solidFill>
              </a:rPr>
              <a:t>Method: ImprovedCNN with BatchNorm, Dropout2d, and 5-fold cross-validation ensemble.</a:t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sz="1100" b="1">
                <a:solidFill>
                  <a:srgbClr val="434B58"/>
                </a:solidFill>
              </a:rPr>
              <a:t>Why: BN stabilizes training, Dropout2d prevents spatial co-adaptation, ensemble reduces variance.</a:t>
            </a:r>
          </a:p>
          <a:p>
            <a:pPr algn="l" indent="0">
              <a:lnSpc>
                <a:spcPct val="108333"/>
              </a:lnSpc>
            </a:pPr>
            <a:r>
              <a:rPr sz="1100" b="1">
                <a:solidFill>
                  <a:srgbClr val="434B58"/>
                </a:solidFill>
              </a:rPr>
              <a:t>Evidence: Private score improved from ~3.81 (baseline) to 3.58 (improved) on Kaggle.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483100" y="1257300"/>
            <a:ext cx="3530600" cy="2146300"/>
          </a:xfrm>
          <a:prstGeom prst="roundRect">
            <a:avLst>
              <a:gd name="adj" fmla="val 3550"/>
            </a:avLst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D5CCB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99000" y="1473200"/>
            <a:ext cx="1778000" cy="228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WHAT DID NOT WORK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699000" y="1841500"/>
            <a:ext cx="3111500" cy="1397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t" rtlCol="false" anchorCtr="false" vert="horz" wrap="square" lIns="25400" rIns="25400" tIns="25400" bIns="25400"/>
          <a:lstStyle/>
          <a:p>
            <a:pPr algn="l" indent="0">
              <a:lnSpc>
                <a:spcPct val="108333"/>
              </a:lnSpc>
              <a:defRPr/>
            </a:pPr>
            <a:r>
              <a:rPr sz="1100" b="1">
                <a:solidFill>
                  <a:srgbClr val="434B58"/>
                </a:solidFill>
              </a:rPr>
              <a:t>Not yet tried: Data augmentation (flip/rotate/brightness) — planned as future work.</a:t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sz="1100" b="1">
                <a:solidFill>
                  <a:srgbClr val="434B58"/>
                </a:solidFill>
              </a:rPr>
              <a:t>Issue: Current pipeline trains on raw 96×96 pixels without coordinate normalization.</a:t>
            </a:r>
          </a:p>
          <a:p>
            <a:pPr algn="l" indent="0">
              <a:lnSpc>
                <a:spcPct val="108333"/>
              </a:lnSpc>
            </a:pPr>
            <a:r>
              <a:rPr sz="1100" b="1">
                <a:solidFill>
                  <a:srgbClr val="434B58"/>
                </a:solidFill>
              </a:rPr>
              <a:t>Next: Normalize coords to [-1,1], add augmentation, try heatmap regression.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67700" y="1257300"/>
            <a:ext cx="2997200" cy="2146300"/>
          </a:xfrm>
          <a:prstGeom prst="roundRect">
            <a:avLst>
              <a:gd name="adj" fmla="val 3550"/>
            </a:avLst>
          </a:prstGeom>
          <a:solidFill>
            <a:srgbClr val="FFFFFF">
              <a:alpha val="78000"/>
            </a:srgbClr>
          </a:solidFill>
          <a:ln w="12700" cmpd="sng" cap="flat">
            <a:solidFill>
              <a:srgbClr val="B8BDC7">
                <a:alpha val="100000"/>
              </a:srgbClr>
            </a:solidFill>
            <a:prstDash val="dash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432800" y="1422400"/>
            <a:ext cx="2667000" cy="203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6253F"/>
                </a:solidFill>
                <a:latin typeface="Aptos"/>
                <a:ea typeface="Aptos"/>
                <a:cs typeface="Aptos"/>
                <a:sym typeface="Aptos"/>
              </a:rPr>
              <a:t>KEY INSIGHTS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432800" y="1778000"/>
            <a:ext cx="2667000" cy="15494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63500" rIns="63500" tIns="63500" bIns="63500"/>
          <a:lstStyle/>
          <a:p>
            <a:pPr algn="just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Masked loss is essential: computing RMSE only on present labels avoids gradient bias from missing annotations, which was the key design decision in this project.of-the-art models require robust augmentation to handle edge cases.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98500" y="3670300"/>
            <a:ext cx="10566400" cy="2120900"/>
          </a:xfrm>
          <a:prstGeom prst="roundRect">
            <a:avLst>
              <a:gd name="adj" fmla="val 3592"/>
            </a:avLst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D5CCB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14400" y="3886200"/>
            <a:ext cx="2032000" cy="228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LIMITATIONS &amp; NEXT STEPS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14400" y="4254500"/>
            <a:ext cx="99695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25400" rIns="25400" tIns="25400" bIns="2540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The current 3-block CNN is competitive but leaves headroom. Stronger architectures and better training recipes can close the gap to the top leaderboard.r challenges with edge cases and architectural simplicity.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14400" y="4889500"/>
            <a:ext cx="2971800" cy="762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CCB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16000" y="4978400"/>
            <a:ext cx="2794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25400" rIns="25400" tIns="25400" bIns="2540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16253F"/>
                </a:solidFill>
                <a:latin typeface="Aptos"/>
                <a:ea typeface="Aptos"/>
                <a:cs typeface="Aptos"/>
                <a:sym typeface="Aptos"/>
              </a:rPr>
              <a:t>LIMITATION 1</a:t>
            </a:r>
            <a:r>
              <a:rPr lang="en-US" b="false" i="false" strike="noStrike" u="none" sz="1100">
                <a:solidFill>
                  <a:srgbClr val="1F2329"/>
                </a:solidFill>
                <a:latin typeface="Aptos"/>
                <a:ea typeface="Aptos"/>
                <a:cs typeface="Aptos"/>
                <a:sym typeface="Aptos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No data augmentation — model may overfit to unaugmented training distribution.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064000" y="4889500"/>
            <a:ext cx="2971800" cy="762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CCB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165600" y="4978400"/>
            <a:ext cx="2794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25400" rIns="25400" tIns="25400" bIns="2540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16253F"/>
                </a:solidFill>
                <a:latin typeface="Aptos"/>
                <a:ea typeface="Aptos"/>
                <a:cs typeface="Aptos"/>
                <a:sym typeface="Aptos"/>
              </a:rPr>
              <a:t>LIMITATION 2</a:t>
            </a:r>
            <a:r>
              <a:rPr lang="en-US" b="false" i="false" strike="noStrike" u="none" sz="1100">
                <a:solidFill>
                  <a:srgbClr val="1F2329"/>
                </a:solidFill>
                <a:latin typeface="Aptos"/>
                <a:ea typeface="Aptos"/>
                <a:cs typeface="Aptos"/>
                <a:sym typeface="Aptos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Simple 3-block CNN — ResNet-like backbone or heatmap regression could improve accuracy significantly.</a:t>
            </a:r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200900" y="4889500"/>
            <a:ext cx="2971800" cy="762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CCB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302500" y="4978400"/>
            <a:ext cx="2794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25400" rIns="25400" tIns="25400" bIns="2540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16253F"/>
                </a:solidFill>
                <a:latin typeface="Aptos"/>
                <a:ea typeface="Aptos"/>
                <a:cs typeface="Aptos"/>
                <a:sym typeface="Aptos"/>
              </a:rPr>
              <a:t>NEXT STEP</a:t>
            </a:r>
            <a:r>
              <a:rPr lang="en-US" b="false" i="false" strike="noStrike" u="none" sz="1100">
                <a:solidFill>
                  <a:srgbClr val="1F2329"/>
                </a:solidFill>
                <a:latin typeface="Aptos"/>
                <a:ea typeface="Aptos"/>
                <a:cs typeface="Aptos"/>
                <a:sym typeface="Aptos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1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Add augmentation, coord normalization, cosine LR schedule, early stopping, heatmap regression.</a:t>
            </a:r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11379200" y="6464300"/>
            <a:ext cx="4064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08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6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65100" cy="6858000"/>
          </a:xfrm>
          <a:prstGeom prst="roundRect">
            <a:avLst>
              <a:gd name="adj" fmla="val 0"/>
            </a:avLst>
          </a:prstGeom>
          <a:solidFill>
            <a:srgbClr val="B4343A">
              <a:alpha val="100000"/>
            </a:srgbClr>
          </a:solidFill>
          <a:ln w="12700" cmpd="sng" cap="flat">
            <a:solidFill>
              <a:srgbClr val="B4343A">
                <a:alpha val="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1544300" y="0"/>
            <a:ext cx="647700" cy="1003300"/>
          </a:xfrm>
          <a:prstGeom prst="roundRect">
            <a:avLst>
              <a:gd name="adj" fmla="val 0"/>
            </a:avLst>
          </a:prstGeom>
          <a:solidFill>
            <a:srgbClr val="B4343A">
              <a:alpha val="100000"/>
            </a:srgbClr>
          </a:solidFill>
          <a:ln w="12700" cmpd="sng" cap="flat">
            <a:solidFill>
              <a:srgbClr val="B4343A">
                <a:alpha val="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1125200" y="0"/>
            <a:ext cx="406400" cy="419100"/>
          </a:xfrm>
          <a:prstGeom prst="roundRect">
            <a:avLst>
              <a:gd name="adj" fmla="val 0"/>
            </a:avLst>
          </a:prstGeom>
          <a:solidFill>
            <a:srgbClr val="16253F">
              <a:alpha val="100000"/>
            </a:srgbClr>
          </a:solidFill>
          <a:ln w="12700" cmpd="sng" cap="flat">
            <a:solidFill>
              <a:srgbClr val="16253F">
                <a:alpha val="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292100"/>
            <a:ext cx="2921000" cy="2032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SDSC8007 • MINI PROJECT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508000"/>
            <a:ext cx="8089900" cy="4699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600">
                <a:solidFill>
                  <a:srgbClr val="16253F"/>
                </a:solidFill>
                <a:latin typeface="Play"/>
                <a:ea typeface="Play"/>
                <a:cs typeface="Play"/>
                <a:sym typeface="Play"/>
              </a:rPr>
              <a:t>7. AI Usage &amp; Reproducibility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0" flipH="false" flipV="false">
            <a:off x="508000" y="6438900"/>
            <a:ext cx="111506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sq">
            <a:solidFill>
              <a:srgbClr val="D5CCBF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533400" y="6477000"/>
            <a:ext cx="64897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SDSC8007 • Mini Project • Reproducibility &amp; AI Tools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372600" y="292100"/>
            <a:ext cx="1651000" cy="254000"/>
          </a:xfrm>
          <a:prstGeom prst="roundRect">
            <a:avLst>
              <a:gd name="adj" fmla="val 20000"/>
            </a:avLst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EDE2D3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448800" y="330200"/>
            <a:ext cx="1498600" cy="127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8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DISCLOSE CLEARLY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98500" y="1257300"/>
            <a:ext cx="5245100" cy="4521200"/>
          </a:xfrm>
          <a:prstGeom prst="roundRect">
            <a:avLst>
              <a:gd name="adj" fmla="val 1685"/>
            </a:avLst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D5CCB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14400" y="1498600"/>
            <a:ext cx="8255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0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AI TOOL USAGE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14400" y="1752600"/>
            <a:ext cx="47117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GitHub Copilot was used for code completion and debugging assistance. All model architecture choices, training design, and preprocessing pipeline were made independently.he group.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14400" y="2413000"/>
            <a:ext cx="4660900" cy="571500"/>
          </a:xfrm>
          <a:prstGeom prst="roundRect">
            <a:avLst>
              <a:gd name="adj" fmla="val 13333"/>
            </a:avLst>
          </a:prstGeom>
          <a:solidFill>
            <a:srgbClr val="EAF0F7">
              <a:alpha val="100000"/>
            </a:srgbClr>
          </a:solidFill>
          <a:ln w="12700" cmpd="sng" cap="flat">
            <a:solidFill>
              <a:srgbClr val="D5CCB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79500" y="2514600"/>
            <a:ext cx="4318000" cy="381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11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Tool:</a:t>
            </a: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GitHub Copilot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14400" y="3111500"/>
            <a:ext cx="4660900" cy="698500"/>
          </a:xfrm>
          <a:prstGeom prst="roundRect">
            <a:avLst>
              <a:gd name="adj" fmla="val 1090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CCB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79500" y="3200400"/>
            <a:ext cx="4318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91666"/>
              </a:lnSpc>
              <a:defRPr/>
            </a:pPr>
            <a:r>
              <a:rPr sz="1100" b="1">
                <a:solidFill>
                  <a:srgbClr val="1F2329"/>
                </a:solidFill>
              </a:rPr>
              <a:t>Purpose: Code autocompletion and syntax suggestions to speed up implementation of data.py, models.py, train.py, predict.py.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14400" y="3937000"/>
            <a:ext cx="4660900" cy="8255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D5CCB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79500" y="4038600"/>
            <a:ext cx="4318000" cy="635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91666"/>
              </a:lnSpc>
              <a:defRPr/>
            </a:pPr>
            <a:r>
              <a:rPr sz="1100" b="1">
                <a:solidFill>
                  <a:srgbClr val="1F2329"/>
                </a:solidFill>
              </a:rPr>
              <a:t>Independent Work: All core designs — CNN architecture, K-Fold strategy, masked loss, ensemble inference — designed independently.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14400" y="4953000"/>
            <a:ext cx="4660900" cy="635000"/>
          </a:xfrm>
          <a:prstGeom prst="roundRect">
            <a:avLst>
              <a:gd name="adj" fmla="val 12000"/>
            </a:avLst>
          </a:prstGeom>
          <a:solidFill>
            <a:srgbClr val="FFF1F2">
              <a:alpha val="100000"/>
            </a:srgbClr>
          </a:solidFill>
          <a:ln w="12700" cmpd="sng" cap="flat">
            <a:solidFill>
              <a:srgbClr val="D5CCB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79500" y="5054600"/>
            <a:ext cx="4318000" cy="508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91666"/>
              </a:lnSpc>
              <a:defRPr/>
            </a:pPr>
            <a:r>
              <a:rPr sz="1100" b="1">
                <a:solidFill>
                  <a:srgbClr val="B91C1C"/>
                </a:solidFill>
              </a:rPr>
              <a:t>Disclosure: AI tools used as productivity aids only; core intellectual contribution is the author's own work.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197600" y="1257300"/>
            <a:ext cx="5067300" cy="4521200"/>
          </a:xfrm>
          <a:prstGeom prst="roundRect">
            <a:avLst>
              <a:gd name="adj" fmla="val 1685"/>
            </a:avLst>
          </a:prstGeom>
          <a:solidFill>
            <a:srgbClr val="FFFCF7">
              <a:alpha val="100000"/>
            </a:srgbClr>
          </a:solidFill>
          <a:ln w="12700" cmpd="sng" cap="flat">
            <a:solidFill>
              <a:srgbClr val="D5CCBF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38900" y="1498600"/>
            <a:ext cx="2032000" cy="2286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100">
                <a:solidFill>
                  <a:srgbClr val="B4343A"/>
                </a:solidFill>
                <a:latin typeface="Aptos"/>
                <a:ea typeface="Aptos"/>
                <a:cs typeface="Aptos"/>
                <a:sym typeface="Aptos"/>
              </a:rPr>
              <a:t>REPRODUCIBILITY CHECKLIST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438900" y="2032000"/>
            <a:ext cx="203200" cy="203200"/>
          </a:xfrm>
          <a:prstGeom prst="roundRect">
            <a:avLst>
              <a:gd name="adj" fmla="val 12500"/>
            </a:avLst>
          </a:prstGeom>
          <a:solidFill>
            <a:srgbClr val="10B981">
              <a:alpha val="100000"/>
            </a:srgbClr>
          </a:solidFill>
          <a:ln w="12700" cmpd="sng" cap="flat">
            <a:solidFill>
              <a:srgbClr val="10B981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769100" y="2006600"/>
            <a:ext cx="40259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✓ Random seed fixed: --seed 42 (torch, numpy, random, sklearn KFold)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438900" y="2667000"/>
            <a:ext cx="203200" cy="203200"/>
          </a:xfrm>
          <a:prstGeom prst="roundRect">
            <a:avLst>
              <a:gd name="adj" fmla="val 12500"/>
            </a:avLst>
          </a:prstGeom>
          <a:solidFill>
            <a:srgbClr val="10B981">
              <a:alpha val="100000"/>
            </a:srgbClr>
          </a:solidFill>
          <a:ln w="12700" cmpd="sng" cap="flat">
            <a:solidFill>
              <a:srgbClr val="10B981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769100" y="2641600"/>
            <a:ext cx="40259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✓ Dependencies: requirements.txt (torch, sklearn, numpy, pandas, tqdm)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438900" y="3302000"/>
            <a:ext cx="203200" cy="203200"/>
          </a:xfrm>
          <a:prstGeom prst="roundRect">
            <a:avLst>
              <a:gd name="adj" fmla="val 12500"/>
            </a:avLst>
          </a:prstGeom>
          <a:solidFill>
            <a:srgbClr val="10B981">
              <a:alpha val="100000"/>
            </a:srgbClr>
          </a:solidFill>
          <a:ln w="12700" cmpd="sng" cap="flat">
            <a:solidFill>
              <a:srgbClr val="10B981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769100" y="3276600"/>
            <a:ext cx="40259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✓ Training: python train.py --data-dir data --output-dir artifacts (5-fold, AdamW, 20ep, bs=64)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438900" y="3937000"/>
            <a:ext cx="203200" cy="203200"/>
          </a:xfrm>
          <a:prstGeom prst="roundRect">
            <a:avLst>
              <a:gd name="adj" fmla="val 12500"/>
            </a:avLst>
          </a:prstGeom>
          <a:solidFill>
            <a:srgbClr val="10B981">
              <a:alpha val="100000"/>
            </a:srgbClr>
          </a:solidFill>
          <a:ln w="12700" cmpd="sng" cap="flat">
            <a:solidFill>
              <a:srgbClr val="10B981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769100" y="3911600"/>
            <a:ext cx="40259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✓ Code: github.com/VioletEG/facial-keypoints-detection (PYTHONPATH=src)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438900" y="4572000"/>
            <a:ext cx="203200" cy="203200"/>
          </a:xfrm>
          <a:prstGeom prst="roundRect">
            <a:avLst>
              <a:gd name="adj" fmla="val 12500"/>
            </a:avLst>
          </a:prstGeom>
          <a:solidFill>
            <a:srgbClr val="10B981">
              <a:alpha val="100000"/>
            </a:srgbClr>
          </a:solidFill>
          <a:ln w="12700" cmpd="sng" cap="flat">
            <a:solidFill>
              <a:srgbClr val="10B981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769100" y="4546600"/>
            <a:ext cx="40259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✓ Metric: rmse_with_mask(pred, target, mask) — only labeled keypoints counted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438900" y="5207000"/>
            <a:ext cx="203200" cy="203200"/>
          </a:xfrm>
          <a:prstGeom prst="roundRect">
            <a:avLst>
              <a:gd name="adj" fmla="val 12500"/>
            </a:avLst>
          </a:prstGeom>
          <a:solidFill>
            <a:srgbClr val="10B981">
              <a:alpha val="100000"/>
            </a:srgbClr>
          </a:solidFill>
          <a:ln w="12700" cmpd="sng" cap="flat">
            <a:solidFill>
              <a:srgbClr val="10B981">
                <a:alpha val="10000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769100" y="5181600"/>
            <a:ext cx="4025900" cy="2540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✓ Inference: python predict.py --data-dir data --artifacts-dir artifacts → submission.csv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11379200" y="6464300"/>
            <a:ext cx="406400" cy="165100"/>
          </a:xfrm>
          <a:prstGeom prst="roundRect">
            <a:avLst>
              <a:gd name="adj" fmla="val 0"/>
            </a:avLst>
          </a:prstGeom>
          <a:noFill/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09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2832100" cy="6858000"/>
          </a:xfrm>
          <a:prstGeom prst="roundRect">
            <a:avLst>
              <a:gd name="adj" fmla="val 0"/>
            </a:avLst>
          </a:prstGeom>
          <a:solidFill>
            <a:srgbClr val="B4343A">
              <a:alpha val="100000"/>
            </a:srgbClr>
          </a:solidFill>
          <a:ln w="12700" cmpd="sng" cap="flat">
            <a:solidFill>
              <a:srgbClr val="B4343A">
                <a:alpha val="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2832100" y="0"/>
            <a:ext cx="9359900" cy="6858000"/>
          </a:xfrm>
          <a:prstGeom prst="roundRect">
            <a:avLst>
              <a:gd name="adj" fmla="val 0"/>
            </a:avLst>
          </a:prstGeom>
          <a:solidFill>
            <a:srgbClr val="16253F">
              <a:alpha val="100000"/>
            </a:srgbClr>
          </a:solidFill>
          <a:ln w="12700" cmpd="sng" cap="flat">
            <a:solidFill>
              <a:srgbClr val="16253F">
                <a:alpha val="0"/>
              </a:srgbClr>
            </a:solidFill>
            <a:prstDash val="solid"/>
            <a:miter lim="10000000"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35000" y="2286000"/>
            <a:ext cx="177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6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Q&amp;A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733800" y="1536700"/>
            <a:ext cx="533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Appendix slides you may add after this page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733800" y="2413000"/>
            <a:ext cx="48260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500">
                <a:solidFill>
                  <a:srgbClr val="D5DBE7"/>
                </a:solidFill>
                <a:latin typeface="Aptos"/>
                <a:ea typeface="Aptos"/>
                <a:cs typeface="Aptos"/>
                <a:sym typeface="Aptos"/>
              </a:rPr>
              <a:t>• More ablation details</a:t>
            </a:r>
            <a:r>
              <a:rPr lang="en-US" b="false" i="false" strike="noStrike" u="none" sz="1500">
                <a:solidFill>
                  <a:srgbClr val="D5DBE7"/>
                </a:solidFill>
                <a:latin typeface="Aptos"/>
                <a:ea typeface="Aptos"/>
                <a:cs typeface="Aptos"/>
                <a:sym typeface="Aptos"/>
              </a:rPr>
              <a:t/>
            </a:r>
            <a:endParaRPr lang="en-US" sz="1100"/>
          </a:p>
          <a:p>
            <a:pPr algn="l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D5DBE7"/>
                </a:solidFill>
                <a:latin typeface="Aptos"/>
                <a:ea typeface="Aptos"/>
                <a:cs typeface="Aptos"/>
                <a:sym typeface="Aptos"/>
              </a:rPr>
              <a:t>• Extra EDA plots</a:t>
            </a:r>
            <a:r>
              <a:rPr lang="en-US" b="false" i="false" strike="noStrike" u="none" sz="1500">
                <a:solidFill>
                  <a:srgbClr val="D5DBE7"/>
                </a:solidFill>
                <a:latin typeface="Aptos"/>
                <a:ea typeface="Aptos"/>
                <a:cs typeface="Aptos"/>
                <a:sym typeface="Aptos"/>
              </a:rPr>
              <a:t/>
            </a:r>
          </a:p>
          <a:p>
            <a:pPr algn="l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D5DBE7"/>
                </a:solidFill>
                <a:latin typeface="Aptos"/>
                <a:ea typeface="Aptos"/>
                <a:cs typeface="Aptos"/>
                <a:sym typeface="Aptos"/>
              </a:rPr>
              <a:t>• Architecture diagram / training curve</a:t>
            </a:r>
            <a:r>
              <a:rPr lang="en-US" b="false" i="false" strike="noStrike" u="none" sz="1500">
                <a:solidFill>
                  <a:srgbClr val="D5DBE7"/>
                </a:solidFill>
                <a:latin typeface="Aptos"/>
                <a:ea typeface="Aptos"/>
                <a:cs typeface="Aptos"/>
                <a:sym typeface="Aptos"/>
              </a:rPr>
              <a:t/>
            </a:r>
          </a:p>
          <a:p>
            <a:pPr algn="l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D5DBE7"/>
                </a:solidFill>
                <a:latin typeface="Aptos"/>
                <a:ea typeface="Aptos"/>
                <a:cs typeface="Aptos"/>
                <a:sym typeface="Aptos"/>
              </a:rPr>
              <a:t>• Failure cases / qualitative examples</a:t>
            </a:r>
            <a:r>
              <a:rPr lang="en-US" b="false" i="false" strike="noStrike" u="none" sz="1500">
                <a:solidFill>
                  <a:srgbClr val="D5DBE7"/>
                </a:solidFill>
                <a:latin typeface="Aptos"/>
                <a:ea typeface="Aptos"/>
                <a:cs typeface="Aptos"/>
                <a:sym typeface="Aptos"/>
              </a:rPr>
              <a:t/>
            </a:r>
          </a:p>
          <a:p>
            <a:pPr algn="l" indent="0">
              <a:lnSpc>
                <a:spcPct val="133333"/>
              </a:lnSpc>
            </a:pPr>
            <a:r>
              <a:rPr lang="en-US" b="false" i="false" strike="noStrike" u="none" sz="1500">
                <a:solidFill>
                  <a:srgbClr val="D5DBE7"/>
                </a:solidFill>
                <a:latin typeface="Aptos"/>
                <a:ea typeface="Aptos"/>
                <a:cs typeface="Aptos"/>
                <a:sym typeface="Aptos"/>
              </a:rPr>
              <a:t>• Backup answers for validation and reproducibility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763000" y="2032000"/>
            <a:ext cx="2794000" cy="2794000"/>
          </a:xfrm>
          <a:prstGeom prst="roundRect">
            <a:avLst>
              <a:gd name="adj" fmla="val 3636"/>
            </a:avLst>
          </a:prstGeom>
          <a:solidFill>
            <a:srgbClr val="20314E">
              <a:alpha val="100000"/>
            </a:srgbClr>
          </a:solidFill>
          <a:ln w="12700" cmpd="sng" cap="flat">
            <a:solidFill>
              <a:srgbClr val="60738E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0" y="25400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Thank you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0" y="3683000"/>
            <a:ext cx="254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true" strike="noStrike" u="none" sz="1300">
                <a:solidFill>
                  <a:srgbClr val="A1B1C8"/>
                </a:solidFill>
                <a:latin typeface="Aptos"/>
                <a:ea typeface="Aptos"/>
                <a:cs typeface="Aptos"/>
                <a:sym typeface="Aptos"/>
              </a:rPr>
              <a:t>For your attention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733800" y="5842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8291A5"/>
                </a:solidFill>
                <a:latin typeface="Aptos"/>
                <a:ea typeface="Aptos"/>
                <a:cs typeface="Aptos"/>
                <a:sym typeface="Aptos"/>
              </a:rPr>
              <a:t>SDSC8007 • Facial Keypoints Detection • VioletEG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1303000" y="6223000"/>
            <a:ext cx="76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97386"/>
                </a:solidFill>
                <a:latin typeface="Aptos"/>
                <a:ea typeface="Aptos"/>
                <a:cs typeface="Aptos"/>
                <a:sym typeface="Aptos"/>
              </a:rPr>
              <a:t>10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