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 id="2157483700" r:id="rId3"/>
  </p:sldMasterIdLst>
  <p:notesMasterIdLst>
    <p:notesMasterId r:id="rId14"/>
  </p:notesMasterIdLst>
  <p:sldIdLst>
    <p:sldId id="256" r:id="rId4"/>
    <p:sldId id="257" r:id="rId5"/>
    <p:sldId id="258" r:id="rId6"/>
    <p:sldId id="259" r:id="rId7"/>
    <p:sldId id="266" r:id="rId8"/>
    <p:sldId id="267" r:id="rId9"/>
    <p:sldId id="262" r:id="rId10"/>
    <p:sldId id="263" r:id="rId11"/>
    <p:sldId id="264" r:id="rId12"/>
    <p:sldId id="265"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446" y="9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altLang="zh-CN"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我的报告到此结束。感谢大家的聆听</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98381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MASTER">
    <p:bg>
      <p:bgPr>
        <a:solidFill>
          <a:srgbClr val="F6F3E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4165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6325467"/>
      </p:ext>
    </p:extLst>
  </p:cSld>
  <p:clrMap bg1="lt1" tx1="dk1" bg2="lt2" tx2="dk2" accent1="accent1" accent2="accent2" accent3="accent3" accent4="accent4" accent5="accent5" accent6="accent6" hlink="hlink" folHlink="folHlink"/>
  <p:sldLayoutIdLst>
    <p:sldLayoutId id="2157483701" r:id="rId1"/>
    <p:sldLayoutId id="215748370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203200" cy="68580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9779000" y="0"/>
            <a:ext cx="2413000" cy="6858000"/>
          </a:xfrm>
          <a:prstGeom prst="roundRect">
            <a:avLst>
              <a:gd name="adj" fmla="val 0"/>
            </a:avLst>
          </a:prstGeom>
          <a:solidFill>
            <a:srgbClr val="16253F">
              <a:alpha val="100000"/>
            </a:srgbClr>
          </a:solidFill>
          <a:ln w="12700" cap="flat" cmpd="sng">
            <a:solidFill>
              <a:srgbClr val="16253F">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9067800" y="660400"/>
            <a:ext cx="711200" cy="49403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5" name="AutoShape 5"/>
          <p:cNvSpPr/>
          <p:nvPr/>
        </p:nvSpPr>
        <p:spPr>
          <a:xfrm>
            <a:off x="736600" y="838200"/>
            <a:ext cx="2921000" cy="203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a:solidFill>
                  <a:srgbClr val="B4343A"/>
                </a:solidFill>
                <a:latin typeface="Aptos"/>
                <a:ea typeface="Aptos"/>
                <a:cs typeface="Aptos"/>
                <a:sym typeface="Aptos"/>
              </a:rPr>
              <a:t>SDSC8007 • MINI PROJECT</a:t>
            </a:r>
            <a:endParaRPr lang="en-US" sz="1100"/>
          </a:p>
        </p:txBody>
      </p:sp>
      <p:sp>
        <p:nvSpPr>
          <p:cNvPr id="6" name="AutoShape 6"/>
          <p:cNvSpPr/>
          <p:nvPr/>
        </p:nvSpPr>
        <p:spPr>
          <a:xfrm>
            <a:off x="711200" y="1231900"/>
            <a:ext cx="5397500" cy="1422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500" b="1" i="0" u="none" strike="noStrike">
                <a:solidFill>
                  <a:srgbClr val="16253F"/>
                </a:solidFill>
                <a:latin typeface="Play"/>
                <a:ea typeface="Play"/>
                <a:cs typeface="Play"/>
                <a:sym typeface="Play"/>
              </a:rPr>
              <a:t>Facial Keypoints</a:t>
            </a:r>
            <a:endParaRPr lang="en-US" sz="1100"/>
          </a:p>
          <a:p>
            <a:pPr indent="0" algn="l">
              <a:lnSpc>
                <a:spcPct val="100000"/>
              </a:lnSpc>
            </a:pPr>
            <a:r>
              <a:rPr lang="en-US" sz="2500" b="1" i="0" u="none" strike="noStrike">
                <a:solidFill>
                  <a:srgbClr val="16253F"/>
                </a:solidFill>
                <a:latin typeface="Play"/>
                <a:ea typeface="Play"/>
                <a:cs typeface="Play"/>
                <a:sym typeface="Play"/>
              </a:rPr>
              <a:t>Regression</a:t>
            </a:r>
          </a:p>
        </p:txBody>
      </p:sp>
      <p:sp>
        <p:nvSpPr>
          <p:cNvPr id="7" name="AutoShape 7"/>
          <p:cNvSpPr/>
          <p:nvPr/>
        </p:nvSpPr>
        <p:spPr>
          <a:xfrm>
            <a:off x="749300" y="2755900"/>
            <a:ext cx="5346700" cy="711200"/>
          </a:xfrm>
          <a:prstGeom prst="roundRect">
            <a:avLst>
              <a:gd name="adj" fmla="val 0"/>
            </a:avLst>
          </a:prstGeom>
          <a:noFill/>
          <a:ln w="25400" cap="flat" cmpd="sng">
            <a:noFill/>
            <a:prstDash val="solid"/>
            <a:round/>
          </a:ln>
        </p:spPr>
        <p:txBody>
          <a:bodyPr vert="horz" wrap="square" lIns="254" tIns="254" rIns="254" bIns="254" rtlCol="0" anchor="ctr" anchorCtr="0"/>
          <a:lstStyle/>
          <a:p>
            <a:pPr indent="0" algn="l">
              <a:lnSpc>
                <a:spcPct val="100000"/>
              </a:lnSpc>
              <a:defRPr/>
            </a:pPr>
            <a:r>
              <a:rPr lang="en-US" sz="1500" b="0" i="0" u="none" strike="noStrike" dirty="0">
                <a:solidFill>
                  <a:srgbClr val="16253F"/>
                </a:solidFill>
                <a:latin typeface="Aptos"/>
                <a:ea typeface="Aptos"/>
                <a:cs typeface="Aptos"/>
                <a:sym typeface="Aptos"/>
              </a:rPr>
              <a:t>This presentation outlines our approach to predicting facial </a:t>
            </a:r>
            <a:r>
              <a:rPr lang="en-US" sz="1500" b="0" i="0" u="none" strike="noStrike" dirty="0" err="1">
                <a:solidFill>
                  <a:srgbClr val="16253F"/>
                </a:solidFill>
                <a:latin typeface="Aptos"/>
                <a:ea typeface="Aptos"/>
                <a:cs typeface="Aptos"/>
                <a:sym typeface="Aptos"/>
              </a:rPr>
              <a:t>keypoints</a:t>
            </a:r>
            <a:r>
              <a:rPr lang="en-US" sz="1500" b="0" i="0" u="none" strike="noStrike" dirty="0">
                <a:solidFill>
                  <a:srgbClr val="16253F"/>
                </a:solidFill>
                <a:latin typeface="Aptos"/>
                <a:ea typeface="Aptos"/>
                <a:cs typeface="Aptos"/>
                <a:sym typeface="Aptos"/>
              </a:rPr>
              <a:t>, covering data analysis, model construction, and performance evaluation for the Kaggle mini-competition.</a:t>
            </a:r>
            <a:endParaRPr lang="en-US" sz="1100" dirty="0"/>
          </a:p>
        </p:txBody>
      </p:sp>
      <p:sp>
        <p:nvSpPr>
          <p:cNvPr id="8" name="AutoShape 8"/>
          <p:cNvSpPr/>
          <p:nvPr/>
        </p:nvSpPr>
        <p:spPr>
          <a:xfrm>
            <a:off x="736600" y="3810000"/>
            <a:ext cx="5473700" cy="2159000"/>
          </a:xfrm>
          <a:prstGeom prst="roundRect">
            <a:avLst>
              <a:gd name="adj" fmla="val 5128"/>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9" name="AutoShape 9"/>
          <p:cNvSpPr/>
          <p:nvPr/>
        </p:nvSpPr>
        <p:spPr>
          <a:xfrm>
            <a:off x="965200" y="4000500"/>
            <a:ext cx="5461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TEAM</a:t>
            </a:r>
            <a:endParaRPr lang="en-US" sz="1100"/>
          </a:p>
        </p:txBody>
      </p:sp>
      <p:sp>
        <p:nvSpPr>
          <p:cNvPr id="10" name="AutoShape 10"/>
          <p:cNvSpPr/>
          <p:nvPr/>
        </p:nvSpPr>
        <p:spPr>
          <a:xfrm>
            <a:off x="965200" y="4079784"/>
            <a:ext cx="2057400" cy="762000"/>
          </a:xfrm>
          <a:prstGeom prst="roundRect">
            <a:avLst>
              <a:gd name="adj" fmla="val 0"/>
            </a:avLst>
          </a:prstGeom>
          <a:noFill/>
          <a:ln w="25400" cap="flat" cmpd="sng">
            <a:noFill/>
            <a:prstDash val="solid"/>
            <a:round/>
          </a:ln>
        </p:spPr>
        <p:txBody>
          <a:bodyPr vert="horz" wrap="square" lIns="381" tIns="381" rIns="381" bIns="381" rtlCol="0" anchor="ctr" anchorCtr="0"/>
          <a:lstStyle/>
          <a:p>
            <a:r>
              <a:rPr lang="en-US" altLang="zh-CN" sz="1000" dirty="0"/>
              <a:t>Taoran Zhang 72540158</a:t>
            </a:r>
          </a:p>
          <a:p>
            <a:r>
              <a:rPr lang="en-US" altLang="zh-CN" sz="1000" dirty="0"/>
              <a:t>Yongtai Zhang 72540590</a:t>
            </a:r>
          </a:p>
          <a:p>
            <a:r>
              <a:rPr lang="en-US" altLang="zh-CN" sz="1000" dirty="0"/>
              <a:t>Suwei Chen 72540447</a:t>
            </a:r>
          </a:p>
        </p:txBody>
      </p:sp>
      <p:sp>
        <p:nvSpPr>
          <p:cNvPr id="11" name="AutoShape 11"/>
          <p:cNvSpPr/>
          <p:nvPr/>
        </p:nvSpPr>
        <p:spPr>
          <a:xfrm>
            <a:off x="3403600" y="4000500"/>
            <a:ext cx="10922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COMPETITION</a:t>
            </a:r>
            <a:endParaRPr lang="en-US" sz="1100"/>
          </a:p>
        </p:txBody>
      </p:sp>
      <p:sp>
        <p:nvSpPr>
          <p:cNvPr id="12" name="AutoShape 12"/>
          <p:cNvSpPr/>
          <p:nvPr/>
        </p:nvSpPr>
        <p:spPr>
          <a:xfrm>
            <a:off x="3422650" y="4086860"/>
            <a:ext cx="2095500" cy="762000"/>
          </a:xfrm>
          <a:prstGeom prst="roundRect">
            <a:avLst>
              <a:gd name="adj" fmla="val 0"/>
            </a:avLst>
          </a:prstGeom>
          <a:noFill/>
          <a:ln w="25400" cap="flat" cmpd="sng">
            <a:noFill/>
            <a:prstDash val="solid"/>
            <a:round/>
          </a:ln>
        </p:spPr>
        <p:txBody>
          <a:bodyPr vert="horz" wrap="square" lIns="381" tIns="381" rIns="381" bIns="381" rtlCol="0" anchor="ctr" anchorCtr="0"/>
          <a:lstStyle/>
          <a:p>
            <a:pPr indent="0" algn="l">
              <a:lnSpc>
                <a:spcPct val="100000"/>
              </a:lnSpc>
              <a:defRPr/>
            </a:pPr>
            <a:r>
              <a:rPr lang="en-US" sz="1000" b="0" i="0" u="none" strike="noStrike" dirty="0">
                <a:solidFill>
                  <a:srgbClr val="000000"/>
                </a:solidFill>
                <a:latin typeface="Aptos"/>
                <a:ea typeface="Aptos"/>
                <a:cs typeface="Aptos"/>
                <a:sym typeface="Aptos"/>
              </a:rPr>
              <a:t>Facial </a:t>
            </a:r>
            <a:r>
              <a:rPr lang="en-US" sz="1000" b="0" i="0" u="none" strike="noStrike" dirty="0" err="1">
                <a:solidFill>
                  <a:srgbClr val="000000"/>
                </a:solidFill>
                <a:latin typeface="Aptos"/>
                <a:ea typeface="Aptos"/>
                <a:cs typeface="Aptos"/>
                <a:sym typeface="Aptos"/>
              </a:rPr>
              <a:t>Keypoints</a:t>
            </a:r>
            <a:r>
              <a:rPr lang="en-US" sz="1000" b="0" i="0" u="none" strike="noStrike" dirty="0">
                <a:solidFill>
                  <a:srgbClr val="000000"/>
                </a:solidFill>
                <a:latin typeface="Aptos"/>
                <a:ea typeface="Aptos"/>
                <a:cs typeface="Aptos"/>
                <a:sym typeface="Aptos"/>
              </a:rPr>
              <a:t> Regression</a:t>
            </a:r>
            <a:endParaRPr lang="en-US" sz="1100" dirty="0"/>
          </a:p>
          <a:p>
            <a:pPr indent="0" algn="l">
              <a:lnSpc>
                <a:spcPct val="100000"/>
              </a:lnSpc>
            </a:pPr>
            <a:r>
              <a:rPr lang="en-US" sz="900" b="0" i="0" u="none" strike="noStrike" dirty="0">
                <a:solidFill>
                  <a:srgbClr val="697386"/>
                </a:solidFill>
                <a:latin typeface="Aptos"/>
                <a:ea typeface="Aptos"/>
                <a:cs typeface="Aptos"/>
                <a:sym typeface="Aptos"/>
              </a:rPr>
              <a:t>kaggle.com/competitions/mini-project-facial-</a:t>
            </a:r>
            <a:r>
              <a:rPr lang="en-US" sz="900" b="0" i="0" u="none" strike="noStrike" dirty="0" err="1">
                <a:solidFill>
                  <a:srgbClr val="697386"/>
                </a:solidFill>
                <a:latin typeface="Aptos"/>
                <a:ea typeface="Aptos"/>
                <a:cs typeface="Aptos"/>
                <a:sym typeface="Aptos"/>
              </a:rPr>
              <a:t>keypoints</a:t>
            </a:r>
            <a:r>
              <a:rPr lang="en-US" sz="900" b="0" i="0" u="none" strike="noStrike" dirty="0">
                <a:solidFill>
                  <a:srgbClr val="697386"/>
                </a:solidFill>
                <a:latin typeface="Aptos"/>
                <a:ea typeface="Aptos"/>
                <a:cs typeface="Aptos"/>
                <a:sym typeface="Aptos"/>
              </a:rPr>
              <a:t>-detection</a:t>
            </a:r>
          </a:p>
        </p:txBody>
      </p:sp>
      <p:sp>
        <p:nvSpPr>
          <p:cNvPr id="13" name="AutoShape 13"/>
          <p:cNvSpPr/>
          <p:nvPr/>
        </p:nvSpPr>
        <p:spPr>
          <a:xfrm>
            <a:off x="965200" y="5080000"/>
            <a:ext cx="5461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dirty="0">
                <a:solidFill>
                  <a:srgbClr val="B4343A"/>
                </a:solidFill>
                <a:latin typeface="Aptos"/>
                <a:ea typeface="Aptos"/>
                <a:cs typeface="Aptos"/>
                <a:sym typeface="Aptos"/>
              </a:rPr>
              <a:t>DATE</a:t>
            </a:r>
            <a:endParaRPr lang="en-US" sz="1100" dirty="0"/>
          </a:p>
        </p:txBody>
      </p:sp>
      <p:sp>
        <p:nvSpPr>
          <p:cNvPr id="14" name="AutoShape 14"/>
          <p:cNvSpPr/>
          <p:nvPr/>
        </p:nvSpPr>
        <p:spPr>
          <a:xfrm>
            <a:off x="965200" y="5334000"/>
            <a:ext cx="2108200" cy="292100"/>
          </a:xfrm>
          <a:prstGeom prst="roundRect">
            <a:avLst>
              <a:gd name="adj" fmla="val 0"/>
            </a:avLst>
          </a:prstGeom>
          <a:noFill/>
          <a:ln w="25400" cap="flat" cmpd="sng">
            <a:noFill/>
            <a:prstDash val="solid"/>
            <a:round/>
          </a:ln>
        </p:spPr>
        <p:txBody>
          <a:bodyPr vert="horz" wrap="square" lIns="381" tIns="381" rIns="381" bIns="381" rtlCol="0" anchor="ctr" anchorCtr="0"/>
          <a:lstStyle/>
          <a:p>
            <a:pPr indent="0" algn="l">
              <a:lnSpc>
                <a:spcPct val="100000"/>
              </a:lnSpc>
              <a:defRPr/>
            </a:pPr>
            <a:r>
              <a:rPr lang="en-US" sz="1100" b="0" i="0" u="none" strike="noStrike" dirty="0">
                <a:solidFill>
                  <a:srgbClr val="000000"/>
                </a:solidFill>
                <a:latin typeface="Aptos"/>
                <a:ea typeface="Aptos"/>
                <a:cs typeface="Aptos"/>
                <a:sym typeface="Aptos"/>
              </a:rPr>
              <a:t>2026-04-19</a:t>
            </a:r>
            <a:endParaRPr lang="en-US" sz="1100" dirty="0"/>
          </a:p>
        </p:txBody>
      </p:sp>
      <p:sp>
        <p:nvSpPr>
          <p:cNvPr id="15" name="AutoShape 15"/>
          <p:cNvSpPr/>
          <p:nvPr/>
        </p:nvSpPr>
        <p:spPr>
          <a:xfrm>
            <a:off x="3403600" y="5080000"/>
            <a:ext cx="7366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TAGLINE</a:t>
            </a:r>
            <a:endParaRPr lang="en-US" sz="1100"/>
          </a:p>
        </p:txBody>
      </p:sp>
      <p:sp>
        <p:nvSpPr>
          <p:cNvPr id="16" name="AutoShape 16"/>
          <p:cNvSpPr/>
          <p:nvPr/>
        </p:nvSpPr>
        <p:spPr>
          <a:xfrm>
            <a:off x="3390900" y="5249454"/>
            <a:ext cx="2159000" cy="508000"/>
          </a:xfrm>
          <a:prstGeom prst="roundRect">
            <a:avLst>
              <a:gd name="adj" fmla="val 0"/>
            </a:avLst>
          </a:prstGeom>
          <a:noFill/>
          <a:ln w="25400" cap="flat" cmpd="sng">
            <a:noFill/>
            <a:prstDash val="solid"/>
            <a:round/>
          </a:ln>
        </p:spPr>
        <p:txBody>
          <a:bodyPr vert="horz" wrap="square" lIns="381" tIns="381" rIns="381" bIns="381" rtlCol="0" anchor="ctr" anchorCtr="0"/>
          <a:lstStyle/>
          <a:p>
            <a:pPr indent="0" algn="l">
              <a:lnSpc>
                <a:spcPct val="100000"/>
              </a:lnSpc>
              <a:defRPr/>
            </a:pPr>
            <a:r>
              <a:rPr lang="en-US" sz="1100" dirty="0">
                <a:latin typeface="Aptos"/>
                <a:sym typeface="Aptos"/>
              </a:rPr>
              <a:t>A machine learning project to predict facial </a:t>
            </a:r>
            <a:r>
              <a:rPr lang="en-US" sz="1100" dirty="0" err="1">
                <a:latin typeface="Aptos"/>
                <a:sym typeface="Aptos"/>
              </a:rPr>
              <a:t>keypoints</a:t>
            </a:r>
            <a:r>
              <a:rPr lang="en-US" sz="1100" dirty="0">
                <a:latin typeface="Aptos"/>
                <a:sym typeface="Aptos"/>
              </a:rPr>
              <a:t> accurately.</a:t>
            </a:r>
            <a:endParaRPr lang="en-US" sz="1100" dirty="0">
              <a:latin typeface="Aptos"/>
            </a:endParaRPr>
          </a:p>
        </p:txBody>
      </p:sp>
      <p:sp>
        <p:nvSpPr>
          <p:cNvPr id="17" name="AutoShape 17"/>
          <p:cNvSpPr/>
          <p:nvPr/>
        </p:nvSpPr>
        <p:spPr>
          <a:xfrm>
            <a:off x="10121900" y="5461000"/>
            <a:ext cx="1422400" cy="2032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700" b="1" i="0" u="none" strike="noStrike">
                <a:solidFill>
                  <a:srgbClr val="FFFFFF"/>
                </a:solidFill>
                <a:latin typeface="Play"/>
                <a:ea typeface="Play"/>
                <a:cs typeface="Play"/>
                <a:sym typeface="Play"/>
              </a:rPr>
              <a:t>CITYU-DG</a:t>
            </a:r>
            <a:endParaRPr lang="en-US" sz="1100"/>
          </a:p>
        </p:txBody>
      </p:sp>
      <p:sp>
        <p:nvSpPr>
          <p:cNvPr id="18" name="AutoShape 18"/>
          <p:cNvSpPr/>
          <p:nvPr/>
        </p:nvSpPr>
        <p:spPr>
          <a:xfrm>
            <a:off x="9982200" y="5740400"/>
            <a:ext cx="1689100" cy="1778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100" b="0" i="0" u="none" strike="noStrike">
                <a:solidFill>
                  <a:srgbClr val="D5DBE7"/>
                </a:solidFill>
                <a:latin typeface="Aptos"/>
                <a:ea typeface="Aptos"/>
                <a:cs typeface="Aptos"/>
                <a:sym typeface="Aptos"/>
              </a:rPr>
              <a:t>Final Presentation</a:t>
            </a:r>
            <a:endParaRPr lang="en-US" sz="1100"/>
          </a:p>
        </p:txBody>
      </p:sp>
      <p:sp>
        <p:nvSpPr>
          <p:cNvPr id="19" name="AutoShape 19"/>
          <p:cNvSpPr/>
          <p:nvPr/>
        </p:nvSpPr>
        <p:spPr>
          <a:xfrm>
            <a:off x="10236200" y="5969000"/>
            <a:ext cx="1143000" cy="1778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100" b="0" i="0" u="none" strike="noStrike">
                <a:solidFill>
                  <a:srgbClr val="D5DBE7"/>
                </a:solidFill>
                <a:latin typeface="Aptos"/>
                <a:ea typeface="Aptos"/>
                <a:cs typeface="Aptos"/>
                <a:sym typeface="Aptos"/>
              </a:rPr>
              <a:t>Template</a:t>
            </a:r>
            <a:endParaRPr lang="en-US" sz="1100"/>
          </a:p>
        </p:txBody>
      </p:sp>
      <p:sp>
        <p:nvSpPr>
          <p:cNvPr id="20" name="AutoShape 20"/>
          <p:cNvSpPr/>
          <p:nvPr/>
        </p:nvSpPr>
        <p:spPr>
          <a:xfrm>
            <a:off x="11379200" y="6464300"/>
            <a:ext cx="4064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r">
              <a:lnSpc>
                <a:spcPct val="100000"/>
              </a:lnSpc>
              <a:defRPr/>
            </a:pPr>
            <a:r>
              <a:rPr lang="en-US" sz="900" b="0" i="0" u="none" strike="noStrike">
                <a:solidFill>
                  <a:srgbClr val="697386"/>
                </a:solidFill>
                <a:latin typeface="Aptos"/>
                <a:ea typeface="Aptos"/>
                <a:cs typeface="Aptos"/>
                <a:sym typeface="Aptos"/>
              </a:rPr>
              <a:t>01</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65100" cy="68580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11544300" y="0"/>
            <a:ext cx="647700" cy="10033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1125200" y="0"/>
            <a:ext cx="406400" cy="419100"/>
          </a:xfrm>
          <a:prstGeom prst="roundRect">
            <a:avLst>
              <a:gd name="adj" fmla="val 0"/>
            </a:avLst>
          </a:prstGeom>
          <a:solidFill>
            <a:srgbClr val="16253F">
              <a:alpha val="100000"/>
            </a:srgbClr>
          </a:solidFill>
          <a:ln w="12700" cap="flat" cmpd="sng">
            <a:solidFill>
              <a:srgbClr val="16253F">
                <a:alpha val="0"/>
              </a:srgbClr>
            </a:solidFill>
            <a:prstDash val="solid"/>
            <a:miter lim="10000000"/>
          </a:ln>
        </p:spPr>
        <p:txBody>
          <a:bodyPr vert="horz" wrap="square" lIns="63500" tIns="63500" rIns="63500" bIns="63500" rtlCol="0" anchor="ctr"/>
          <a:lstStyle/>
          <a:p>
            <a:pPr algn="ctr">
              <a:defRPr/>
            </a:pPr>
            <a:endParaRPr/>
          </a:p>
        </p:txBody>
      </p:sp>
      <p:sp>
        <p:nvSpPr>
          <p:cNvPr id="5" name="AutoShape 5"/>
          <p:cNvSpPr/>
          <p:nvPr/>
        </p:nvSpPr>
        <p:spPr>
          <a:xfrm>
            <a:off x="508000" y="292100"/>
            <a:ext cx="2921000" cy="203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FINAL PRESENTATION TEMPLATE</a:t>
            </a:r>
            <a:endParaRPr lang="en-US" sz="1100"/>
          </a:p>
        </p:txBody>
      </p:sp>
      <p:sp>
        <p:nvSpPr>
          <p:cNvPr id="6" name="AutoShape 6"/>
          <p:cNvSpPr/>
          <p:nvPr/>
        </p:nvSpPr>
        <p:spPr>
          <a:xfrm>
            <a:off x="508000" y="508000"/>
            <a:ext cx="8089900" cy="4699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600" b="1" i="0" u="none" strike="noStrike">
                <a:solidFill>
                  <a:srgbClr val="16253F"/>
                </a:solidFill>
                <a:latin typeface="Play"/>
                <a:ea typeface="Play"/>
                <a:cs typeface="Play"/>
                <a:sym typeface="Play"/>
              </a:rPr>
              <a:t>Recommended Storyline</a:t>
            </a:r>
            <a:endParaRPr lang="en-US" sz="1100"/>
          </a:p>
        </p:txBody>
      </p:sp>
      <p:cxnSp>
        <p:nvCxnSpPr>
          <p:cNvPr id="7" name="Connector 7"/>
          <p:cNvCxnSpPr/>
          <p:nvPr/>
        </p:nvCxnSpPr>
        <p:spPr>
          <a:xfrm>
            <a:off x="508000" y="6438900"/>
            <a:ext cx="11150607"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none" w="med" len="med"/>
          </a:ln>
        </p:spPr>
      </p:cxnSp>
      <p:sp>
        <p:nvSpPr>
          <p:cNvPr id="8" name="AutoShape 8"/>
          <p:cNvSpPr/>
          <p:nvPr/>
        </p:nvSpPr>
        <p:spPr>
          <a:xfrm>
            <a:off x="533400" y="6477000"/>
            <a:ext cx="64897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900" b="0" i="0" u="none" strike="noStrike" dirty="0">
                <a:solidFill>
                  <a:srgbClr val="697386"/>
                </a:solidFill>
                <a:latin typeface="Aptos"/>
                <a:ea typeface="Aptos"/>
                <a:cs typeface="Aptos"/>
                <a:sym typeface="Aptos"/>
              </a:rPr>
              <a:t>SDSC8007 • Mini Project </a:t>
            </a:r>
            <a:endParaRPr lang="en-US" sz="1100" dirty="0"/>
          </a:p>
        </p:txBody>
      </p:sp>
      <p:sp>
        <p:nvSpPr>
          <p:cNvPr id="9" name="AutoShape 9"/>
          <p:cNvSpPr/>
          <p:nvPr/>
        </p:nvSpPr>
        <p:spPr>
          <a:xfrm>
            <a:off x="9372600" y="292100"/>
            <a:ext cx="1651000" cy="254000"/>
          </a:xfrm>
          <a:prstGeom prst="roundRect">
            <a:avLst>
              <a:gd name="adj" fmla="val 20000"/>
            </a:avLst>
          </a:prstGeom>
          <a:solidFill>
            <a:srgbClr val="FFFCF7">
              <a:alpha val="100000"/>
            </a:srgbClr>
          </a:solidFill>
          <a:ln w="12700" cap="flat" cmpd="sng">
            <a:solidFill>
              <a:srgbClr val="EDE2D3">
                <a:alpha val="100000"/>
              </a:srgbClr>
            </a:solidFill>
            <a:prstDash val="solid"/>
            <a:miter lim="10000000"/>
          </a:ln>
        </p:spPr>
        <p:txBody>
          <a:bodyPr vert="horz" wrap="square" lIns="63500" tIns="63500" rIns="63500" bIns="63500" rtlCol="0" anchor="ctr"/>
          <a:lstStyle/>
          <a:p>
            <a:pPr algn="ctr">
              <a:defRPr/>
            </a:pPr>
            <a:endParaRPr/>
          </a:p>
        </p:txBody>
      </p:sp>
      <p:sp>
        <p:nvSpPr>
          <p:cNvPr id="10" name="AutoShape 10"/>
          <p:cNvSpPr/>
          <p:nvPr/>
        </p:nvSpPr>
        <p:spPr>
          <a:xfrm>
            <a:off x="9448800" y="330200"/>
            <a:ext cx="1498600" cy="127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800" b="1" i="0" u="none" strike="noStrike">
                <a:solidFill>
                  <a:srgbClr val="697386"/>
                </a:solidFill>
                <a:latin typeface="Aptos"/>
                <a:ea typeface="Aptos"/>
                <a:cs typeface="Aptos"/>
                <a:sym typeface="Aptos"/>
              </a:rPr>
              <a:t>USE AS ROADMAP</a:t>
            </a:r>
            <a:endParaRPr lang="en-US" sz="1100"/>
          </a:p>
        </p:txBody>
      </p:sp>
      <p:cxnSp>
        <p:nvCxnSpPr>
          <p:cNvPr id="11" name="Connector 11"/>
          <p:cNvCxnSpPr/>
          <p:nvPr/>
        </p:nvCxnSpPr>
        <p:spPr>
          <a:xfrm rot="1">
            <a:off x="4495800" y="3022600"/>
            <a:ext cx="1231965"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none" w="med" len="med"/>
          </a:ln>
        </p:spPr>
      </p:cxnSp>
      <p:cxnSp>
        <p:nvCxnSpPr>
          <p:cNvPr id="12" name="Connector 12"/>
          <p:cNvCxnSpPr/>
          <p:nvPr/>
        </p:nvCxnSpPr>
        <p:spPr>
          <a:xfrm rot="1">
            <a:off x="6362700" y="3022600"/>
            <a:ext cx="1244665"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none" w="med" len="med"/>
          </a:ln>
        </p:spPr>
      </p:cxnSp>
      <p:cxnSp>
        <p:nvCxnSpPr>
          <p:cNvPr id="13" name="Connector 13"/>
          <p:cNvCxnSpPr/>
          <p:nvPr/>
        </p:nvCxnSpPr>
        <p:spPr>
          <a:xfrm rot="1">
            <a:off x="8242300" y="3022600"/>
            <a:ext cx="1231965"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none" w="med" len="med"/>
          </a:ln>
        </p:spPr>
      </p:cxnSp>
      <p:cxnSp>
        <p:nvCxnSpPr>
          <p:cNvPr id="14" name="Connector 14"/>
          <p:cNvCxnSpPr/>
          <p:nvPr/>
        </p:nvCxnSpPr>
        <p:spPr>
          <a:xfrm rot="1">
            <a:off x="10121900" y="3022600"/>
            <a:ext cx="1231965"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none" w="med" len="med"/>
          </a:ln>
        </p:spPr>
      </p:cxnSp>
      <p:cxnSp>
        <p:nvCxnSpPr>
          <p:cNvPr id="15" name="Connector 15"/>
          <p:cNvCxnSpPr/>
          <p:nvPr/>
        </p:nvCxnSpPr>
        <p:spPr>
          <a:xfrm rot="1">
            <a:off x="2197100" y="3022600"/>
            <a:ext cx="1244665"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none" w="med" len="med"/>
          </a:ln>
        </p:spPr>
      </p:cxnSp>
      <p:cxnSp>
        <p:nvCxnSpPr>
          <p:cNvPr id="16" name="Connector 16"/>
          <p:cNvCxnSpPr/>
          <p:nvPr/>
        </p:nvCxnSpPr>
        <p:spPr>
          <a:xfrm rot="1">
            <a:off x="4076700" y="3022600"/>
            <a:ext cx="1231965"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none" w="med" len="med"/>
          </a:ln>
        </p:spPr>
      </p:cxnSp>
      <p:sp>
        <p:nvSpPr>
          <p:cNvPr id="17" name="AutoShape 17"/>
          <p:cNvSpPr/>
          <p:nvPr/>
        </p:nvSpPr>
        <p:spPr>
          <a:xfrm>
            <a:off x="1549400" y="2565400"/>
            <a:ext cx="685800" cy="685800"/>
          </a:xfrm>
          <a:prstGeom prst="ellipse">
            <a:avLst/>
          </a:prstGeom>
          <a:solidFill>
            <a:srgbClr val="B4343A">
              <a:alpha val="100000"/>
            </a:srgbClr>
          </a:solidFill>
          <a:ln w="12700" cap="flat" cmpd="sng">
            <a:solidFill>
              <a:srgbClr val="B4343A">
                <a:alpha val="100000"/>
              </a:srgbClr>
            </a:solidFill>
            <a:prstDash val="solid"/>
            <a:miter lim="10000000"/>
          </a:ln>
        </p:spPr>
        <p:txBody>
          <a:bodyPr vert="horz" wrap="square" lIns="63500" tIns="63500" rIns="63500" bIns="63500" rtlCol="0" anchor="ctr"/>
          <a:lstStyle/>
          <a:p>
            <a:pPr algn="ctr">
              <a:defRPr/>
            </a:pPr>
            <a:endParaRPr/>
          </a:p>
        </p:txBody>
      </p:sp>
      <p:sp>
        <p:nvSpPr>
          <p:cNvPr id="18" name="AutoShape 18"/>
          <p:cNvSpPr/>
          <p:nvPr/>
        </p:nvSpPr>
        <p:spPr>
          <a:xfrm>
            <a:off x="1549400" y="2755900"/>
            <a:ext cx="6858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100" b="1" i="0" u="none" strike="noStrike">
                <a:solidFill>
                  <a:srgbClr val="FFFFFF"/>
                </a:solidFill>
                <a:latin typeface="Aptos"/>
                <a:ea typeface="Aptos"/>
                <a:cs typeface="Aptos"/>
                <a:sym typeface="Aptos"/>
              </a:rPr>
              <a:t>01</a:t>
            </a:r>
            <a:endParaRPr lang="en-US" sz="1100"/>
          </a:p>
        </p:txBody>
      </p:sp>
      <p:sp>
        <p:nvSpPr>
          <p:cNvPr id="19" name="AutoShape 19"/>
          <p:cNvSpPr/>
          <p:nvPr/>
        </p:nvSpPr>
        <p:spPr>
          <a:xfrm>
            <a:off x="1143000" y="3454400"/>
            <a:ext cx="1778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300" b="1" i="0" u="none" strike="noStrike">
                <a:solidFill>
                  <a:srgbClr val="16253F"/>
                </a:solidFill>
                <a:latin typeface="Aptos"/>
                <a:ea typeface="Aptos"/>
                <a:cs typeface="Aptos"/>
                <a:sym typeface="Aptos"/>
              </a:rPr>
              <a:t>Task &amp; metric</a:t>
            </a:r>
            <a:endParaRPr lang="en-US" sz="1100"/>
          </a:p>
        </p:txBody>
      </p:sp>
      <p:sp>
        <p:nvSpPr>
          <p:cNvPr id="20" name="AutoShape 20"/>
          <p:cNvSpPr/>
          <p:nvPr/>
        </p:nvSpPr>
        <p:spPr>
          <a:xfrm>
            <a:off x="1143000" y="3937000"/>
            <a:ext cx="177800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8333"/>
              </a:lnSpc>
              <a:defRPr/>
            </a:pPr>
            <a:r>
              <a:rPr lang="en-US" sz="1100" b="0" i="0" u="none" strike="noStrike">
                <a:solidFill>
                  <a:srgbClr val="697386"/>
                </a:solidFill>
                <a:latin typeface="Aptos"/>
                <a:ea typeface="Aptos"/>
                <a:cs typeface="Aptos"/>
                <a:sym typeface="Aptos"/>
              </a:rPr>
              <a:t>What is the competition?</a:t>
            </a:r>
            <a:br>
              <a:rPr lang="en-US" sz="1100" b="0" i="0" u="none" strike="noStrike">
                <a:solidFill>
                  <a:srgbClr val="697386"/>
                </a:solidFill>
                <a:latin typeface="Aptos"/>
                <a:ea typeface="Aptos"/>
                <a:cs typeface="Aptos"/>
                <a:sym typeface="Aptos"/>
              </a:rPr>
            </a:br>
            <a:r>
              <a:rPr lang="en-US" sz="1100" b="0" i="0" u="none" strike="noStrike">
                <a:solidFill>
                  <a:srgbClr val="697386"/>
                </a:solidFill>
                <a:latin typeface="Aptos"/>
                <a:ea typeface="Aptos"/>
                <a:cs typeface="Aptos"/>
                <a:sym typeface="Aptos"/>
              </a:rPr>
              <a:t>What is the exact prediction target and evaluation metric?</a:t>
            </a:r>
            <a:endParaRPr lang="en-US" sz="1100"/>
          </a:p>
        </p:txBody>
      </p:sp>
      <p:sp>
        <p:nvSpPr>
          <p:cNvPr id="21" name="AutoShape 21"/>
          <p:cNvSpPr/>
          <p:nvPr/>
        </p:nvSpPr>
        <p:spPr>
          <a:xfrm>
            <a:off x="3429000" y="2565400"/>
            <a:ext cx="685800" cy="685800"/>
          </a:xfrm>
          <a:prstGeom prst="ellipse">
            <a:avLst/>
          </a:prstGeom>
          <a:solidFill>
            <a:srgbClr val="FFFCF7">
              <a:alpha val="100000"/>
            </a:srgbClr>
          </a:solidFill>
          <a:ln w="12700" cap="flat" cmpd="sng">
            <a:solidFill>
              <a:srgbClr val="16253F">
                <a:alpha val="100000"/>
              </a:srgbClr>
            </a:solidFill>
            <a:prstDash val="solid"/>
            <a:miter lim="10000000"/>
          </a:ln>
        </p:spPr>
        <p:txBody>
          <a:bodyPr vert="horz" wrap="square" lIns="63500" tIns="63500" rIns="63500" bIns="63500" rtlCol="0" anchor="ctr"/>
          <a:lstStyle/>
          <a:p>
            <a:pPr algn="ctr">
              <a:defRPr/>
            </a:pPr>
            <a:endParaRPr/>
          </a:p>
        </p:txBody>
      </p:sp>
      <p:sp>
        <p:nvSpPr>
          <p:cNvPr id="22" name="AutoShape 22"/>
          <p:cNvSpPr/>
          <p:nvPr/>
        </p:nvSpPr>
        <p:spPr>
          <a:xfrm>
            <a:off x="3429000" y="2755900"/>
            <a:ext cx="6858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100" b="1" i="0" u="none" strike="noStrike">
                <a:solidFill>
                  <a:srgbClr val="16253F"/>
                </a:solidFill>
                <a:latin typeface="Aptos"/>
                <a:ea typeface="Aptos"/>
                <a:cs typeface="Aptos"/>
                <a:sym typeface="Aptos"/>
              </a:rPr>
              <a:t>02</a:t>
            </a:r>
            <a:endParaRPr lang="en-US" sz="1100"/>
          </a:p>
        </p:txBody>
      </p:sp>
      <p:sp>
        <p:nvSpPr>
          <p:cNvPr id="23" name="AutoShape 23"/>
          <p:cNvSpPr/>
          <p:nvPr/>
        </p:nvSpPr>
        <p:spPr>
          <a:xfrm>
            <a:off x="3009900" y="3454400"/>
            <a:ext cx="1778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300" b="1" i="0" u="none" strike="noStrike">
                <a:solidFill>
                  <a:srgbClr val="16253F"/>
                </a:solidFill>
                <a:latin typeface="Aptos"/>
                <a:ea typeface="Aptos"/>
                <a:cs typeface="Aptos"/>
                <a:sym typeface="Aptos"/>
              </a:rPr>
              <a:t>Data &amp; challenges</a:t>
            </a:r>
            <a:endParaRPr lang="en-US" sz="1100"/>
          </a:p>
        </p:txBody>
      </p:sp>
      <p:sp>
        <p:nvSpPr>
          <p:cNvPr id="24" name="AutoShape 24"/>
          <p:cNvSpPr/>
          <p:nvPr/>
        </p:nvSpPr>
        <p:spPr>
          <a:xfrm>
            <a:off x="3009900" y="3937000"/>
            <a:ext cx="177800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8333"/>
              </a:lnSpc>
              <a:defRPr/>
            </a:pPr>
            <a:r>
              <a:rPr lang="en-US" sz="1100" b="0" i="0" u="none" strike="noStrike">
                <a:solidFill>
                  <a:srgbClr val="697386"/>
                </a:solidFill>
                <a:latin typeface="Aptos"/>
                <a:ea typeface="Aptos"/>
                <a:cs typeface="Aptos"/>
                <a:sym typeface="Aptos"/>
              </a:rPr>
              <a:t>What data do you have,</a:t>
            </a:r>
            <a:br>
              <a:rPr lang="en-US" sz="1100" b="0" i="0" u="none" strike="noStrike">
                <a:solidFill>
                  <a:srgbClr val="697386"/>
                </a:solidFill>
                <a:latin typeface="Aptos"/>
                <a:ea typeface="Aptos"/>
                <a:cs typeface="Aptos"/>
                <a:sym typeface="Aptos"/>
              </a:rPr>
            </a:br>
            <a:r>
              <a:rPr lang="en-US" sz="1100" b="0" i="0" u="none" strike="noStrike">
                <a:solidFill>
                  <a:srgbClr val="697386"/>
                </a:solidFill>
                <a:latin typeface="Aptos"/>
                <a:ea typeface="Aptos"/>
                <a:cs typeface="Aptos"/>
                <a:sym typeface="Aptos"/>
              </a:rPr>
              <a:t>and what makes the task difficult?</a:t>
            </a:r>
            <a:endParaRPr lang="en-US" sz="1100"/>
          </a:p>
        </p:txBody>
      </p:sp>
      <p:sp>
        <p:nvSpPr>
          <p:cNvPr id="25" name="AutoShape 25"/>
          <p:cNvSpPr/>
          <p:nvPr/>
        </p:nvSpPr>
        <p:spPr>
          <a:xfrm>
            <a:off x="5715000" y="2565400"/>
            <a:ext cx="685800" cy="685800"/>
          </a:xfrm>
          <a:prstGeom prst="ellipse">
            <a:avLst/>
          </a:prstGeom>
          <a:solidFill>
            <a:srgbClr val="FFFCF7">
              <a:alpha val="100000"/>
            </a:srgbClr>
          </a:solidFill>
          <a:ln w="12700" cap="flat" cmpd="sng">
            <a:solidFill>
              <a:srgbClr val="16253F">
                <a:alpha val="100000"/>
              </a:srgbClr>
            </a:solidFill>
            <a:prstDash val="solid"/>
            <a:miter lim="10000000"/>
          </a:ln>
        </p:spPr>
        <p:txBody>
          <a:bodyPr vert="horz" wrap="square" lIns="63500" tIns="63500" rIns="63500" bIns="63500" rtlCol="0" anchor="ctr"/>
          <a:lstStyle/>
          <a:p>
            <a:pPr algn="ctr">
              <a:defRPr/>
            </a:pPr>
            <a:endParaRPr/>
          </a:p>
        </p:txBody>
      </p:sp>
      <p:sp>
        <p:nvSpPr>
          <p:cNvPr id="26" name="AutoShape 26"/>
          <p:cNvSpPr/>
          <p:nvPr/>
        </p:nvSpPr>
        <p:spPr>
          <a:xfrm>
            <a:off x="5715000" y="2755900"/>
            <a:ext cx="6858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100" b="1" i="0" u="none" strike="noStrike">
                <a:solidFill>
                  <a:srgbClr val="16253F"/>
                </a:solidFill>
                <a:latin typeface="Aptos"/>
                <a:ea typeface="Aptos"/>
                <a:cs typeface="Aptos"/>
                <a:sym typeface="Aptos"/>
              </a:rPr>
              <a:t>03</a:t>
            </a:r>
            <a:endParaRPr lang="en-US" sz="1100"/>
          </a:p>
        </p:txBody>
      </p:sp>
      <p:sp>
        <p:nvSpPr>
          <p:cNvPr id="27" name="AutoShape 27"/>
          <p:cNvSpPr/>
          <p:nvPr/>
        </p:nvSpPr>
        <p:spPr>
          <a:xfrm>
            <a:off x="5295900" y="3454400"/>
            <a:ext cx="1778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300" b="1" i="0" u="none" strike="noStrike">
                <a:solidFill>
                  <a:srgbClr val="16253F"/>
                </a:solidFill>
                <a:latin typeface="Aptos"/>
                <a:ea typeface="Aptos"/>
                <a:cs typeface="Aptos"/>
                <a:sym typeface="Aptos"/>
              </a:rPr>
              <a:t>Baseline</a:t>
            </a:r>
            <a:endParaRPr lang="en-US" sz="1100"/>
          </a:p>
        </p:txBody>
      </p:sp>
      <p:sp>
        <p:nvSpPr>
          <p:cNvPr id="28" name="AutoShape 28"/>
          <p:cNvSpPr/>
          <p:nvPr/>
        </p:nvSpPr>
        <p:spPr>
          <a:xfrm>
            <a:off x="5295900" y="3937000"/>
            <a:ext cx="177800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8333"/>
              </a:lnSpc>
              <a:defRPr/>
            </a:pPr>
            <a:r>
              <a:rPr lang="en-US" sz="1100" b="0" i="0" u="none" strike="noStrike">
                <a:solidFill>
                  <a:srgbClr val="697386"/>
                </a:solidFill>
                <a:latin typeface="Aptos"/>
                <a:ea typeface="Aptos"/>
                <a:cs typeface="Aptos"/>
                <a:sym typeface="Aptos"/>
              </a:rPr>
              <a:t>Start from a reproducible model before improvements.</a:t>
            </a:r>
            <a:endParaRPr lang="en-US" sz="1100"/>
          </a:p>
        </p:txBody>
      </p:sp>
      <p:sp>
        <p:nvSpPr>
          <p:cNvPr id="29" name="AutoShape 29"/>
          <p:cNvSpPr/>
          <p:nvPr/>
        </p:nvSpPr>
        <p:spPr>
          <a:xfrm>
            <a:off x="7594600" y="2565400"/>
            <a:ext cx="685800" cy="685800"/>
          </a:xfrm>
          <a:prstGeom prst="ellipse">
            <a:avLst/>
          </a:prstGeom>
          <a:solidFill>
            <a:srgbClr val="FFFCF7">
              <a:alpha val="100000"/>
            </a:srgbClr>
          </a:solidFill>
          <a:ln w="12700" cap="flat" cmpd="sng">
            <a:solidFill>
              <a:srgbClr val="16253F">
                <a:alpha val="100000"/>
              </a:srgbClr>
            </a:solidFill>
            <a:prstDash val="solid"/>
            <a:miter lim="10000000"/>
          </a:ln>
        </p:spPr>
        <p:txBody>
          <a:bodyPr vert="horz" wrap="square" lIns="63500" tIns="63500" rIns="63500" bIns="63500" rtlCol="0" anchor="ctr"/>
          <a:lstStyle/>
          <a:p>
            <a:pPr algn="ctr">
              <a:defRPr/>
            </a:pPr>
            <a:endParaRPr/>
          </a:p>
        </p:txBody>
      </p:sp>
      <p:sp>
        <p:nvSpPr>
          <p:cNvPr id="30" name="AutoShape 30"/>
          <p:cNvSpPr/>
          <p:nvPr/>
        </p:nvSpPr>
        <p:spPr>
          <a:xfrm>
            <a:off x="7594600" y="2755900"/>
            <a:ext cx="6858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100" b="1" i="0" u="none" strike="noStrike">
                <a:solidFill>
                  <a:srgbClr val="16253F"/>
                </a:solidFill>
                <a:latin typeface="Aptos"/>
                <a:ea typeface="Aptos"/>
                <a:cs typeface="Aptos"/>
                <a:sym typeface="Aptos"/>
              </a:rPr>
              <a:t>04</a:t>
            </a:r>
            <a:endParaRPr lang="en-US" sz="1100"/>
          </a:p>
        </p:txBody>
      </p:sp>
      <p:sp>
        <p:nvSpPr>
          <p:cNvPr id="31" name="AutoShape 31"/>
          <p:cNvSpPr/>
          <p:nvPr/>
        </p:nvSpPr>
        <p:spPr>
          <a:xfrm>
            <a:off x="7175500" y="3454400"/>
            <a:ext cx="1778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300" b="1" i="0" u="none" strike="noStrike">
                <a:solidFill>
                  <a:srgbClr val="16253F"/>
                </a:solidFill>
                <a:latin typeface="Aptos"/>
                <a:ea typeface="Aptos"/>
                <a:cs typeface="Aptos"/>
                <a:sym typeface="Aptos"/>
              </a:rPr>
              <a:t>Improvements</a:t>
            </a:r>
            <a:endParaRPr lang="en-US" sz="1100"/>
          </a:p>
        </p:txBody>
      </p:sp>
      <p:sp>
        <p:nvSpPr>
          <p:cNvPr id="32" name="AutoShape 32"/>
          <p:cNvSpPr/>
          <p:nvPr/>
        </p:nvSpPr>
        <p:spPr>
          <a:xfrm>
            <a:off x="7175500" y="3937000"/>
            <a:ext cx="177800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8333"/>
              </a:lnSpc>
              <a:defRPr/>
            </a:pPr>
            <a:r>
              <a:rPr lang="en-US" sz="1100" b="0" i="0" u="none" strike="noStrike">
                <a:solidFill>
                  <a:srgbClr val="697386"/>
                </a:solidFill>
                <a:latin typeface="Aptos"/>
                <a:ea typeface="Aptos"/>
                <a:cs typeface="Aptos"/>
                <a:sym typeface="Aptos"/>
              </a:rPr>
              <a:t>Show the logic behind each major change and its effect.</a:t>
            </a:r>
            <a:endParaRPr lang="en-US" sz="1100"/>
          </a:p>
        </p:txBody>
      </p:sp>
      <p:sp>
        <p:nvSpPr>
          <p:cNvPr id="33" name="AutoShape 33"/>
          <p:cNvSpPr/>
          <p:nvPr/>
        </p:nvSpPr>
        <p:spPr>
          <a:xfrm>
            <a:off x="9474200" y="2565400"/>
            <a:ext cx="685800" cy="685800"/>
          </a:xfrm>
          <a:prstGeom prst="ellipse">
            <a:avLst/>
          </a:prstGeom>
          <a:solidFill>
            <a:srgbClr val="FFFCF7">
              <a:alpha val="100000"/>
            </a:srgbClr>
          </a:solidFill>
          <a:ln w="12700" cap="flat" cmpd="sng">
            <a:solidFill>
              <a:srgbClr val="16253F">
                <a:alpha val="100000"/>
              </a:srgbClr>
            </a:solidFill>
            <a:prstDash val="solid"/>
            <a:miter lim="10000000"/>
          </a:ln>
        </p:spPr>
        <p:txBody>
          <a:bodyPr vert="horz" wrap="square" lIns="63500" tIns="63500" rIns="63500" bIns="63500" rtlCol="0" anchor="ctr"/>
          <a:lstStyle/>
          <a:p>
            <a:pPr algn="ctr">
              <a:defRPr/>
            </a:pPr>
            <a:endParaRPr/>
          </a:p>
        </p:txBody>
      </p:sp>
      <p:sp>
        <p:nvSpPr>
          <p:cNvPr id="34" name="AutoShape 34"/>
          <p:cNvSpPr/>
          <p:nvPr/>
        </p:nvSpPr>
        <p:spPr>
          <a:xfrm>
            <a:off x="9474200" y="2755900"/>
            <a:ext cx="6858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100" b="1" i="0" u="none" strike="noStrike">
                <a:solidFill>
                  <a:srgbClr val="16253F"/>
                </a:solidFill>
                <a:latin typeface="Aptos"/>
                <a:ea typeface="Aptos"/>
                <a:cs typeface="Aptos"/>
                <a:sym typeface="Aptos"/>
              </a:rPr>
              <a:t>05</a:t>
            </a:r>
            <a:endParaRPr lang="en-US" sz="1100"/>
          </a:p>
        </p:txBody>
      </p:sp>
      <p:sp>
        <p:nvSpPr>
          <p:cNvPr id="35" name="AutoShape 35"/>
          <p:cNvSpPr/>
          <p:nvPr/>
        </p:nvSpPr>
        <p:spPr>
          <a:xfrm>
            <a:off x="9055100" y="3454400"/>
            <a:ext cx="1778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300" b="1" i="0" u="none" strike="noStrike">
                <a:solidFill>
                  <a:srgbClr val="16253F"/>
                </a:solidFill>
                <a:latin typeface="Aptos"/>
                <a:ea typeface="Aptos"/>
                <a:cs typeface="Aptos"/>
                <a:sym typeface="Aptos"/>
              </a:rPr>
              <a:t>Results &amp; reflection</a:t>
            </a:r>
            <a:endParaRPr lang="en-US" sz="1100"/>
          </a:p>
        </p:txBody>
      </p:sp>
      <p:sp>
        <p:nvSpPr>
          <p:cNvPr id="36" name="AutoShape 36"/>
          <p:cNvSpPr/>
          <p:nvPr/>
        </p:nvSpPr>
        <p:spPr>
          <a:xfrm>
            <a:off x="9055100" y="3937000"/>
            <a:ext cx="177800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8333"/>
              </a:lnSpc>
              <a:defRPr/>
            </a:pPr>
            <a:r>
              <a:rPr lang="en-US" sz="1100" b="0" i="0" u="none" strike="noStrike">
                <a:solidFill>
                  <a:srgbClr val="697386"/>
                </a:solidFill>
                <a:latin typeface="Aptos"/>
                <a:ea typeface="Aptos"/>
                <a:cs typeface="Aptos"/>
                <a:sym typeface="Aptos"/>
              </a:rPr>
              <a:t>Final score, Top-5 target,</a:t>
            </a:r>
            <a:br>
              <a:rPr lang="en-US" sz="1100" b="0" i="0" u="none" strike="noStrike">
                <a:solidFill>
                  <a:srgbClr val="697386"/>
                </a:solidFill>
                <a:latin typeface="Aptos"/>
                <a:ea typeface="Aptos"/>
                <a:cs typeface="Aptos"/>
                <a:sym typeface="Aptos"/>
              </a:rPr>
            </a:br>
            <a:r>
              <a:rPr lang="en-US" sz="1100" b="0" i="0" u="none" strike="noStrike">
                <a:solidFill>
                  <a:srgbClr val="697386"/>
                </a:solidFill>
                <a:latin typeface="Aptos"/>
                <a:ea typeface="Aptos"/>
                <a:cs typeface="Aptos"/>
                <a:sym typeface="Aptos"/>
              </a:rPr>
              <a:t>what worked, what remains.</a:t>
            </a:r>
            <a:endParaRPr lang="en-US" sz="1100"/>
          </a:p>
        </p:txBody>
      </p:sp>
      <p:sp>
        <p:nvSpPr>
          <p:cNvPr id="37" name="AutoShape 37"/>
          <p:cNvSpPr/>
          <p:nvPr/>
        </p:nvSpPr>
        <p:spPr>
          <a:xfrm>
            <a:off x="660400" y="1143000"/>
            <a:ext cx="4978400" cy="838200"/>
          </a:xfrm>
          <a:prstGeom prst="roundRect">
            <a:avLst>
              <a:gd name="adj" fmla="val 9090"/>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38" name="AutoShape 38"/>
          <p:cNvSpPr/>
          <p:nvPr/>
        </p:nvSpPr>
        <p:spPr>
          <a:xfrm>
            <a:off x="838200" y="1358900"/>
            <a:ext cx="11938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COURSE REMINDER</a:t>
            </a:r>
            <a:endParaRPr lang="en-US" sz="1100"/>
          </a:p>
        </p:txBody>
      </p:sp>
      <p:sp>
        <p:nvSpPr>
          <p:cNvPr id="39" name="AutoShape 39"/>
          <p:cNvSpPr/>
          <p:nvPr/>
        </p:nvSpPr>
        <p:spPr>
          <a:xfrm>
            <a:off x="838200" y="1574800"/>
            <a:ext cx="4572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endParaRPr lang="en-US" sz="1100" dirty="0"/>
          </a:p>
        </p:txBody>
      </p:sp>
      <p:sp>
        <p:nvSpPr>
          <p:cNvPr id="40" name="AutoShape 40"/>
          <p:cNvSpPr/>
          <p:nvPr/>
        </p:nvSpPr>
        <p:spPr>
          <a:xfrm>
            <a:off x="5880100" y="1143000"/>
            <a:ext cx="5435600" cy="838200"/>
          </a:xfrm>
          <a:prstGeom prst="roundRect">
            <a:avLst>
              <a:gd name="adj" fmla="val 9090"/>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41" name="AutoShape 41"/>
          <p:cNvSpPr/>
          <p:nvPr/>
        </p:nvSpPr>
        <p:spPr>
          <a:xfrm>
            <a:off x="6083300" y="1358900"/>
            <a:ext cx="8255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EDITING TIP</a:t>
            </a:r>
            <a:endParaRPr lang="en-US" sz="1100"/>
          </a:p>
        </p:txBody>
      </p:sp>
      <p:sp>
        <p:nvSpPr>
          <p:cNvPr id="42" name="AutoShape 42"/>
          <p:cNvSpPr/>
          <p:nvPr/>
        </p:nvSpPr>
        <p:spPr>
          <a:xfrm>
            <a:off x="6083300" y="1574800"/>
            <a:ext cx="49403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endParaRPr lang="en-US" sz="1100" dirty="0"/>
          </a:p>
        </p:txBody>
      </p:sp>
      <p:sp>
        <p:nvSpPr>
          <p:cNvPr id="43" name="AutoShape 43"/>
          <p:cNvSpPr/>
          <p:nvPr/>
        </p:nvSpPr>
        <p:spPr>
          <a:xfrm>
            <a:off x="11379200" y="6464300"/>
            <a:ext cx="4064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r">
              <a:lnSpc>
                <a:spcPct val="100000"/>
              </a:lnSpc>
              <a:defRPr/>
            </a:pPr>
            <a:r>
              <a:rPr lang="en-US" sz="900" b="0" i="0" u="none" strike="noStrike">
                <a:solidFill>
                  <a:srgbClr val="697386"/>
                </a:solidFill>
                <a:latin typeface="Aptos"/>
                <a:ea typeface="Aptos"/>
                <a:cs typeface="Aptos"/>
                <a:sym typeface="Aptos"/>
              </a:rPr>
              <a:t>02</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65100" cy="68580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11544300" y="0"/>
            <a:ext cx="647700" cy="10033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1125200" y="0"/>
            <a:ext cx="406400" cy="419100"/>
          </a:xfrm>
          <a:prstGeom prst="roundRect">
            <a:avLst>
              <a:gd name="adj" fmla="val 0"/>
            </a:avLst>
          </a:prstGeom>
          <a:solidFill>
            <a:srgbClr val="16253F">
              <a:alpha val="100000"/>
            </a:srgbClr>
          </a:solidFill>
          <a:ln w="12700" cap="flat" cmpd="sng">
            <a:solidFill>
              <a:srgbClr val="16253F">
                <a:alpha val="0"/>
              </a:srgbClr>
            </a:solidFill>
            <a:prstDash val="solid"/>
            <a:miter lim="10000000"/>
          </a:ln>
        </p:spPr>
        <p:txBody>
          <a:bodyPr vert="horz" wrap="square" lIns="63500" tIns="63500" rIns="63500" bIns="63500" rtlCol="0" anchor="ctr"/>
          <a:lstStyle/>
          <a:p>
            <a:pPr algn="ctr">
              <a:defRPr/>
            </a:pPr>
            <a:endParaRPr/>
          </a:p>
        </p:txBody>
      </p:sp>
      <p:sp>
        <p:nvSpPr>
          <p:cNvPr id="5" name="AutoShape 5"/>
          <p:cNvSpPr/>
          <p:nvPr/>
        </p:nvSpPr>
        <p:spPr>
          <a:xfrm>
            <a:off x="508000" y="292100"/>
            <a:ext cx="2921000" cy="203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SDSC8007 • MINI PROJECT</a:t>
            </a:r>
            <a:endParaRPr lang="en-US" sz="1100"/>
          </a:p>
        </p:txBody>
      </p:sp>
      <p:sp>
        <p:nvSpPr>
          <p:cNvPr id="6" name="AutoShape 6"/>
          <p:cNvSpPr/>
          <p:nvPr/>
        </p:nvSpPr>
        <p:spPr>
          <a:xfrm>
            <a:off x="508000" y="508000"/>
            <a:ext cx="8089900" cy="4699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600" b="1" i="0" u="none" strike="noStrike">
                <a:solidFill>
                  <a:srgbClr val="16253F"/>
                </a:solidFill>
                <a:latin typeface="Play"/>
                <a:ea typeface="Play"/>
                <a:cs typeface="Play"/>
                <a:sym typeface="Play"/>
              </a:rPr>
              <a:t>1. Task Description &amp; Metric</a:t>
            </a:r>
            <a:endParaRPr lang="en-US" sz="1100"/>
          </a:p>
        </p:txBody>
      </p:sp>
      <p:cxnSp>
        <p:nvCxnSpPr>
          <p:cNvPr id="7" name="Connector 7"/>
          <p:cNvCxnSpPr/>
          <p:nvPr/>
        </p:nvCxnSpPr>
        <p:spPr>
          <a:xfrm>
            <a:off x="508000" y="6438900"/>
            <a:ext cx="11150607"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none" w="med" len="med"/>
          </a:ln>
        </p:spPr>
      </p:cxnSp>
      <p:sp>
        <p:nvSpPr>
          <p:cNvPr id="8" name="AutoShape 8"/>
          <p:cNvSpPr/>
          <p:nvPr/>
        </p:nvSpPr>
        <p:spPr>
          <a:xfrm>
            <a:off x="533400" y="6477000"/>
            <a:ext cx="64897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900" b="0" i="0" u="none" strike="noStrike">
                <a:solidFill>
                  <a:srgbClr val="697386"/>
                </a:solidFill>
                <a:latin typeface="Aptos"/>
                <a:ea typeface="Aptos"/>
                <a:cs typeface="Aptos"/>
                <a:sym typeface="Aptos"/>
              </a:rPr>
              <a:t>SDSC8007 • Mini Project • Facial Keypoints Regression</a:t>
            </a:r>
            <a:endParaRPr lang="en-US" sz="1100"/>
          </a:p>
        </p:txBody>
      </p:sp>
      <p:sp>
        <p:nvSpPr>
          <p:cNvPr id="9" name="AutoShape 9"/>
          <p:cNvSpPr/>
          <p:nvPr/>
        </p:nvSpPr>
        <p:spPr>
          <a:xfrm>
            <a:off x="9372600" y="292100"/>
            <a:ext cx="1651000" cy="254000"/>
          </a:xfrm>
          <a:prstGeom prst="roundRect">
            <a:avLst>
              <a:gd name="adj" fmla="val 20000"/>
            </a:avLst>
          </a:prstGeom>
          <a:solidFill>
            <a:srgbClr val="FFFCF7">
              <a:alpha val="100000"/>
            </a:srgbClr>
          </a:solidFill>
          <a:ln w="12700" cap="flat" cmpd="sng">
            <a:solidFill>
              <a:srgbClr val="EDE2D3">
                <a:alpha val="100000"/>
              </a:srgbClr>
            </a:solidFill>
            <a:prstDash val="solid"/>
            <a:miter lim="10000000"/>
          </a:ln>
        </p:spPr>
        <p:txBody>
          <a:bodyPr vert="horz" wrap="square" lIns="63500" tIns="63500" rIns="63500" bIns="63500" rtlCol="0" anchor="ctr"/>
          <a:lstStyle/>
          <a:p>
            <a:pPr algn="ctr">
              <a:defRPr/>
            </a:pPr>
            <a:endParaRPr/>
          </a:p>
        </p:txBody>
      </p:sp>
      <p:sp>
        <p:nvSpPr>
          <p:cNvPr id="10" name="AutoShape 10"/>
          <p:cNvSpPr/>
          <p:nvPr/>
        </p:nvSpPr>
        <p:spPr>
          <a:xfrm>
            <a:off x="9448800" y="330200"/>
            <a:ext cx="1498600" cy="127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800" b="1" i="0" u="none" strike="noStrike">
                <a:solidFill>
                  <a:srgbClr val="697386"/>
                </a:solidFill>
                <a:latin typeface="Aptos"/>
                <a:ea typeface="Aptos"/>
                <a:cs typeface="Aptos"/>
                <a:sym typeface="Aptos"/>
              </a:rPr>
              <a:t>TASK OVERVIEW</a:t>
            </a:r>
            <a:endParaRPr lang="en-US" sz="1100"/>
          </a:p>
        </p:txBody>
      </p:sp>
      <p:sp>
        <p:nvSpPr>
          <p:cNvPr id="11" name="AutoShape 11"/>
          <p:cNvSpPr/>
          <p:nvPr/>
        </p:nvSpPr>
        <p:spPr>
          <a:xfrm>
            <a:off x="685800" y="1231900"/>
            <a:ext cx="3022600" cy="1828800"/>
          </a:xfrm>
          <a:prstGeom prst="roundRect">
            <a:avLst>
              <a:gd name="adj" fmla="val 4166"/>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12" name="AutoShape 12"/>
          <p:cNvSpPr/>
          <p:nvPr/>
        </p:nvSpPr>
        <p:spPr>
          <a:xfrm>
            <a:off x="901700" y="1460500"/>
            <a:ext cx="13716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COMPETITION SNAPSHOT</a:t>
            </a:r>
            <a:endParaRPr lang="en-US" sz="1100"/>
          </a:p>
        </p:txBody>
      </p:sp>
      <p:sp>
        <p:nvSpPr>
          <p:cNvPr id="13" name="AutoShape 13"/>
          <p:cNvSpPr/>
          <p:nvPr/>
        </p:nvSpPr>
        <p:spPr>
          <a:xfrm>
            <a:off x="901700" y="1739900"/>
            <a:ext cx="2514600" cy="1143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91666"/>
              </a:lnSpc>
              <a:defRPr/>
            </a:pPr>
            <a:r>
              <a:rPr lang="en-US" sz="1200" b="1" i="0" u="none" strike="noStrike" dirty="0" err="1">
                <a:solidFill>
                  <a:srgbClr val="697386"/>
                </a:solidFill>
                <a:latin typeface="Aptos"/>
                <a:ea typeface="Aptos"/>
                <a:cs typeface="Aptos"/>
                <a:sym typeface="Aptos"/>
              </a:rPr>
              <a:t>Name:</a:t>
            </a:r>
            <a:r>
              <a:rPr lang="en-US" sz="1200" b="0" i="0" u="none" strike="noStrike" dirty="0" err="1">
                <a:solidFill>
                  <a:srgbClr val="3C3C3C"/>
                </a:solidFill>
                <a:latin typeface="Aptos"/>
                <a:ea typeface="Aptos"/>
                <a:cs typeface="Aptos"/>
                <a:sym typeface="Aptos"/>
              </a:rPr>
              <a:t>Facial</a:t>
            </a:r>
            <a:r>
              <a:rPr lang="en-US" sz="1200" b="0" i="0" u="none" strike="noStrike" dirty="0">
                <a:solidFill>
                  <a:srgbClr val="3C3C3C"/>
                </a:solidFill>
                <a:latin typeface="Aptos"/>
                <a:ea typeface="Aptos"/>
                <a:cs typeface="Aptos"/>
                <a:sym typeface="Aptos"/>
              </a:rPr>
              <a:t> </a:t>
            </a:r>
            <a:r>
              <a:rPr lang="en-US" sz="1200" b="0" i="0" u="none" strike="noStrike" dirty="0" err="1">
                <a:solidFill>
                  <a:srgbClr val="3C3C3C"/>
                </a:solidFill>
                <a:latin typeface="Aptos"/>
                <a:ea typeface="Aptos"/>
                <a:cs typeface="Aptos"/>
                <a:sym typeface="Aptos"/>
              </a:rPr>
              <a:t>Keypoints</a:t>
            </a:r>
            <a:r>
              <a:rPr lang="en-US" sz="1200" b="0" i="0" u="none" strike="noStrike" dirty="0">
                <a:solidFill>
                  <a:srgbClr val="3C3C3C"/>
                </a:solidFill>
                <a:latin typeface="Aptos"/>
                <a:ea typeface="Aptos"/>
                <a:cs typeface="Aptos"/>
                <a:sym typeface="Aptos"/>
              </a:rPr>
              <a:t> Regression</a:t>
            </a:r>
            <a:endParaRPr lang="en-US" sz="1100" dirty="0"/>
          </a:p>
          <a:p>
            <a:pPr>
              <a:lnSpc>
                <a:spcPct val="91666"/>
              </a:lnSpc>
            </a:pPr>
            <a:r>
              <a:rPr lang="en-US" sz="1200" b="1" i="0" u="none" strike="noStrike" dirty="0" err="1">
                <a:solidFill>
                  <a:srgbClr val="697386"/>
                </a:solidFill>
                <a:latin typeface="Aptos"/>
                <a:ea typeface="Aptos"/>
                <a:cs typeface="Aptos"/>
                <a:sym typeface="Aptos"/>
              </a:rPr>
              <a:t>Domain:</a:t>
            </a:r>
            <a:r>
              <a:rPr lang="en-US" sz="1200" b="0" i="0" u="none" strike="noStrike" dirty="0" err="1">
                <a:solidFill>
                  <a:srgbClr val="3C3C3C"/>
                </a:solidFill>
                <a:latin typeface="Aptos"/>
                <a:ea typeface="Aptos"/>
                <a:cs typeface="Aptos"/>
                <a:sym typeface="Aptos"/>
              </a:rPr>
              <a:t>Kaggle</a:t>
            </a:r>
            <a:r>
              <a:rPr lang="en-US" sz="1200" b="0" i="0" u="none" strike="noStrike" dirty="0">
                <a:solidFill>
                  <a:srgbClr val="3C3C3C"/>
                </a:solidFill>
                <a:latin typeface="Aptos"/>
                <a:ea typeface="Aptos"/>
                <a:cs typeface="Aptos"/>
                <a:sym typeface="Aptos"/>
              </a:rPr>
              <a:t> </a:t>
            </a:r>
            <a:r>
              <a:rPr lang="en-US" sz="1200" dirty="0">
                <a:solidFill>
                  <a:srgbClr val="3C3C3C"/>
                </a:solidFill>
                <a:latin typeface="Aptos"/>
                <a:sym typeface="Aptos"/>
              </a:rPr>
              <a:t>/ </a:t>
            </a:r>
            <a:r>
              <a:rPr lang="en-US" altLang="zh-CN" sz="1200" dirty="0">
                <a:solidFill>
                  <a:srgbClr val="3C3C3C"/>
                </a:solidFill>
                <a:latin typeface="Aptos"/>
              </a:rPr>
              <a:t>Image regression</a:t>
            </a:r>
          </a:p>
          <a:p>
            <a:pPr>
              <a:lnSpc>
                <a:spcPct val="91666"/>
              </a:lnSpc>
            </a:pPr>
            <a:r>
              <a:rPr lang="en-US" sz="1200" b="1" i="0" u="none" strike="noStrike" dirty="0" err="1">
                <a:solidFill>
                  <a:srgbClr val="697386"/>
                </a:solidFill>
                <a:latin typeface="Aptos"/>
                <a:ea typeface="Aptos"/>
                <a:cs typeface="Aptos"/>
                <a:sym typeface="Aptos"/>
              </a:rPr>
              <a:t>Impact:</a:t>
            </a:r>
            <a:r>
              <a:rPr lang="en-US" sz="1200" b="0" i="0" u="none" strike="noStrike" dirty="0" err="1">
                <a:solidFill>
                  <a:srgbClr val="3C3C3C"/>
                </a:solidFill>
                <a:latin typeface="Aptos"/>
                <a:ea typeface="Aptos"/>
                <a:cs typeface="Aptos"/>
                <a:sym typeface="Aptos"/>
              </a:rPr>
              <a:t>Fundamental</a:t>
            </a:r>
            <a:r>
              <a:rPr lang="en-US" sz="1200" b="0" i="0" u="none" strike="noStrike" dirty="0">
                <a:solidFill>
                  <a:srgbClr val="3C3C3C"/>
                </a:solidFill>
                <a:latin typeface="Aptos"/>
                <a:ea typeface="Aptos"/>
                <a:cs typeface="Aptos"/>
                <a:sym typeface="Aptos"/>
              </a:rPr>
              <a:t> for face recognition, emotion detection &amp; AR.</a:t>
            </a:r>
          </a:p>
        </p:txBody>
      </p:sp>
      <p:sp>
        <p:nvSpPr>
          <p:cNvPr id="14" name="AutoShape 14"/>
          <p:cNvSpPr/>
          <p:nvPr/>
        </p:nvSpPr>
        <p:spPr>
          <a:xfrm>
            <a:off x="685800" y="3276600"/>
            <a:ext cx="3022600" cy="2425700"/>
          </a:xfrm>
          <a:prstGeom prst="roundRect">
            <a:avLst>
              <a:gd name="adj" fmla="val 3141"/>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15" name="AutoShape 15"/>
          <p:cNvSpPr/>
          <p:nvPr/>
        </p:nvSpPr>
        <p:spPr>
          <a:xfrm>
            <a:off x="901700" y="3505200"/>
            <a:ext cx="12827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PREDICTION SETUP</a:t>
            </a:r>
            <a:endParaRPr lang="en-US" sz="1100"/>
          </a:p>
        </p:txBody>
      </p:sp>
      <p:sp>
        <p:nvSpPr>
          <p:cNvPr id="16" name="AutoShape 16"/>
          <p:cNvSpPr/>
          <p:nvPr/>
        </p:nvSpPr>
        <p:spPr>
          <a:xfrm>
            <a:off x="901700" y="3771900"/>
            <a:ext cx="2489200" cy="1524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8333"/>
              </a:lnSpc>
              <a:defRPr/>
            </a:pPr>
            <a:r>
              <a:rPr lang="en-US" sz="1100" b="1" i="0" u="none" strike="noStrike">
                <a:solidFill>
                  <a:srgbClr val="697386"/>
                </a:solidFill>
                <a:latin typeface="Aptos"/>
                <a:ea typeface="Aptos"/>
                <a:cs typeface="Aptos"/>
                <a:sym typeface="Aptos"/>
              </a:rPr>
              <a:t>• Type:</a:t>
            </a:r>
            <a:r>
              <a:rPr lang="en-US" sz="1100" b="0" i="0" u="none" strike="noStrike">
                <a:solidFill>
                  <a:srgbClr val="3C3C3C"/>
                </a:solidFill>
                <a:latin typeface="Aptos"/>
                <a:ea typeface="Aptos"/>
                <a:cs typeface="Aptos"/>
                <a:sym typeface="Aptos"/>
              </a:rPr>
              <a:t>Regression (predict continuous coordinates)</a:t>
            </a:r>
            <a:endParaRPr lang="en-US" sz="1100"/>
          </a:p>
          <a:p>
            <a:pPr indent="0" algn="l">
              <a:lnSpc>
                <a:spcPct val="108333"/>
              </a:lnSpc>
            </a:pPr>
            <a:r>
              <a:rPr lang="en-US" sz="1100" b="1" i="0" u="none" strike="noStrike">
                <a:solidFill>
                  <a:srgbClr val="697386"/>
                </a:solidFill>
                <a:latin typeface="Aptos"/>
                <a:ea typeface="Aptos"/>
                <a:cs typeface="Aptos"/>
                <a:sym typeface="Aptos"/>
              </a:rPr>
              <a:t>• Input:</a:t>
            </a:r>
            <a:r>
              <a:rPr lang="en-US" sz="1100" b="0" i="0" u="none" strike="noStrike">
                <a:solidFill>
                  <a:srgbClr val="3C3C3C"/>
                </a:solidFill>
                <a:latin typeface="Aptos"/>
                <a:ea typeface="Aptos"/>
                <a:cs typeface="Aptos"/>
                <a:sym typeface="Aptos"/>
              </a:rPr>
              <a:t>2D Grayscale Facial Images</a:t>
            </a:r>
          </a:p>
          <a:p>
            <a:pPr indent="0" algn="l">
              <a:lnSpc>
                <a:spcPct val="108333"/>
              </a:lnSpc>
            </a:pPr>
            <a:r>
              <a:rPr lang="en-US" sz="1100" b="1" i="0" u="none" strike="noStrike">
                <a:solidFill>
                  <a:srgbClr val="697386"/>
                </a:solidFill>
                <a:latin typeface="Aptos"/>
                <a:ea typeface="Aptos"/>
                <a:cs typeface="Aptos"/>
                <a:sym typeface="Aptos"/>
              </a:rPr>
              <a:t>• Output:</a:t>
            </a:r>
            <a:r>
              <a:rPr lang="en-US" sz="1100" b="0" i="0" u="none" strike="noStrike">
                <a:solidFill>
                  <a:srgbClr val="3C3C3C"/>
                </a:solidFill>
                <a:latin typeface="Aptos"/>
                <a:ea typeface="Aptos"/>
                <a:cs typeface="Aptos"/>
                <a:sym typeface="Aptos"/>
              </a:rPr>
              <a:t>The (x, y) coordinates of 15 distinct facial keypoints.</a:t>
            </a:r>
          </a:p>
        </p:txBody>
      </p:sp>
      <p:sp>
        <p:nvSpPr>
          <p:cNvPr id="17" name="AutoShape 17"/>
          <p:cNvSpPr/>
          <p:nvPr/>
        </p:nvSpPr>
        <p:spPr>
          <a:xfrm>
            <a:off x="3975100" y="1231900"/>
            <a:ext cx="3975100" cy="4483100"/>
          </a:xfrm>
          <a:prstGeom prst="roundRect">
            <a:avLst>
              <a:gd name="adj" fmla="val 1916"/>
            </a:avLst>
          </a:prstGeom>
          <a:solidFill>
            <a:srgbClr val="FFFFFF">
              <a:alpha val="78000"/>
            </a:srgbClr>
          </a:solidFill>
          <a:ln w="12700" cap="flat" cmpd="sng">
            <a:solidFill>
              <a:srgbClr val="B8BDC7">
                <a:alpha val="100000"/>
              </a:srgbClr>
            </a:solidFill>
            <a:prstDash val="dash"/>
            <a:miter lim="10000000"/>
          </a:ln>
        </p:spPr>
        <p:txBody>
          <a:bodyPr vert="horz" wrap="square" lIns="63500" tIns="63500" rIns="63500" bIns="63500" rtlCol="0" anchor="ctr"/>
          <a:lstStyle/>
          <a:p>
            <a:pPr algn="ctr">
              <a:defRPr/>
            </a:pPr>
            <a:endParaRPr/>
          </a:p>
        </p:txBody>
      </p:sp>
      <p:sp>
        <p:nvSpPr>
          <p:cNvPr id="18" name="AutoShape 18"/>
          <p:cNvSpPr/>
          <p:nvPr/>
        </p:nvSpPr>
        <p:spPr>
          <a:xfrm>
            <a:off x="4140200" y="1397000"/>
            <a:ext cx="3644900" cy="203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16253F"/>
                </a:solidFill>
                <a:latin typeface="Aptos"/>
                <a:ea typeface="Aptos"/>
                <a:cs typeface="Aptos"/>
                <a:sym typeface="Aptos"/>
              </a:rPr>
              <a:t>Task Visualization Concept</a:t>
            </a:r>
            <a:endParaRPr lang="en-US" sz="1100"/>
          </a:p>
        </p:txBody>
      </p:sp>
      <p:sp>
        <p:nvSpPr>
          <p:cNvPr id="19" name="AutoShape 19"/>
          <p:cNvSpPr/>
          <p:nvPr/>
        </p:nvSpPr>
        <p:spPr>
          <a:xfrm>
            <a:off x="4140200" y="1778000"/>
            <a:ext cx="3644900" cy="3556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endParaRPr lang="en-US" sz="1200" b="0" i="0" u="none" strike="noStrike" dirty="0">
              <a:solidFill>
                <a:srgbClr val="505050"/>
              </a:solidFill>
              <a:latin typeface="Aptos"/>
              <a:ea typeface="Aptos"/>
              <a:cs typeface="Aptos"/>
              <a:sym typeface="Aptos"/>
            </a:endParaRPr>
          </a:p>
        </p:txBody>
      </p:sp>
      <p:sp>
        <p:nvSpPr>
          <p:cNvPr id="20" name="AutoShape 20"/>
          <p:cNvSpPr/>
          <p:nvPr/>
        </p:nvSpPr>
        <p:spPr>
          <a:xfrm>
            <a:off x="8229600" y="1231900"/>
            <a:ext cx="3251200" cy="2006600"/>
          </a:xfrm>
          <a:prstGeom prst="roundRect">
            <a:avLst>
              <a:gd name="adj" fmla="val 3797"/>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21" name="AutoShape 21"/>
          <p:cNvSpPr/>
          <p:nvPr/>
        </p:nvSpPr>
        <p:spPr>
          <a:xfrm>
            <a:off x="8445500" y="1460500"/>
            <a:ext cx="10033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OFFICIAL METRIC</a:t>
            </a:r>
            <a:endParaRPr lang="en-US" sz="1100"/>
          </a:p>
        </p:txBody>
      </p:sp>
      <p:sp>
        <p:nvSpPr>
          <p:cNvPr id="22" name="AutoShape 22"/>
          <p:cNvSpPr/>
          <p:nvPr/>
        </p:nvSpPr>
        <p:spPr>
          <a:xfrm>
            <a:off x="8445500" y="1778000"/>
            <a:ext cx="2794000" cy="1270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a:solidFill>
                  <a:srgbClr val="697386"/>
                </a:solidFill>
                <a:latin typeface="Aptos"/>
                <a:ea typeface="Aptos"/>
                <a:cs typeface="Aptos"/>
                <a:sym typeface="Aptos"/>
              </a:rPr>
              <a:t>Name:</a:t>
            </a:r>
            <a:r>
              <a:rPr lang="en-US" sz="1100" b="0" i="0" u="none" strike="noStrike">
                <a:solidFill>
                  <a:srgbClr val="3C3C3C"/>
                </a:solidFill>
                <a:latin typeface="Aptos"/>
                <a:ea typeface="Aptos"/>
                <a:cs typeface="Aptos"/>
                <a:sym typeface="Aptos"/>
              </a:rPr>
              <a:t>Mean Squared Error (MSE)</a:t>
            </a:r>
            <a:endParaRPr lang="en-US" sz="1100"/>
          </a:p>
          <a:p>
            <a:pPr indent="0" algn="l">
              <a:lnSpc>
                <a:spcPct val="100000"/>
              </a:lnSpc>
            </a:pPr>
            <a:r>
              <a:rPr lang="en-US" sz="1100" b="1" i="0" u="none" strike="noStrike">
                <a:solidFill>
                  <a:srgbClr val="697386"/>
                </a:solidFill>
                <a:latin typeface="Aptos"/>
                <a:ea typeface="Aptos"/>
                <a:cs typeface="Aptos"/>
                <a:sym typeface="Aptos"/>
              </a:rPr>
              <a:t>Interpretation:</a:t>
            </a:r>
            <a:r>
              <a:rPr lang="en-US" sz="1100" b="0" i="0" u="none" strike="noStrike">
                <a:solidFill>
                  <a:srgbClr val="3C3C3C"/>
                </a:solidFill>
                <a:latin typeface="Aptos"/>
                <a:ea typeface="Aptos"/>
                <a:cs typeface="Aptos"/>
                <a:sym typeface="Aptos"/>
              </a:rPr>
              <a:t>Lower = Better (more accurate predictions).</a:t>
            </a:r>
          </a:p>
          <a:p>
            <a:pPr indent="0" algn="l">
              <a:lnSpc>
                <a:spcPct val="100000"/>
              </a:lnSpc>
            </a:pPr>
            <a:r>
              <a:rPr lang="en-US" sz="1100" b="1" i="0" u="none" strike="noStrike">
                <a:solidFill>
                  <a:srgbClr val="697386"/>
                </a:solidFill>
                <a:latin typeface="Aptos"/>
                <a:ea typeface="Aptos"/>
                <a:cs typeface="Aptos"/>
                <a:sym typeface="Aptos"/>
              </a:rPr>
              <a:t>Fit:</a:t>
            </a:r>
            <a:r>
              <a:rPr lang="en-US" sz="1100" b="0" i="0" u="none" strike="noStrike">
                <a:solidFill>
                  <a:srgbClr val="3C3C3C"/>
                </a:solidFill>
                <a:latin typeface="Aptos"/>
                <a:ea typeface="Aptos"/>
                <a:cs typeface="Aptos"/>
                <a:sym typeface="Aptos"/>
              </a:rPr>
              <a:t>Standard for regression; measures average squared difference between predicted/true values.</a:t>
            </a:r>
          </a:p>
        </p:txBody>
      </p:sp>
      <p:sp>
        <p:nvSpPr>
          <p:cNvPr id="23" name="AutoShape 23"/>
          <p:cNvSpPr/>
          <p:nvPr/>
        </p:nvSpPr>
        <p:spPr>
          <a:xfrm>
            <a:off x="8229600" y="3492500"/>
            <a:ext cx="3251200" cy="2222500"/>
          </a:xfrm>
          <a:prstGeom prst="roundRect">
            <a:avLst>
              <a:gd name="adj" fmla="val 3428"/>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24"/>
          <p:cNvSpPr/>
          <p:nvPr/>
        </p:nvSpPr>
        <p:spPr>
          <a:xfrm>
            <a:off x="8445500" y="3733800"/>
            <a:ext cx="7366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YOUR GOAL</a:t>
            </a:r>
            <a:endParaRPr lang="en-US" sz="1100"/>
          </a:p>
        </p:txBody>
      </p:sp>
      <p:sp>
        <p:nvSpPr>
          <p:cNvPr id="25" name="AutoShape 25"/>
          <p:cNvSpPr/>
          <p:nvPr/>
        </p:nvSpPr>
        <p:spPr>
          <a:xfrm>
            <a:off x="8445500" y="4064000"/>
            <a:ext cx="2794000" cy="1397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3C3C3C"/>
                </a:solidFill>
                <a:latin typeface="Aptos"/>
                <a:ea typeface="Aptos"/>
                <a:cs typeface="Aptos"/>
                <a:sym typeface="Aptos"/>
              </a:rPr>
              <a:t>Build a robust machine learning model to accurately predict the (x,y) coordinates of 15 facial keypoints for unseen grayscale face images, with the aim of minimizing the Mean Squared Error (MSE) on the test set.</a:t>
            </a:r>
            <a:endParaRPr lang="en-US" sz="1100"/>
          </a:p>
        </p:txBody>
      </p:sp>
      <p:sp>
        <p:nvSpPr>
          <p:cNvPr id="26" name="AutoShape 26"/>
          <p:cNvSpPr/>
          <p:nvPr/>
        </p:nvSpPr>
        <p:spPr>
          <a:xfrm>
            <a:off x="11379200" y="6464300"/>
            <a:ext cx="4064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r">
              <a:lnSpc>
                <a:spcPct val="100000"/>
              </a:lnSpc>
              <a:defRPr/>
            </a:pPr>
            <a:r>
              <a:rPr lang="en-US" sz="900" b="0" i="0" u="none" strike="noStrike">
                <a:solidFill>
                  <a:srgbClr val="697386"/>
                </a:solidFill>
                <a:latin typeface="Aptos"/>
                <a:ea typeface="Aptos"/>
                <a:cs typeface="Aptos"/>
                <a:sym typeface="Aptos"/>
              </a:rPr>
              <a:t>01</a:t>
            </a:r>
            <a:endParaRPr lang="en-US" sz="1100"/>
          </a:p>
        </p:txBody>
      </p:sp>
      <p:pic>
        <p:nvPicPr>
          <p:cNvPr id="28" name="图片 27">
            <a:extLst>
              <a:ext uri="{FF2B5EF4-FFF2-40B4-BE49-F238E27FC236}">
                <a16:creationId xmlns:a16="http://schemas.microsoft.com/office/drawing/2014/main" id="{1425EEAA-E3AC-927E-471F-98CD9F60DA21}"/>
              </a:ext>
            </a:extLst>
          </p:cNvPr>
          <p:cNvPicPr>
            <a:picLocks noChangeAspect="1"/>
          </p:cNvPicPr>
          <p:nvPr/>
        </p:nvPicPr>
        <p:blipFill>
          <a:blip r:embed="rId3"/>
          <a:stretch>
            <a:fillRect/>
          </a:stretch>
        </p:blipFill>
        <p:spPr>
          <a:xfrm>
            <a:off x="4447904" y="1583009"/>
            <a:ext cx="3070496" cy="39817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65100" cy="68580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11544300" y="0"/>
            <a:ext cx="647700" cy="10033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1125200" y="0"/>
            <a:ext cx="406400" cy="419100"/>
          </a:xfrm>
          <a:prstGeom prst="roundRect">
            <a:avLst>
              <a:gd name="adj" fmla="val 0"/>
            </a:avLst>
          </a:prstGeom>
          <a:solidFill>
            <a:srgbClr val="16253F">
              <a:alpha val="100000"/>
            </a:srgbClr>
          </a:solidFill>
          <a:ln w="12700" cap="flat" cmpd="sng">
            <a:solidFill>
              <a:srgbClr val="16253F">
                <a:alpha val="0"/>
              </a:srgbClr>
            </a:solidFill>
            <a:prstDash val="solid"/>
            <a:miter lim="10000000"/>
          </a:ln>
        </p:spPr>
        <p:txBody>
          <a:bodyPr vert="horz" wrap="square" lIns="63500" tIns="63500" rIns="63500" bIns="63500" rtlCol="0" anchor="ctr"/>
          <a:lstStyle/>
          <a:p>
            <a:pPr algn="ctr">
              <a:defRPr/>
            </a:pPr>
            <a:endParaRPr/>
          </a:p>
        </p:txBody>
      </p:sp>
      <p:sp>
        <p:nvSpPr>
          <p:cNvPr id="5" name="AutoShape 5"/>
          <p:cNvSpPr/>
          <p:nvPr/>
        </p:nvSpPr>
        <p:spPr>
          <a:xfrm>
            <a:off x="508000" y="292100"/>
            <a:ext cx="2921000" cy="203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SDSC8007 • MINI PROJECT</a:t>
            </a:r>
            <a:endParaRPr lang="en-US" sz="1100"/>
          </a:p>
        </p:txBody>
      </p:sp>
      <p:sp>
        <p:nvSpPr>
          <p:cNvPr id="6" name="AutoShape 6"/>
          <p:cNvSpPr/>
          <p:nvPr/>
        </p:nvSpPr>
        <p:spPr>
          <a:xfrm>
            <a:off x="508000" y="508000"/>
            <a:ext cx="8089900" cy="4699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600" b="1" i="0" u="none" strike="noStrike">
                <a:solidFill>
                  <a:srgbClr val="16253F"/>
                </a:solidFill>
                <a:latin typeface="Play"/>
                <a:ea typeface="Play"/>
                <a:cs typeface="Play"/>
                <a:sym typeface="Play"/>
              </a:rPr>
              <a:t>2. Data Analysis &amp; Challenges</a:t>
            </a:r>
            <a:endParaRPr lang="en-US" sz="1100"/>
          </a:p>
        </p:txBody>
      </p:sp>
      <p:cxnSp>
        <p:nvCxnSpPr>
          <p:cNvPr id="7" name="Connector 7"/>
          <p:cNvCxnSpPr/>
          <p:nvPr/>
        </p:nvCxnSpPr>
        <p:spPr>
          <a:xfrm>
            <a:off x="508000" y="6438900"/>
            <a:ext cx="11150607"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none" w="med" len="med"/>
          </a:ln>
        </p:spPr>
      </p:cxnSp>
      <p:sp>
        <p:nvSpPr>
          <p:cNvPr id="8" name="AutoShape 8"/>
          <p:cNvSpPr/>
          <p:nvPr/>
        </p:nvSpPr>
        <p:spPr>
          <a:xfrm>
            <a:off x="533400" y="6477000"/>
            <a:ext cx="64897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900" b="0" i="0" u="none" strike="noStrike">
                <a:solidFill>
                  <a:srgbClr val="697386"/>
                </a:solidFill>
                <a:latin typeface="Aptos"/>
                <a:ea typeface="Aptos"/>
                <a:cs typeface="Aptos"/>
                <a:sym typeface="Aptos"/>
              </a:rPr>
              <a:t>Data Analysis • Key Findings &amp; Obstacles</a:t>
            </a:r>
            <a:endParaRPr lang="en-US" sz="1100"/>
          </a:p>
        </p:txBody>
      </p:sp>
      <p:sp>
        <p:nvSpPr>
          <p:cNvPr id="9" name="AutoShape 9"/>
          <p:cNvSpPr/>
          <p:nvPr/>
        </p:nvSpPr>
        <p:spPr>
          <a:xfrm>
            <a:off x="9372600" y="292100"/>
            <a:ext cx="1651000" cy="254000"/>
          </a:xfrm>
          <a:prstGeom prst="roundRect">
            <a:avLst>
              <a:gd name="adj" fmla="val 20000"/>
            </a:avLst>
          </a:prstGeom>
          <a:solidFill>
            <a:srgbClr val="FFFCF7">
              <a:alpha val="100000"/>
            </a:srgbClr>
          </a:solidFill>
          <a:ln w="12700" cap="flat" cmpd="sng">
            <a:solidFill>
              <a:srgbClr val="EDE2D3">
                <a:alpha val="100000"/>
              </a:srgbClr>
            </a:solidFill>
            <a:prstDash val="solid"/>
            <a:miter lim="10000000"/>
          </a:ln>
        </p:spPr>
        <p:txBody>
          <a:bodyPr vert="horz" wrap="square" lIns="63500" tIns="63500" rIns="63500" bIns="63500" rtlCol="0" anchor="ctr"/>
          <a:lstStyle/>
          <a:p>
            <a:pPr algn="ctr">
              <a:defRPr/>
            </a:pPr>
            <a:endParaRPr/>
          </a:p>
        </p:txBody>
      </p:sp>
      <p:sp>
        <p:nvSpPr>
          <p:cNvPr id="10" name="AutoShape 10"/>
          <p:cNvSpPr/>
          <p:nvPr/>
        </p:nvSpPr>
        <p:spPr>
          <a:xfrm>
            <a:off x="9448800" y="330200"/>
            <a:ext cx="1498600" cy="127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800" b="1" i="0" u="none" strike="noStrike">
                <a:solidFill>
                  <a:srgbClr val="697386"/>
                </a:solidFill>
                <a:latin typeface="Aptos"/>
                <a:ea typeface="Aptos"/>
                <a:cs typeface="Aptos"/>
                <a:sym typeface="Aptos"/>
              </a:rPr>
              <a:t>KEY INSIGHTS</a:t>
            </a:r>
            <a:endParaRPr lang="en-US" sz="1100"/>
          </a:p>
        </p:txBody>
      </p:sp>
      <p:sp>
        <p:nvSpPr>
          <p:cNvPr id="11" name="AutoShape 11"/>
          <p:cNvSpPr/>
          <p:nvPr/>
        </p:nvSpPr>
        <p:spPr>
          <a:xfrm>
            <a:off x="698500" y="1257300"/>
            <a:ext cx="4889500" cy="3606800"/>
          </a:xfrm>
          <a:prstGeom prst="roundRect">
            <a:avLst>
              <a:gd name="adj" fmla="val 2112"/>
            </a:avLst>
          </a:prstGeom>
          <a:solidFill>
            <a:srgbClr val="FFFFFF">
              <a:alpha val="90000"/>
            </a:srgbClr>
          </a:solidFill>
          <a:ln w="12700" cap="flat" cmpd="sng">
            <a:solidFill>
              <a:srgbClr val="B8BDC7">
                <a:alpha val="100000"/>
              </a:srgbClr>
            </a:solidFill>
            <a:prstDash val="solid"/>
            <a:miter lim="10000000"/>
          </a:ln>
        </p:spPr>
        <p:txBody>
          <a:bodyPr vert="horz" wrap="square" lIns="63500" tIns="63500" rIns="63500" bIns="63500" rtlCol="0" anchor="ctr"/>
          <a:lstStyle/>
          <a:p>
            <a:pPr algn="ctr">
              <a:defRPr/>
            </a:pPr>
            <a:endParaRPr/>
          </a:p>
        </p:txBody>
      </p:sp>
      <p:sp>
        <p:nvSpPr>
          <p:cNvPr id="12" name="AutoShape 12"/>
          <p:cNvSpPr/>
          <p:nvPr/>
        </p:nvSpPr>
        <p:spPr>
          <a:xfrm>
            <a:off x="863600" y="1422400"/>
            <a:ext cx="45593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6253F"/>
                </a:solidFill>
                <a:latin typeface="Aptos"/>
                <a:ea typeface="Aptos"/>
                <a:cs typeface="Aptos"/>
                <a:sym typeface="Aptos"/>
              </a:rPr>
              <a:t>DATASET SNAPSHOT</a:t>
            </a:r>
            <a:endParaRPr lang="en-US" sz="1100"/>
          </a:p>
        </p:txBody>
      </p:sp>
      <p:sp>
        <p:nvSpPr>
          <p:cNvPr id="13" name="AutoShape 13"/>
          <p:cNvSpPr/>
          <p:nvPr/>
        </p:nvSpPr>
        <p:spPr>
          <a:xfrm>
            <a:off x="863600" y="1968500"/>
            <a:ext cx="4559300" cy="2794000"/>
          </a:xfrm>
          <a:prstGeom prst="roundRect">
            <a:avLst>
              <a:gd name="adj" fmla="val 0"/>
            </a:avLst>
          </a:prstGeom>
          <a:noFill/>
          <a:ln w="25400" cap="flat" cmpd="sng">
            <a:noFill/>
            <a:prstDash val="solid"/>
            <a:round/>
          </a:ln>
        </p:spPr>
        <p:txBody>
          <a:bodyPr vert="horz" wrap="square" lIns="63500" tIns="63500" rIns="63500" bIns="63500" rtlCol="0" anchor="t" anchorCtr="0"/>
          <a:lstStyle/>
          <a:p>
            <a:pPr indent="0" algn="l">
              <a:lnSpc>
                <a:spcPct val="116666"/>
              </a:lnSpc>
              <a:defRPr/>
            </a:pPr>
            <a:r>
              <a:rPr lang="en-US" sz="1300" b="1" i="0" u="none" strike="noStrike">
                <a:solidFill>
                  <a:srgbClr val="B4343A"/>
                </a:solidFill>
                <a:latin typeface="Noto Sans SC"/>
                <a:ea typeface="Noto Sans SC"/>
                <a:cs typeface="Noto Sans SC"/>
                <a:sym typeface="Noto Sans SC"/>
              </a:rPr>
              <a:t>• Scale:</a:t>
            </a:r>
            <a:r>
              <a:rPr lang="en-US" sz="1300" b="0" i="0" u="none" strike="noStrike">
                <a:solidFill>
                  <a:srgbClr val="3C3C3C"/>
                </a:solidFill>
                <a:latin typeface="Noto Sans SC"/>
                <a:ea typeface="Noto Sans SC"/>
                <a:cs typeface="Noto Sans SC"/>
                <a:sym typeface="Noto Sans SC"/>
              </a:rPr>
              <a:t>~7,000 labeled images for training, unlabeled test set.</a:t>
            </a:r>
            <a:endParaRPr lang="en-US" sz="1100"/>
          </a:p>
          <a:p>
            <a:pPr indent="0" algn="l">
              <a:lnSpc>
                <a:spcPct val="116666"/>
              </a:lnSpc>
            </a:pPr>
            <a:r>
              <a:rPr lang="en-US" sz="1300" b="1" i="0" u="none" strike="noStrike">
                <a:solidFill>
                  <a:srgbClr val="B4343A"/>
                </a:solidFill>
                <a:latin typeface="Noto Sans SC"/>
                <a:ea typeface="Noto Sans SC"/>
                <a:cs typeface="Noto Sans SC"/>
                <a:sym typeface="Noto Sans SC"/>
              </a:rPr>
              <a:t>• Resolution:</a:t>
            </a:r>
            <a:r>
              <a:rPr lang="en-US" sz="1300" b="0" i="0" u="none" strike="noStrike">
                <a:solidFill>
                  <a:srgbClr val="3C3C3C"/>
                </a:solidFill>
                <a:latin typeface="Noto Sans SC"/>
                <a:ea typeface="Noto Sans SC"/>
                <a:cs typeface="Noto Sans SC"/>
                <a:sym typeface="Noto Sans SC"/>
              </a:rPr>
              <a:t>96x96 pixels (grayscale), resulting in 9216-dimensional feature vectors.</a:t>
            </a:r>
          </a:p>
          <a:p>
            <a:pPr indent="0" algn="l">
              <a:lnSpc>
                <a:spcPct val="116666"/>
              </a:lnSpc>
            </a:pPr>
            <a:r>
              <a:rPr lang="en-US" sz="1300" b="1" i="0" u="none" strike="noStrike">
                <a:solidFill>
                  <a:srgbClr val="B4343A"/>
                </a:solidFill>
                <a:latin typeface="Noto Sans SC"/>
                <a:ea typeface="Noto Sans SC"/>
                <a:cs typeface="Noto Sans SC"/>
                <a:sym typeface="Noto Sans SC"/>
              </a:rPr>
              <a:t>• Key Task:</a:t>
            </a:r>
            <a:r>
              <a:rPr lang="en-US" sz="1300" b="0" i="0" u="none" strike="noStrike">
                <a:solidFill>
                  <a:srgbClr val="3C3C3C"/>
                </a:solidFill>
                <a:latin typeface="Noto Sans SC"/>
                <a:ea typeface="Noto Sans SC"/>
                <a:cs typeface="Noto Sans SC"/>
                <a:sym typeface="Noto Sans SC"/>
              </a:rPr>
              <a:t>Localize facial keypoints (e.g., eyes, nose, mouth) from the 2D images.</a:t>
            </a:r>
          </a:p>
          <a:p>
            <a:pPr indent="0" algn="l">
              <a:lnSpc>
                <a:spcPct val="116666"/>
              </a:lnSpc>
            </a:pPr>
            <a:r>
              <a:rPr lang="en-US" sz="1300" b="1" i="0" u="none" strike="noStrike">
                <a:solidFill>
                  <a:srgbClr val="B4343A"/>
                </a:solidFill>
                <a:latin typeface="Noto Sans SC"/>
                <a:ea typeface="Noto Sans SC"/>
                <a:cs typeface="Noto Sans SC"/>
                <a:sym typeface="Noto Sans SC"/>
              </a:rPr>
              <a:t>• Input Space:</a:t>
            </a:r>
            <a:r>
              <a:rPr lang="en-US" sz="1300" b="0" i="0" u="none" strike="noStrike">
                <a:solidFill>
                  <a:srgbClr val="3C3C3C"/>
                </a:solidFill>
                <a:latin typeface="Noto Sans SC"/>
                <a:ea typeface="Noto Sans SC"/>
                <a:cs typeface="Noto Sans SC"/>
                <a:sym typeface="Noto Sans SC"/>
              </a:rPr>
              <a:t>High dimensionality poses a risk of overfitting simple models.</a:t>
            </a:r>
          </a:p>
        </p:txBody>
      </p:sp>
      <p:sp>
        <p:nvSpPr>
          <p:cNvPr id="14" name="AutoShape 14"/>
          <p:cNvSpPr/>
          <p:nvPr/>
        </p:nvSpPr>
        <p:spPr>
          <a:xfrm>
            <a:off x="5829300" y="1257300"/>
            <a:ext cx="2463800" cy="1600200"/>
          </a:xfrm>
          <a:prstGeom prst="roundRect">
            <a:avLst>
              <a:gd name="adj" fmla="val 4761"/>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15" name="AutoShape 15"/>
          <p:cNvSpPr/>
          <p:nvPr/>
        </p:nvSpPr>
        <p:spPr>
          <a:xfrm>
            <a:off x="5981700" y="1397000"/>
            <a:ext cx="2159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B4343A"/>
                </a:solidFill>
                <a:latin typeface="Aptos"/>
                <a:ea typeface="Aptos"/>
                <a:cs typeface="Aptos"/>
                <a:sym typeface="Aptos"/>
              </a:rPr>
              <a:t>PREPROCESSING</a:t>
            </a:r>
            <a:endParaRPr lang="en-US" sz="1100"/>
          </a:p>
        </p:txBody>
      </p:sp>
      <p:sp>
        <p:nvSpPr>
          <p:cNvPr id="16" name="AutoShape 16"/>
          <p:cNvSpPr/>
          <p:nvPr/>
        </p:nvSpPr>
        <p:spPr>
          <a:xfrm>
            <a:off x="5981700" y="1778000"/>
            <a:ext cx="2159000" cy="1016000"/>
          </a:xfrm>
          <a:prstGeom prst="roundRect">
            <a:avLst>
              <a:gd name="adj" fmla="val 0"/>
            </a:avLst>
          </a:prstGeom>
          <a:noFill/>
          <a:ln w="25400" cap="flat" cmpd="sng">
            <a:noFill/>
            <a:prstDash val="solid"/>
            <a:round/>
          </a:ln>
        </p:spPr>
        <p:txBody>
          <a:bodyPr vert="horz" wrap="square" lIns="25400" tIns="25400" rIns="25400" bIns="25400" rtlCol="0" anchor="t" anchorCtr="0"/>
          <a:lstStyle/>
          <a:p>
            <a:pPr indent="0" algn="l">
              <a:lnSpc>
                <a:spcPct val="108333"/>
              </a:lnSpc>
              <a:defRPr/>
            </a:pPr>
            <a:r>
              <a:rPr lang="en-US" sz="1100" b="0" i="0" u="none" strike="noStrike">
                <a:solidFill>
                  <a:srgbClr val="3C3C3C"/>
                </a:solidFill>
                <a:latin typeface="Noto Sans SC"/>
                <a:ea typeface="Noto Sans SC"/>
                <a:cs typeface="Noto Sans SC"/>
                <a:sym typeface="Noto Sans SC"/>
              </a:rPr>
              <a:t>1. Normalize pixel values to [0, 1] to stabilize training.</a:t>
            </a:r>
            <a:endParaRPr lang="en-US" sz="1100"/>
          </a:p>
          <a:p>
            <a:pPr indent="0" algn="l">
              <a:lnSpc>
                <a:spcPct val="108333"/>
              </a:lnSpc>
            </a:pPr>
            <a:r>
              <a:rPr lang="en-US" sz="1100" b="0" i="0" u="none" strike="noStrike">
                <a:solidFill>
                  <a:srgbClr val="3C3C3C"/>
                </a:solidFill>
                <a:latin typeface="Noto Sans SC"/>
                <a:ea typeface="Noto Sans SC"/>
                <a:cs typeface="Noto Sans SC"/>
                <a:sym typeface="Noto Sans SC"/>
              </a:rPr>
              <a:t>2. Center the images to focus on facial features.</a:t>
            </a:r>
          </a:p>
        </p:txBody>
      </p:sp>
      <p:sp>
        <p:nvSpPr>
          <p:cNvPr id="17" name="AutoShape 17"/>
          <p:cNvSpPr/>
          <p:nvPr/>
        </p:nvSpPr>
        <p:spPr>
          <a:xfrm>
            <a:off x="8521700" y="1257300"/>
            <a:ext cx="2768600" cy="1600200"/>
          </a:xfrm>
          <a:prstGeom prst="roundRect">
            <a:avLst>
              <a:gd name="adj" fmla="val 4761"/>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18" name="AutoShape 18"/>
          <p:cNvSpPr/>
          <p:nvPr/>
        </p:nvSpPr>
        <p:spPr>
          <a:xfrm>
            <a:off x="8674100" y="1397000"/>
            <a:ext cx="2413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B4343A"/>
                </a:solidFill>
                <a:latin typeface="Aptos"/>
                <a:ea typeface="Aptos"/>
                <a:cs typeface="Aptos"/>
                <a:sym typeface="Aptos"/>
              </a:rPr>
              <a:t>MAIN CHALLENGES</a:t>
            </a:r>
            <a:endParaRPr lang="en-US" sz="1100"/>
          </a:p>
        </p:txBody>
      </p:sp>
      <p:sp>
        <p:nvSpPr>
          <p:cNvPr id="19" name="AutoShape 19"/>
          <p:cNvSpPr/>
          <p:nvPr/>
        </p:nvSpPr>
        <p:spPr>
          <a:xfrm>
            <a:off x="8674100" y="1778000"/>
            <a:ext cx="2413000" cy="1016000"/>
          </a:xfrm>
          <a:prstGeom prst="roundRect">
            <a:avLst>
              <a:gd name="adj" fmla="val 0"/>
            </a:avLst>
          </a:prstGeom>
          <a:noFill/>
          <a:ln w="25400" cap="flat" cmpd="sng">
            <a:noFill/>
            <a:prstDash val="solid"/>
            <a:round/>
          </a:ln>
        </p:spPr>
        <p:txBody>
          <a:bodyPr vert="horz" wrap="square" lIns="25400" tIns="25400" rIns="25400" bIns="25400" rtlCol="0" anchor="t" anchorCtr="0"/>
          <a:lstStyle/>
          <a:p>
            <a:pPr indent="0" algn="l">
              <a:lnSpc>
                <a:spcPct val="108333"/>
              </a:lnSpc>
              <a:defRPr/>
            </a:pPr>
            <a:r>
              <a:rPr lang="en-US" sz="1100" b="0" i="0" u="none" strike="noStrike">
                <a:solidFill>
                  <a:srgbClr val="3C3C3C"/>
                </a:solidFill>
                <a:latin typeface="Noto Sans SC"/>
                <a:ea typeface="Noto Sans SC"/>
                <a:cs typeface="Noto Sans SC"/>
                <a:sym typeface="Noto Sans SC"/>
              </a:rPr>
              <a:t>• Missing/Incomplete keypoint labels in some samples.</a:t>
            </a:r>
            <a:endParaRPr lang="en-US" sz="1100"/>
          </a:p>
          <a:p>
            <a:pPr indent="0" algn="l">
              <a:lnSpc>
                <a:spcPct val="108333"/>
              </a:lnSpc>
            </a:pPr>
            <a:r>
              <a:rPr lang="en-US" sz="1100" b="0" i="0" u="none" strike="noStrike">
                <a:solidFill>
                  <a:srgbClr val="3C3C3C"/>
                </a:solidFill>
                <a:latin typeface="Noto Sans SC"/>
                <a:ea typeface="Noto Sans SC"/>
                <a:cs typeface="Noto Sans SC"/>
                <a:sym typeface="Noto Sans SC"/>
              </a:rPr>
              <a:t>• Sparse labels (not all points visible) &amp; potential domain shift.</a:t>
            </a:r>
          </a:p>
        </p:txBody>
      </p:sp>
      <p:sp>
        <p:nvSpPr>
          <p:cNvPr id="20" name="AutoShape 20"/>
          <p:cNvSpPr/>
          <p:nvPr/>
        </p:nvSpPr>
        <p:spPr>
          <a:xfrm>
            <a:off x="5829300" y="3124200"/>
            <a:ext cx="5461000" cy="1739900"/>
          </a:xfrm>
          <a:prstGeom prst="roundRect">
            <a:avLst>
              <a:gd name="adj" fmla="val 4379"/>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21" name="AutoShape 21"/>
          <p:cNvSpPr/>
          <p:nvPr/>
        </p:nvSpPr>
        <p:spPr>
          <a:xfrm>
            <a:off x="5981700" y="3302000"/>
            <a:ext cx="1016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B4343A"/>
                </a:solidFill>
                <a:latin typeface="Aptos"/>
                <a:ea typeface="Aptos"/>
                <a:cs typeface="Aptos"/>
                <a:sym typeface="Aptos"/>
              </a:rPr>
              <a:t>TAKEAWAY</a:t>
            </a:r>
            <a:endParaRPr lang="en-US" sz="1100"/>
          </a:p>
        </p:txBody>
      </p:sp>
      <p:sp>
        <p:nvSpPr>
          <p:cNvPr id="22" name="AutoShape 22"/>
          <p:cNvSpPr/>
          <p:nvPr/>
        </p:nvSpPr>
        <p:spPr>
          <a:xfrm>
            <a:off x="5981700" y="3683000"/>
            <a:ext cx="4953000" cy="1079500"/>
          </a:xfrm>
          <a:prstGeom prst="roundRect">
            <a:avLst>
              <a:gd name="adj" fmla="val 0"/>
            </a:avLst>
          </a:prstGeom>
          <a:noFill/>
          <a:ln w="25400" cap="flat" cmpd="sng">
            <a:noFill/>
            <a:prstDash val="solid"/>
            <a:round/>
          </a:ln>
        </p:spPr>
        <p:txBody>
          <a:bodyPr vert="horz" wrap="square" lIns="25400" tIns="25400" rIns="25400" bIns="25400" rtlCol="0" anchor="t" anchorCtr="0"/>
          <a:lstStyle/>
          <a:p>
            <a:pPr indent="0" algn="l">
              <a:lnSpc>
                <a:spcPct val="116666"/>
              </a:lnSpc>
              <a:defRPr/>
            </a:pPr>
            <a:r>
              <a:rPr lang="en-US" sz="1200" b="0" i="0" u="none" strike="noStrike">
                <a:solidFill>
                  <a:srgbClr val="3C3C3C"/>
                </a:solidFill>
                <a:latin typeface="Noto Sans SC"/>
                <a:ea typeface="Noto Sans SC"/>
                <a:cs typeface="Noto Sans SC"/>
                <a:sym typeface="Noto Sans SC"/>
              </a:rPr>
              <a:t>Handling missing labels and normalization are critical first steps to ensure data quality. Addressing the high dimensionality (9216 features) is essential to avoid overfitting and improve model efficiency.</a:t>
            </a:r>
            <a:endParaRPr lang="en-US" sz="1100"/>
          </a:p>
        </p:txBody>
      </p:sp>
      <p:sp>
        <p:nvSpPr>
          <p:cNvPr id="23" name="AutoShape 23"/>
          <p:cNvSpPr/>
          <p:nvPr/>
        </p:nvSpPr>
        <p:spPr>
          <a:xfrm>
            <a:off x="698500" y="5143500"/>
            <a:ext cx="3251200" cy="914400"/>
          </a:xfrm>
          <a:prstGeom prst="roundRect">
            <a:avLst>
              <a:gd name="adj" fmla="val 8333"/>
            </a:avLst>
          </a:prstGeom>
          <a:solidFill>
            <a:srgbClr val="FFFFFF">
              <a:alpha val="90000"/>
            </a:srgbClr>
          </a:solidFill>
          <a:ln w="12700" cap="flat" cmpd="sng">
            <a:solidFill>
              <a:srgbClr val="B8BDC7">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24"/>
          <p:cNvSpPr/>
          <p:nvPr/>
        </p:nvSpPr>
        <p:spPr>
          <a:xfrm>
            <a:off x="863600" y="5270500"/>
            <a:ext cx="2921000" cy="698500"/>
          </a:xfrm>
          <a:prstGeom prst="roundRect">
            <a:avLst>
              <a:gd name="adj" fmla="val 0"/>
            </a:avLst>
          </a:prstGeom>
          <a:noFill/>
          <a:ln w="25400" cap="flat" cmpd="sng">
            <a:noFill/>
            <a:prstDash val="solid"/>
            <a:round/>
          </a:ln>
        </p:spPr>
        <p:txBody>
          <a:bodyPr vert="horz" wrap="square" lIns="25400" tIns="25400" rIns="25400" bIns="25400" rtlCol="0" anchor="ctr" anchorCtr="0"/>
          <a:lstStyle/>
          <a:p>
            <a:pPr indent="0" algn="ctr">
              <a:lnSpc>
                <a:spcPct val="100000"/>
              </a:lnSpc>
              <a:defRPr/>
            </a:pPr>
            <a:r>
              <a:rPr lang="en-US" sz="1200" b="1" i="0" u="none" strike="noStrike">
                <a:solidFill>
                  <a:srgbClr val="16253F"/>
                </a:solidFill>
                <a:latin typeface="Noto Sans SC"/>
                <a:ea typeface="Noto Sans SC"/>
                <a:cs typeface="Noto Sans SC"/>
                <a:sym typeface="Noto Sans SC"/>
              </a:rPr>
              <a:t>High Dimensionality</a:t>
            </a:r>
            <a:endParaRPr lang="en-US" sz="1100"/>
          </a:p>
          <a:p>
            <a:pPr indent="0" algn="ctr">
              <a:lnSpc>
                <a:spcPct val="100000"/>
              </a:lnSpc>
            </a:pPr>
            <a:r>
              <a:rPr lang="en-US" sz="1200" b="0" i="0" u="none" strike="noStrike">
                <a:solidFill>
                  <a:srgbClr val="697386"/>
                </a:solidFill>
                <a:latin typeface="Noto Sans SC"/>
                <a:ea typeface="Noto Sans SC"/>
                <a:cs typeface="Noto Sans SC"/>
                <a:sym typeface="Noto Sans SC"/>
              </a:rPr>
              <a:t>9216-Dim Vector → Risk of Overfitting</a:t>
            </a:r>
          </a:p>
        </p:txBody>
      </p:sp>
      <p:sp>
        <p:nvSpPr>
          <p:cNvPr id="25" name="AutoShape 25"/>
          <p:cNvSpPr/>
          <p:nvPr/>
        </p:nvSpPr>
        <p:spPr>
          <a:xfrm>
            <a:off x="4165600" y="5143500"/>
            <a:ext cx="3251200" cy="914400"/>
          </a:xfrm>
          <a:prstGeom prst="roundRect">
            <a:avLst>
              <a:gd name="adj" fmla="val 8333"/>
            </a:avLst>
          </a:prstGeom>
          <a:solidFill>
            <a:srgbClr val="FFFFFF">
              <a:alpha val="90000"/>
            </a:srgbClr>
          </a:solidFill>
          <a:ln w="12700" cap="flat" cmpd="sng">
            <a:solidFill>
              <a:srgbClr val="B8BDC7">
                <a:alpha val="100000"/>
              </a:srgbClr>
            </a:solidFill>
            <a:prstDash val="solid"/>
            <a:miter lim="10000000"/>
          </a:ln>
        </p:spPr>
        <p:txBody>
          <a:bodyPr vert="horz" wrap="square" lIns="63500" tIns="63500" rIns="63500" bIns="63500" rtlCol="0" anchor="ctr"/>
          <a:lstStyle/>
          <a:p>
            <a:pPr algn="ctr">
              <a:defRPr/>
            </a:pPr>
            <a:endParaRPr/>
          </a:p>
        </p:txBody>
      </p:sp>
      <p:sp>
        <p:nvSpPr>
          <p:cNvPr id="26" name="AutoShape 26"/>
          <p:cNvSpPr/>
          <p:nvPr/>
        </p:nvSpPr>
        <p:spPr>
          <a:xfrm>
            <a:off x="4330700" y="5270500"/>
            <a:ext cx="2921000" cy="698500"/>
          </a:xfrm>
          <a:prstGeom prst="roundRect">
            <a:avLst>
              <a:gd name="adj" fmla="val 0"/>
            </a:avLst>
          </a:prstGeom>
          <a:noFill/>
          <a:ln w="25400" cap="flat" cmpd="sng">
            <a:noFill/>
            <a:prstDash val="solid"/>
            <a:round/>
          </a:ln>
        </p:spPr>
        <p:txBody>
          <a:bodyPr vert="horz" wrap="square" lIns="25400" tIns="25400" rIns="25400" bIns="25400" rtlCol="0" anchor="ctr" anchorCtr="0"/>
          <a:lstStyle/>
          <a:p>
            <a:pPr indent="0" algn="ctr">
              <a:lnSpc>
                <a:spcPct val="100000"/>
              </a:lnSpc>
              <a:defRPr/>
            </a:pPr>
            <a:r>
              <a:rPr lang="en-US" sz="1200" b="1" i="0" u="none" strike="noStrike">
                <a:solidFill>
                  <a:srgbClr val="16253F"/>
                </a:solidFill>
                <a:latin typeface="Noto Sans SC"/>
                <a:ea typeface="Noto Sans SC"/>
                <a:cs typeface="Noto Sans SC"/>
                <a:sym typeface="Noto Sans SC"/>
              </a:rPr>
              <a:t>Label Issues</a:t>
            </a:r>
            <a:endParaRPr lang="en-US" sz="1100"/>
          </a:p>
          <a:p>
            <a:pPr indent="0" algn="ctr">
              <a:lnSpc>
                <a:spcPct val="100000"/>
              </a:lnSpc>
            </a:pPr>
            <a:r>
              <a:rPr lang="en-US" sz="1200" b="0" i="0" u="none" strike="noStrike">
                <a:solidFill>
                  <a:srgbClr val="697386"/>
                </a:solidFill>
                <a:latin typeface="Noto Sans SC"/>
                <a:ea typeface="Noto Sans SC"/>
                <a:cs typeface="Noto Sans SC"/>
                <a:sym typeface="Noto Sans SC"/>
              </a:rPr>
              <a:t>Missing Values &amp; Sparse Keypoints</a:t>
            </a:r>
          </a:p>
        </p:txBody>
      </p:sp>
      <p:sp>
        <p:nvSpPr>
          <p:cNvPr id="27" name="AutoShape 27"/>
          <p:cNvSpPr/>
          <p:nvPr/>
        </p:nvSpPr>
        <p:spPr>
          <a:xfrm>
            <a:off x="7620000" y="5143500"/>
            <a:ext cx="3670300" cy="914400"/>
          </a:xfrm>
          <a:prstGeom prst="roundRect">
            <a:avLst>
              <a:gd name="adj" fmla="val 8333"/>
            </a:avLst>
          </a:prstGeom>
          <a:solidFill>
            <a:srgbClr val="FFFFFF">
              <a:alpha val="90000"/>
            </a:srgbClr>
          </a:solidFill>
          <a:ln w="12700" cap="flat" cmpd="sng">
            <a:solidFill>
              <a:srgbClr val="B8BDC7">
                <a:alpha val="100000"/>
              </a:srgbClr>
            </a:solidFill>
            <a:prstDash val="solid"/>
            <a:miter lim="10000000"/>
          </a:ln>
        </p:spPr>
        <p:txBody>
          <a:bodyPr vert="horz" wrap="square" lIns="63500" tIns="63500" rIns="63500" bIns="63500" rtlCol="0" anchor="ctr"/>
          <a:lstStyle/>
          <a:p>
            <a:pPr algn="ctr">
              <a:defRPr/>
            </a:pPr>
            <a:endParaRPr/>
          </a:p>
        </p:txBody>
      </p:sp>
      <p:sp>
        <p:nvSpPr>
          <p:cNvPr id="28" name="AutoShape 28"/>
          <p:cNvSpPr/>
          <p:nvPr/>
        </p:nvSpPr>
        <p:spPr>
          <a:xfrm>
            <a:off x="7785100" y="5270500"/>
            <a:ext cx="3340100" cy="698500"/>
          </a:xfrm>
          <a:prstGeom prst="roundRect">
            <a:avLst>
              <a:gd name="adj" fmla="val 0"/>
            </a:avLst>
          </a:prstGeom>
          <a:noFill/>
          <a:ln w="25400" cap="flat" cmpd="sng">
            <a:noFill/>
            <a:prstDash val="solid"/>
            <a:round/>
          </a:ln>
        </p:spPr>
        <p:txBody>
          <a:bodyPr vert="horz" wrap="square" lIns="25400" tIns="25400" rIns="25400" bIns="25400" rtlCol="0" anchor="ctr" anchorCtr="0"/>
          <a:lstStyle/>
          <a:p>
            <a:pPr indent="0" algn="ctr">
              <a:lnSpc>
                <a:spcPct val="100000"/>
              </a:lnSpc>
              <a:defRPr/>
            </a:pPr>
            <a:r>
              <a:rPr lang="en-US" sz="1200" b="1" i="0" u="none" strike="noStrike">
                <a:solidFill>
                  <a:srgbClr val="16253F"/>
                </a:solidFill>
                <a:latin typeface="Noto Sans SC"/>
                <a:ea typeface="Noto Sans SC"/>
                <a:cs typeface="Noto Sans SC"/>
                <a:sym typeface="Noto Sans SC"/>
              </a:rPr>
              <a:t>Data Quality</a:t>
            </a:r>
            <a:endParaRPr lang="en-US" sz="1100"/>
          </a:p>
          <a:p>
            <a:pPr indent="0" algn="ctr">
              <a:lnSpc>
                <a:spcPct val="100000"/>
              </a:lnSpc>
            </a:pPr>
            <a:r>
              <a:rPr lang="en-US" sz="1200" b="0" i="0" u="none" strike="noStrike">
                <a:solidFill>
                  <a:srgbClr val="697386"/>
                </a:solidFill>
                <a:latin typeface="Noto Sans SC"/>
                <a:ea typeface="Noto Sans SC"/>
                <a:cs typeface="Noto Sans SC"/>
                <a:sym typeface="Noto Sans SC"/>
              </a:rPr>
              <a:t>Requires Strict Normalization &amp; Centering</a:t>
            </a:r>
          </a:p>
        </p:txBody>
      </p:sp>
      <p:sp>
        <p:nvSpPr>
          <p:cNvPr id="29" name="AutoShape 29"/>
          <p:cNvSpPr/>
          <p:nvPr/>
        </p:nvSpPr>
        <p:spPr>
          <a:xfrm>
            <a:off x="11379200" y="6464300"/>
            <a:ext cx="4064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r">
              <a:lnSpc>
                <a:spcPct val="100000"/>
              </a:lnSpc>
              <a:defRPr/>
            </a:pPr>
            <a:r>
              <a:rPr lang="en-US" sz="900" b="0" i="0" u="none" strike="noStrike">
                <a:solidFill>
                  <a:srgbClr val="697386"/>
                </a:solidFill>
                <a:latin typeface="Aptos"/>
                <a:ea typeface="Aptos"/>
                <a:cs typeface="Aptos"/>
                <a:sym typeface="Aptos"/>
              </a:rPr>
              <a:t>04</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65100" cy="68580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AutoShape 3"/>
          <p:cNvSpPr/>
          <p:nvPr/>
        </p:nvSpPr>
        <p:spPr>
          <a:xfrm>
            <a:off x="11544300" y="0"/>
            <a:ext cx="647700" cy="10033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AutoShape 4"/>
          <p:cNvSpPr/>
          <p:nvPr/>
        </p:nvSpPr>
        <p:spPr>
          <a:xfrm>
            <a:off x="11125200" y="0"/>
            <a:ext cx="406400" cy="419100"/>
          </a:xfrm>
          <a:prstGeom prst="roundRect">
            <a:avLst>
              <a:gd name="adj" fmla="val 0"/>
            </a:avLst>
          </a:prstGeom>
          <a:solidFill>
            <a:srgbClr val="16253F">
              <a:alpha val="100000"/>
            </a:srgbClr>
          </a:solidFill>
          <a:ln w="12700" cap="flat" cmpd="sng">
            <a:solidFill>
              <a:srgbClr val="16253F">
                <a:alpha val="0"/>
              </a:srgbClr>
            </a:solidFill>
            <a:prstDash val="solid"/>
            <a:miter lim="10000000"/>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AutoShape 5"/>
          <p:cNvSpPr/>
          <p:nvPr/>
        </p:nvSpPr>
        <p:spPr>
          <a:xfrm>
            <a:off x="508000" y="292100"/>
            <a:ext cx="2921000" cy="2032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1" i="0" u="none" strike="noStrike" kern="0" cap="none" spc="0" normalizeH="0" baseline="0" noProof="0">
                <a:ln>
                  <a:noFill/>
                </a:ln>
                <a:solidFill>
                  <a:srgbClr val="B4343A"/>
                </a:solidFill>
                <a:effectLst/>
                <a:uLnTx/>
                <a:uFillTx/>
                <a:latin typeface="Aptos"/>
                <a:ea typeface="Aptos"/>
                <a:cs typeface="Aptos"/>
                <a:sym typeface="Aptos"/>
              </a:rPr>
              <a:t>SDSC8007 • MINI PROJECT</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6" name="AutoShape 6"/>
          <p:cNvSpPr/>
          <p:nvPr/>
        </p:nvSpPr>
        <p:spPr>
          <a:xfrm>
            <a:off x="508000" y="508000"/>
            <a:ext cx="8089900" cy="4699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600" b="1" i="0" u="none" strike="noStrike" kern="0" cap="none" spc="0" normalizeH="0" baseline="0" noProof="0">
                <a:ln>
                  <a:noFill/>
                </a:ln>
                <a:solidFill>
                  <a:srgbClr val="16253F"/>
                </a:solidFill>
                <a:effectLst/>
                <a:uLnTx/>
                <a:uFillTx/>
                <a:latin typeface="Play"/>
                <a:ea typeface="Play"/>
                <a:cs typeface="Play"/>
                <a:sym typeface="Play"/>
              </a:rPr>
              <a:t>3. Baseline CNN</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7" name="Connector 7"/>
          <p:cNvCxnSpPr/>
          <p:nvPr/>
        </p:nvCxnSpPr>
        <p:spPr>
          <a:xfrm>
            <a:off x="508000" y="6438900"/>
            <a:ext cx="11150607"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none" w="med" len="med"/>
          </a:ln>
        </p:spPr>
      </p:cxnSp>
      <p:sp>
        <p:nvSpPr>
          <p:cNvPr id="8" name="AutoShape 8"/>
          <p:cNvSpPr/>
          <p:nvPr/>
        </p:nvSpPr>
        <p:spPr>
          <a:xfrm>
            <a:off x="533400" y="6477000"/>
            <a:ext cx="6489700" cy="1651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697386"/>
                </a:solidFill>
                <a:effectLst/>
                <a:uLnTx/>
                <a:uFillTx/>
                <a:latin typeface="Aptos"/>
                <a:ea typeface="Aptos"/>
                <a:cs typeface="Aptos"/>
                <a:sym typeface="Aptos"/>
              </a:rPr>
              <a:t>Baseline: BaselineCNN — 3-Block Conv Net</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9" name="AutoShape 9"/>
          <p:cNvSpPr/>
          <p:nvPr/>
        </p:nvSpPr>
        <p:spPr>
          <a:xfrm>
            <a:off x="9372600" y="292100"/>
            <a:ext cx="1651000" cy="254000"/>
          </a:xfrm>
          <a:prstGeom prst="roundRect">
            <a:avLst>
              <a:gd name="adj" fmla="val 20000"/>
            </a:avLst>
          </a:prstGeom>
          <a:solidFill>
            <a:srgbClr val="FFFCF7">
              <a:alpha val="100000"/>
            </a:srgbClr>
          </a:solidFill>
          <a:ln w="12700" cap="flat" cmpd="sng">
            <a:solidFill>
              <a:srgbClr val="EDE2D3">
                <a:alpha val="100000"/>
              </a:srgbClr>
            </a:solidFill>
            <a:prstDash val="solid"/>
            <a:miter lim="10000000"/>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AutoShape 10"/>
          <p:cNvSpPr/>
          <p:nvPr/>
        </p:nvSpPr>
        <p:spPr>
          <a:xfrm>
            <a:off x="9448800" y="330200"/>
            <a:ext cx="1498600" cy="127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a:ln>
                  <a:noFill/>
                </a:ln>
                <a:solidFill>
                  <a:srgbClr val="697386"/>
                </a:solidFill>
                <a:effectLst/>
                <a:uLnTx/>
                <a:uFillTx/>
                <a:latin typeface="Aptos"/>
                <a:ea typeface="Aptos"/>
                <a:cs typeface="Aptos"/>
                <a:sym typeface="Aptos"/>
              </a:rPr>
              <a:t>START SIMPLE</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1" name="AutoShape 11"/>
          <p:cNvSpPr/>
          <p:nvPr/>
        </p:nvSpPr>
        <p:spPr>
          <a:xfrm>
            <a:off x="698500" y="1257300"/>
            <a:ext cx="6400800" cy="4559300"/>
          </a:xfrm>
          <a:prstGeom prst="roundRect">
            <a:avLst>
              <a:gd name="adj" fmla="val 1671"/>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AutoShape 12"/>
          <p:cNvSpPr/>
          <p:nvPr/>
        </p:nvSpPr>
        <p:spPr>
          <a:xfrm>
            <a:off x="914400" y="1498600"/>
            <a:ext cx="965200" cy="1651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1" i="0" u="none" strike="noStrike" kern="0" cap="none" spc="0" normalizeH="0" baseline="0" noProof="0">
                <a:ln>
                  <a:noFill/>
                </a:ln>
                <a:solidFill>
                  <a:srgbClr val="B4343A"/>
                </a:solidFill>
                <a:effectLst/>
                <a:uLnTx/>
                <a:uFillTx/>
                <a:latin typeface="Aptos"/>
                <a:ea typeface="Aptos"/>
                <a:cs typeface="Aptos"/>
                <a:sym typeface="Aptos"/>
              </a:rPr>
              <a:t>BASELINE PIPELINE</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3" name="AutoShape 13"/>
          <p:cNvSpPr/>
          <p:nvPr/>
        </p:nvSpPr>
        <p:spPr>
          <a:xfrm>
            <a:off x="914400" y="1752600"/>
            <a:ext cx="5842000" cy="2032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697386"/>
                </a:solidFill>
                <a:effectLst/>
                <a:uLnTx/>
                <a:uFillTx/>
                <a:latin typeface="Aptos"/>
                <a:ea typeface="Aptos"/>
                <a:cs typeface="Aptos"/>
                <a:sym typeface="Aptos"/>
              </a:rPr>
              <a:t>3 Conv-ReLU-MaxPool blocks → Flatten → FC(512) → Dropout(0.3) → FC(30 outputs).</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4" name="AutoShape 14"/>
          <p:cNvSpPr/>
          <p:nvPr/>
        </p:nvSpPr>
        <p:spPr>
          <a:xfrm>
            <a:off x="965200" y="2743200"/>
            <a:ext cx="1320800" cy="990600"/>
          </a:xfrm>
          <a:prstGeom prst="roundRect">
            <a:avLst>
              <a:gd name="adj" fmla="val 5128"/>
            </a:avLst>
          </a:prstGeom>
          <a:solidFill>
            <a:srgbClr val="FFFFFF">
              <a:alpha val="100000"/>
            </a:srgbClr>
          </a:solidFill>
          <a:ln w="12700" cap="flat" cmpd="sng">
            <a:solidFill>
              <a:srgbClr val="16253F">
                <a:alpha val="100000"/>
              </a:srgbClr>
            </a:solidFill>
            <a:prstDash val="solid"/>
            <a:miter lim="10000000"/>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AutoShape 15"/>
          <p:cNvSpPr/>
          <p:nvPr/>
        </p:nvSpPr>
        <p:spPr>
          <a:xfrm>
            <a:off x="1028700" y="2921000"/>
            <a:ext cx="1181100" cy="2032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6253F"/>
                </a:solidFill>
                <a:effectLst/>
                <a:uLnTx/>
                <a:uFillTx/>
                <a:latin typeface="Aptos"/>
                <a:ea typeface="Aptos"/>
                <a:cs typeface="Aptos"/>
                <a:sym typeface="Aptos"/>
              </a:rPr>
              <a:t>Preprocess</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6" name="AutoShape 16"/>
          <p:cNvSpPr/>
          <p:nvPr/>
        </p:nvSpPr>
        <p:spPr>
          <a:xfrm>
            <a:off x="1028700" y="3225800"/>
            <a:ext cx="1181100" cy="4318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91666"/>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525C69"/>
                </a:solidFill>
                <a:effectLst/>
                <a:uLnTx/>
                <a:uFillTx/>
                <a:latin typeface="Aptos"/>
                <a:ea typeface="Aptos"/>
                <a:cs typeface="Aptos"/>
                <a:sym typeface="Aptos"/>
              </a:rPr>
              <a:t>Pixel string → 96×96 / 255.0</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17" name="Connector 17"/>
          <p:cNvCxnSpPr/>
          <p:nvPr/>
        </p:nvCxnSpPr>
        <p:spPr>
          <a:xfrm rot="213">
            <a:off x="2286000" y="3238508"/>
            <a:ext cx="254317"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triangle" w="med" len="med"/>
          </a:ln>
        </p:spPr>
      </p:cxnSp>
      <p:sp>
        <p:nvSpPr>
          <p:cNvPr id="18" name="AutoShape 18"/>
          <p:cNvSpPr/>
          <p:nvPr/>
        </p:nvSpPr>
        <p:spPr>
          <a:xfrm>
            <a:off x="2425700" y="2743200"/>
            <a:ext cx="1320800" cy="990600"/>
          </a:xfrm>
          <a:prstGeom prst="roundRect">
            <a:avLst>
              <a:gd name="adj" fmla="val 5128"/>
            </a:avLst>
          </a:prstGeom>
          <a:solidFill>
            <a:srgbClr val="FFFFFF">
              <a:alpha val="100000"/>
            </a:srgbClr>
          </a:solidFill>
          <a:ln w="12700" cap="flat" cmpd="sng">
            <a:solidFill>
              <a:srgbClr val="16253F">
                <a:alpha val="100000"/>
              </a:srgbClr>
            </a:solidFill>
            <a:prstDash val="solid"/>
            <a:miter lim="10000000"/>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AutoShape 19"/>
          <p:cNvSpPr/>
          <p:nvPr/>
        </p:nvSpPr>
        <p:spPr>
          <a:xfrm>
            <a:off x="2501900" y="2921000"/>
            <a:ext cx="1181100" cy="2032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6253F"/>
                </a:solidFill>
                <a:effectLst/>
                <a:uLnTx/>
                <a:uFillTx/>
                <a:latin typeface="Aptos"/>
                <a:ea typeface="Aptos"/>
                <a:cs typeface="Aptos"/>
                <a:sym typeface="Aptos"/>
              </a:rPr>
              <a:t>Input Features</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20" name="AutoShape 20"/>
          <p:cNvSpPr/>
          <p:nvPr/>
        </p:nvSpPr>
        <p:spPr>
          <a:xfrm>
            <a:off x="2501900" y="3225800"/>
            <a:ext cx="1181100" cy="4318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91666"/>
              </a:lnSpc>
              <a:spcBef>
                <a:spcPts val="0"/>
              </a:spcBef>
              <a:spcAft>
                <a:spcPts val="0"/>
              </a:spcAft>
              <a:buClr>
                <a:srgbClr val="000000"/>
              </a:buClr>
              <a:buSzTx/>
              <a:buFont typeface="Arial"/>
              <a:buNone/>
              <a:tabLst/>
              <a:defRPr/>
            </a:pPr>
            <a:br>
              <a:rPr kumimoji="0" lang="en-US" sz="900" b="0" i="0" u="none" strike="noStrike" kern="0" cap="none" spc="0" normalizeH="0" baseline="0" noProof="0">
                <a:ln>
                  <a:noFill/>
                </a:ln>
                <a:solidFill>
                  <a:srgbClr val="525C69"/>
                </a:solidFill>
                <a:effectLst/>
                <a:uLnTx/>
                <a:uFillTx/>
                <a:latin typeface="Aptos"/>
                <a:ea typeface="Aptos"/>
                <a:cs typeface="Aptos"/>
                <a:sym typeface="Aptos"/>
              </a:rPr>
            </a:br>
            <a:r>
              <a:rPr kumimoji="0" sz="900" b="0" i="0" u="none" strike="noStrike" kern="0" cap="none" spc="0" normalizeH="0" baseline="0" noProof="0">
                <a:ln>
                  <a:noFill/>
                </a:ln>
                <a:solidFill>
                  <a:srgbClr val="525C69"/>
                </a:solidFill>
                <a:effectLst/>
                <a:uLnTx/>
                <a:uFillTx/>
                <a:latin typeface="Arial"/>
                <a:cs typeface="Arial"/>
                <a:sym typeface="Arial"/>
              </a:rPr>
              <a:t>1×96×96 grayscale image tensor</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cxnSp>
        <p:nvCxnSpPr>
          <p:cNvPr id="21" name="Connector 21"/>
          <p:cNvCxnSpPr/>
          <p:nvPr/>
        </p:nvCxnSpPr>
        <p:spPr>
          <a:xfrm rot="213">
            <a:off x="3746500" y="3238508"/>
            <a:ext cx="254317"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triangle" w="med" len="med"/>
          </a:ln>
        </p:spPr>
      </p:cxnSp>
      <p:sp>
        <p:nvSpPr>
          <p:cNvPr id="22" name="AutoShape 22"/>
          <p:cNvSpPr/>
          <p:nvPr/>
        </p:nvSpPr>
        <p:spPr>
          <a:xfrm>
            <a:off x="4165600" y="2743200"/>
            <a:ext cx="1320800" cy="990600"/>
          </a:xfrm>
          <a:prstGeom prst="roundRect">
            <a:avLst>
              <a:gd name="adj" fmla="val 5128"/>
            </a:avLst>
          </a:prstGeom>
          <a:solidFill>
            <a:srgbClr val="EAF0F7">
              <a:alpha val="100000"/>
            </a:srgbClr>
          </a:solidFill>
          <a:ln w="12700" cap="flat" cmpd="sng">
            <a:solidFill>
              <a:srgbClr val="16253F">
                <a:alpha val="100000"/>
              </a:srgbClr>
            </a:solidFill>
            <a:prstDash val="solid"/>
            <a:miter lim="10000000"/>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AutoShape 23"/>
          <p:cNvSpPr/>
          <p:nvPr/>
        </p:nvSpPr>
        <p:spPr>
          <a:xfrm>
            <a:off x="4229100" y="2921000"/>
            <a:ext cx="1181100" cy="2032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6253F"/>
                </a:solidFill>
                <a:effectLst/>
                <a:uLnTx/>
                <a:uFillTx/>
                <a:latin typeface="Aptos"/>
                <a:ea typeface="Aptos"/>
                <a:cs typeface="Aptos"/>
                <a:sym typeface="Aptos"/>
              </a:rPr>
              <a:t>Model Type</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24" name="AutoShape 24"/>
          <p:cNvSpPr/>
          <p:nvPr/>
        </p:nvSpPr>
        <p:spPr>
          <a:xfrm>
            <a:off x="4229100" y="3225800"/>
            <a:ext cx="1181100" cy="4318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91666"/>
              </a:lnSpc>
              <a:spcBef>
                <a:spcPts val="0"/>
              </a:spcBef>
              <a:spcAft>
                <a:spcPts val="0"/>
              </a:spcAft>
              <a:buClr>
                <a:srgbClr val="000000"/>
              </a:buClr>
              <a:buSzTx/>
              <a:buFont typeface="Arial"/>
              <a:buNone/>
              <a:tabLst/>
              <a:defRPr/>
            </a:pPr>
            <a:br>
              <a:rPr kumimoji="0" lang="en-US" sz="900" b="0" i="0" u="none" strike="noStrike" kern="0" cap="none" spc="0" normalizeH="0" baseline="0" noProof="0" dirty="0">
                <a:ln>
                  <a:noFill/>
                </a:ln>
                <a:solidFill>
                  <a:srgbClr val="525C69"/>
                </a:solidFill>
                <a:effectLst/>
                <a:uLnTx/>
                <a:uFillTx/>
                <a:latin typeface="Aptos"/>
                <a:ea typeface="Aptos"/>
                <a:cs typeface="Aptos"/>
                <a:sym typeface="Aptos"/>
              </a:rPr>
            </a:br>
            <a:r>
              <a:rPr kumimoji="0" sz="900" b="0" i="0" u="none" strike="noStrike" kern="0" cap="none" spc="0" normalizeH="0" baseline="0" noProof="0" dirty="0" err="1">
                <a:ln>
                  <a:noFill/>
                </a:ln>
                <a:solidFill>
                  <a:srgbClr val="525C69"/>
                </a:solidFill>
                <a:effectLst/>
                <a:uLnTx/>
                <a:uFillTx/>
                <a:latin typeface="Arial"/>
                <a:cs typeface="Arial"/>
                <a:sym typeface="Arial"/>
              </a:rPr>
              <a:t>BaselineCNN</a:t>
            </a:r>
            <a:r>
              <a:rPr kumimoji="0" sz="900" b="0" i="0" u="none" strike="noStrike" kern="0" cap="none" spc="0" normalizeH="0" baseline="0" noProof="0" dirty="0">
                <a:ln>
                  <a:noFill/>
                </a:ln>
                <a:solidFill>
                  <a:srgbClr val="525C69"/>
                </a:solidFill>
                <a:effectLst/>
                <a:uLnTx/>
                <a:uFillTx/>
                <a:latin typeface="Arial"/>
                <a:cs typeface="Arial"/>
                <a:sym typeface="Arial"/>
              </a:rPr>
              <a:t> (3 Conv blocks + MLP head)</a:t>
            </a:r>
            <a:endParaRPr kumimoji="0" lang="en-US" sz="11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5" name="Connector 25"/>
          <p:cNvCxnSpPr/>
          <p:nvPr/>
        </p:nvCxnSpPr>
        <p:spPr>
          <a:xfrm rot="213">
            <a:off x="5486400" y="3238508"/>
            <a:ext cx="254317"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triangle" w="med" len="med"/>
          </a:ln>
        </p:spPr>
      </p:cxnSp>
      <p:sp>
        <p:nvSpPr>
          <p:cNvPr id="26" name="AutoShape 26"/>
          <p:cNvSpPr/>
          <p:nvPr/>
        </p:nvSpPr>
        <p:spPr>
          <a:xfrm>
            <a:off x="5575300" y="2743200"/>
            <a:ext cx="1079500" cy="990600"/>
          </a:xfrm>
          <a:prstGeom prst="roundRect">
            <a:avLst>
              <a:gd name="adj" fmla="val 5128"/>
            </a:avLst>
          </a:prstGeom>
          <a:solidFill>
            <a:srgbClr val="FFFFFF">
              <a:alpha val="100000"/>
            </a:srgbClr>
          </a:solidFill>
          <a:ln w="12700" cap="flat" cmpd="sng">
            <a:solidFill>
              <a:srgbClr val="16253F">
                <a:alpha val="100000"/>
              </a:srgbClr>
            </a:solidFill>
            <a:prstDash val="solid"/>
            <a:miter lim="10000000"/>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AutoShape 27"/>
          <p:cNvSpPr/>
          <p:nvPr/>
        </p:nvSpPr>
        <p:spPr>
          <a:xfrm>
            <a:off x="5651500" y="2921000"/>
            <a:ext cx="927100" cy="2032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6253F"/>
                </a:solidFill>
                <a:effectLst/>
                <a:uLnTx/>
                <a:uFillTx/>
                <a:latin typeface="Aptos"/>
                <a:ea typeface="Aptos"/>
                <a:cs typeface="Aptos"/>
                <a:sym typeface="Aptos"/>
              </a:rPr>
              <a:t>Loss &amp; Train</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28" name="AutoShape 28"/>
          <p:cNvSpPr/>
          <p:nvPr/>
        </p:nvSpPr>
        <p:spPr>
          <a:xfrm>
            <a:off x="5651500" y="3225800"/>
            <a:ext cx="927100" cy="4318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91666"/>
              </a:lnSpc>
              <a:spcBef>
                <a:spcPts val="0"/>
              </a:spcBef>
              <a:spcAft>
                <a:spcPts val="0"/>
              </a:spcAft>
              <a:buClr>
                <a:srgbClr val="000000"/>
              </a:buClr>
              <a:buSzTx/>
              <a:buFont typeface="Arial"/>
              <a:buNone/>
              <a:tabLst/>
              <a:defRPr/>
            </a:pPr>
            <a:br>
              <a:rPr kumimoji="0" lang="en-US" sz="900" b="0" i="0" u="none" strike="noStrike" kern="0" cap="none" spc="0" normalizeH="0" baseline="0" noProof="0" dirty="0">
                <a:ln>
                  <a:noFill/>
                </a:ln>
                <a:solidFill>
                  <a:srgbClr val="525C69"/>
                </a:solidFill>
                <a:effectLst/>
                <a:uLnTx/>
                <a:uFillTx/>
                <a:latin typeface="Aptos"/>
                <a:ea typeface="Aptos"/>
                <a:cs typeface="Aptos"/>
                <a:sym typeface="Aptos"/>
              </a:rPr>
            </a:br>
            <a:r>
              <a:rPr kumimoji="0" sz="900" b="0" i="0" u="none" strike="noStrike" kern="0" cap="none" spc="0" normalizeH="0" baseline="0" noProof="0" dirty="0" err="1">
                <a:ln>
                  <a:noFill/>
                </a:ln>
                <a:solidFill>
                  <a:srgbClr val="525C69"/>
                </a:solidFill>
                <a:effectLst/>
                <a:uLnTx/>
                <a:uFillTx/>
                <a:latin typeface="Arial"/>
                <a:cs typeface="Arial"/>
                <a:sym typeface="Arial"/>
              </a:rPr>
              <a:t>MaskedMSELoss</a:t>
            </a:r>
            <a:r>
              <a:rPr kumimoji="0" sz="900" b="0" i="0" u="none" strike="noStrike" kern="0" cap="none" spc="0" normalizeH="0" baseline="0" noProof="0" dirty="0">
                <a:ln>
                  <a:noFill/>
                </a:ln>
                <a:solidFill>
                  <a:srgbClr val="525C69"/>
                </a:solidFill>
                <a:effectLst/>
                <a:uLnTx/>
                <a:uFillTx/>
                <a:latin typeface="Arial"/>
                <a:cs typeface="Arial"/>
                <a:sym typeface="Arial"/>
              </a:rPr>
              <a:t> + </a:t>
            </a:r>
            <a:r>
              <a:rPr kumimoji="0" sz="900" b="0" i="0" u="none" strike="noStrike" kern="0" cap="none" spc="0" normalizeH="0" baseline="0" noProof="0" dirty="0" err="1">
                <a:ln>
                  <a:noFill/>
                </a:ln>
                <a:solidFill>
                  <a:srgbClr val="525C69"/>
                </a:solidFill>
                <a:effectLst/>
                <a:uLnTx/>
                <a:uFillTx/>
                <a:latin typeface="Arial"/>
                <a:cs typeface="Arial"/>
                <a:sym typeface="Arial"/>
              </a:rPr>
              <a:t>AdamW</a:t>
            </a:r>
            <a:r>
              <a:rPr kumimoji="0" sz="900" b="0" i="0" u="none" strike="noStrike" kern="0" cap="none" spc="0" normalizeH="0" baseline="0" noProof="0" dirty="0">
                <a:ln>
                  <a:noFill/>
                </a:ln>
                <a:solidFill>
                  <a:srgbClr val="525C69"/>
                </a:solidFill>
                <a:effectLst/>
                <a:uLnTx/>
                <a:uFillTx/>
                <a:latin typeface="Arial"/>
                <a:cs typeface="Arial"/>
                <a:sym typeface="Arial"/>
              </a:rPr>
              <a:t> optimizer</a:t>
            </a:r>
            <a:endParaRPr kumimoji="0" lang="en-US"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29" name="AutoShape 29"/>
          <p:cNvSpPr/>
          <p:nvPr/>
        </p:nvSpPr>
        <p:spPr>
          <a:xfrm>
            <a:off x="965200" y="4229100"/>
            <a:ext cx="2794000" cy="1079500"/>
          </a:xfrm>
          <a:prstGeom prst="roundRect">
            <a:avLst>
              <a:gd name="adj" fmla="val 7058"/>
            </a:avLst>
          </a:prstGeom>
          <a:solidFill>
            <a:srgbClr val="FFFFFF">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AutoShape 30"/>
          <p:cNvSpPr/>
          <p:nvPr/>
        </p:nvSpPr>
        <p:spPr>
          <a:xfrm>
            <a:off x="1130300" y="4419600"/>
            <a:ext cx="863600" cy="1651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1" i="0" u="none" strike="noStrike" kern="0" cap="none" spc="0" normalizeH="0" baseline="0" noProof="0">
                <a:ln>
                  <a:noFill/>
                </a:ln>
                <a:solidFill>
                  <a:srgbClr val="B4343A"/>
                </a:solidFill>
                <a:effectLst/>
                <a:uLnTx/>
                <a:uFillTx/>
                <a:latin typeface="Aptos"/>
                <a:ea typeface="Aptos"/>
                <a:cs typeface="Aptos"/>
                <a:sym typeface="Aptos"/>
              </a:rPr>
              <a:t>MODEL SUMMARY</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31" name="AutoShape 31"/>
          <p:cNvSpPr/>
          <p:nvPr/>
        </p:nvSpPr>
        <p:spPr>
          <a:xfrm>
            <a:off x="1130300" y="4699000"/>
            <a:ext cx="2413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a:ln>
                  <a:noFill/>
                </a:ln>
                <a:solidFill>
                  <a:srgbClr val="525C69"/>
                </a:solidFill>
                <a:effectLst/>
                <a:uLnTx/>
                <a:uFillTx/>
                <a:latin typeface="Aptos"/>
                <a:ea typeface="Aptos"/>
                <a:cs typeface="Aptos"/>
                <a:sym typeface="Aptos"/>
              </a:rPr>
              <a:t>input → Conv32 → Conv64 → Conv128 → FC512 → Dropout(0.3) → out30. Simple reproducible benchmark.</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32" name="AutoShape 32"/>
          <p:cNvSpPr/>
          <p:nvPr/>
        </p:nvSpPr>
        <p:spPr>
          <a:xfrm>
            <a:off x="3975100" y="4229100"/>
            <a:ext cx="2794000" cy="1079500"/>
          </a:xfrm>
          <a:prstGeom prst="roundRect">
            <a:avLst>
              <a:gd name="adj" fmla="val 7058"/>
            </a:avLst>
          </a:prstGeom>
          <a:solidFill>
            <a:srgbClr val="FFFFFF">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AutoShape 33"/>
          <p:cNvSpPr/>
          <p:nvPr/>
        </p:nvSpPr>
        <p:spPr>
          <a:xfrm>
            <a:off x="4152900" y="4419600"/>
            <a:ext cx="863600" cy="1651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1" i="0" u="none" strike="noStrike" kern="0" cap="none" spc="0" normalizeH="0" baseline="0" noProof="0">
                <a:ln>
                  <a:noFill/>
                </a:ln>
                <a:solidFill>
                  <a:srgbClr val="B4343A"/>
                </a:solidFill>
                <a:effectLst/>
                <a:uLnTx/>
                <a:uFillTx/>
                <a:latin typeface="Aptos"/>
                <a:ea typeface="Aptos"/>
                <a:cs typeface="Aptos"/>
                <a:sym typeface="Aptos"/>
              </a:rPr>
              <a:t>LEADERBOARD SCORE</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34" name="AutoShape 34"/>
          <p:cNvSpPr/>
          <p:nvPr/>
        </p:nvSpPr>
        <p:spPr>
          <a:xfrm>
            <a:off x="4152900" y="4699000"/>
            <a:ext cx="2413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1400" b="1" i="0" u="none" strike="noStrike" kern="0" cap="none" spc="0" normalizeH="0" baseline="0" noProof="0">
                <a:ln>
                  <a:noFill/>
                </a:ln>
                <a:solidFill>
                  <a:srgbClr val="16253F"/>
                </a:solidFill>
                <a:effectLst/>
                <a:uLnTx/>
                <a:uFillTx/>
                <a:latin typeface="Arial"/>
                <a:cs typeface="Arial"/>
                <a:sym typeface="Arial"/>
              </a:rPr>
              <a:t>Public: 3.81359 — Baseline benchmark.</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35" name="AutoShape 35"/>
          <p:cNvSpPr/>
          <p:nvPr/>
        </p:nvSpPr>
        <p:spPr>
          <a:xfrm>
            <a:off x="7353300" y="1257300"/>
            <a:ext cx="3911600" cy="1879600"/>
          </a:xfrm>
          <a:prstGeom prst="roundRect">
            <a:avLst>
              <a:gd name="adj" fmla="val 4054"/>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AutoShape 36"/>
          <p:cNvSpPr/>
          <p:nvPr/>
        </p:nvSpPr>
        <p:spPr>
          <a:xfrm>
            <a:off x="7594600" y="1498600"/>
            <a:ext cx="1054100" cy="1651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1" i="0" u="none" strike="noStrike" kern="0" cap="none" spc="0" normalizeH="0" baseline="0" noProof="0">
                <a:ln>
                  <a:noFill/>
                </a:ln>
                <a:solidFill>
                  <a:srgbClr val="B4343A"/>
                </a:solidFill>
                <a:effectLst/>
                <a:uLnTx/>
                <a:uFillTx/>
                <a:latin typeface="Aptos"/>
                <a:ea typeface="Aptos"/>
                <a:cs typeface="Aptos"/>
                <a:sym typeface="Aptos"/>
              </a:rPr>
              <a:t>WHY THIS BASELINE?</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37" name="AutoShape 37"/>
          <p:cNvSpPr/>
          <p:nvPr/>
        </p:nvSpPr>
        <p:spPr>
          <a:xfrm>
            <a:off x="7594600" y="1841500"/>
            <a:ext cx="3429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sz="1100" b="0" i="0" u="none" strike="noStrike" kern="0" cap="none" spc="0" normalizeH="0" baseline="0" noProof="0">
                <a:ln>
                  <a:noFill/>
                </a:ln>
                <a:solidFill>
                  <a:srgbClr val="404A58"/>
                </a:solidFill>
                <a:effectLst/>
                <a:uLnTx/>
                <a:uFillTx/>
                <a:latin typeface="Arial"/>
                <a:cs typeface="Arial"/>
                <a:sym typeface="Arial"/>
              </a:rPr>
              <a:t>BaselineCNN captures spatial patterns via convolutions. Serves as a reproducible benchmark before adding BN, Dropout2d, and a larger head in ImprovedCNN.</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38" name="AutoShape 38"/>
          <p:cNvSpPr/>
          <p:nvPr/>
        </p:nvSpPr>
        <p:spPr>
          <a:xfrm>
            <a:off x="7353300" y="3403600"/>
            <a:ext cx="3911600" cy="2413000"/>
          </a:xfrm>
          <a:prstGeom prst="roundRect">
            <a:avLst>
              <a:gd name="adj" fmla="val 3157"/>
            </a:avLst>
          </a:prstGeom>
          <a:solidFill>
            <a:srgbClr val="F2F5F9">
              <a:alpha val="100000"/>
            </a:srgbClr>
          </a:solidFill>
          <a:ln w="12700" cap="flat" cmpd="sng">
            <a:solidFill>
              <a:srgbClr val="B8BDC7">
                <a:alpha val="100000"/>
              </a:srgbClr>
            </a:solidFill>
            <a:prstDash val="dash"/>
            <a:miter lim="10000000"/>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AutoShape 39"/>
          <p:cNvSpPr/>
          <p:nvPr/>
        </p:nvSpPr>
        <p:spPr>
          <a:xfrm>
            <a:off x="7518400" y="3568700"/>
            <a:ext cx="3581400" cy="2032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16253F"/>
                </a:solidFill>
                <a:effectLst/>
                <a:uLnTx/>
                <a:uFillTx/>
                <a:latin typeface="Aptos"/>
                <a:ea typeface="Aptos"/>
                <a:cs typeface="Aptos"/>
                <a:sym typeface="Aptos"/>
              </a:rPr>
              <a:t>Interpretation</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40" name="AutoShape 40"/>
          <p:cNvSpPr/>
          <p:nvPr/>
        </p:nvSpPr>
        <p:spPr>
          <a:xfrm>
            <a:off x="7518400" y="3937000"/>
            <a:ext cx="3581400" cy="16510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just"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525C69"/>
                </a:solidFill>
                <a:effectLst/>
                <a:uLnTx/>
                <a:uFillTx/>
                <a:latin typeface="Aptos"/>
                <a:ea typeface="Aptos"/>
                <a:cs typeface="Aptos"/>
                <a:sym typeface="Aptos"/>
              </a:rPr>
              <a:t>Public RMSE 3.81 shows that a simple CNN already learns meaningful keypoint structure. Improvements via BN + Dropout2d + larger head should push this lower.cantly lower MSE to demonstrate effectiveness. The linear model serves as a sanity check to ensure data loading and pipeline are correct.</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41" name="AutoShape 41"/>
          <p:cNvSpPr/>
          <p:nvPr/>
        </p:nvSpPr>
        <p:spPr>
          <a:xfrm>
            <a:off x="11379200" y="6464300"/>
            <a:ext cx="406400" cy="165100"/>
          </a:xfrm>
          <a:prstGeom prst="roundRect">
            <a:avLst>
              <a:gd name="adj" fmla="val 0"/>
            </a:avLst>
          </a:prstGeom>
          <a:noFill/>
          <a:ln w="25400" cap="flat" cmpd="sng">
            <a:noFill/>
            <a:prstDash val="solid"/>
            <a:round/>
          </a:ln>
        </p:spPr>
        <p:txBody>
          <a:bodyPr vert="horz" wrap="square" lIns="0" tIns="0" rIns="0" bIns="0" rtlCol="0" anchor="ctr" anchorCtr="0"/>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697386"/>
                </a:solidFill>
                <a:effectLst/>
                <a:uLnTx/>
                <a:uFillTx/>
                <a:latin typeface="Aptos"/>
                <a:ea typeface="Aptos"/>
                <a:cs typeface="Aptos"/>
                <a:sym typeface="Aptos"/>
              </a:rPr>
              <a:t>03</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E"/>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4343A"/>
          </a:solidFill>
          <a:ln w="12700">
            <a:solidFill>
              <a:srgbClr val="B4343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3" name="Shape 1"/>
          <p:cNvSpPr/>
          <p:nvPr/>
        </p:nvSpPr>
        <p:spPr>
          <a:xfrm>
            <a:off x="11539728" y="0"/>
            <a:ext cx="651967" cy="1005840"/>
          </a:xfrm>
          <a:prstGeom prst="rect">
            <a:avLst/>
          </a:prstGeom>
          <a:solidFill>
            <a:srgbClr val="B4343A"/>
          </a:solidFill>
          <a:ln w="12700">
            <a:solidFill>
              <a:srgbClr val="B4343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4" name="Shape 2"/>
          <p:cNvSpPr/>
          <p:nvPr/>
        </p:nvSpPr>
        <p:spPr>
          <a:xfrm>
            <a:off x="11128248" y="0"/>
            <a:ext cx="411480" cy="420624"/>
          </a:xfrm>
          <a:prstGeom prst="rect">
            <a:avLst/>
          </a:prstGeom>
          <a:solidFill>
            <a:srgbClr val="16253F"/>
          </a:solidFill>
          <a:ln w="12700">
            <a:solidFill>
              <a:srgbClr val="16253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5" name="Text 3"/>
          <p:cNvSpPr/>
          <p:nvPr/>
        </p:nvSpPr>
        <p:spPr>
          <a:xfrm>
            <a:off x="502920" y="292608"/>
            <a:ext cx="2926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B4343A"/>
                </a:solidFill>
                <a:effectLst/>
                <a:uLnTx/>
                <a:uFillTx/>
                <a:latin typeface="Aptos" pitchFamily="34" charset="0"/>
                <a:ea typeface="Aptos" pitchFamily="34" charset="-122"/>
                <a:cs typeface="Aptos" pitchFamily="34" charset="-120"/>
              </a:rPr>
              <a:t>FINAL PRESENTATION TEMPLATE</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Text 4"/>
          <p:cNvSpPr/>
          <p:nvPr/>
        </p:nvSpPr>
        <p:spPr>
          <a:xfrm>
            <a:off x="502920" y="512064"/>
            <a:ext cx="809244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600" b="1" i="0" u="none" strike="noStrike" kern="1200" cap="none" spc="0" normalizeH="0" baseline="0" noProof="0" dirty="0">
                <a:ln>
                  <a:noFill/>
                </a:ln>
                <a:solidFill>
                  <a:srgbClr val="16253F"/>
                </a:solidFill>
                <a:effectLst/>
                <a:uLnTx/>
                <a:uFillTx/>
                <a:latin typeface="Aptos Display" pitchFamily="34" charset="0"/>
                <a:ea typeface="Aptos Display" pitchFamily="34" charset="-122"/>
                <a:cs typeface="Aptos Display" pitchFamily="34" charset="-120"/>
              </a:rPr>
              <a:t>4</a:t>
            </a:r>
            <a:r>
              <a:rPr kumimoji="0" lang="en-US" sz="2600" b="1" i="0" u="none" strike="noStrike" kern="1200" cap="none" spc="0" normalizeH="0" baseline="0" noProof="0" dirty="0">
                <a:ln>
                  <a:noFill/>
                </a:ln>
                <a:solidFill>
                  <a:srgbClr val="16253F"/>
                </a:solidFill>
                <a:effectLst/>
                <a:uLnTx/>
                <a:uFillTx/>
                <a:latin typeface="Aptos Display" pitchFamily="34" charset="0"/>
                <a:ea typeface="Aptos Display" pitchFamily="34" charset="-122"/>
                <a:cs typeface="Aptos Display" pitchFamily="34" charset="-120"/>
              </a:rPr>
              <a:t>. Model Improvements</a:t>
            </a:r>
            <a:endParaRPr kumimoji="0" lang="en-US" sz="26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502920" y="6437376"/>
            <a:ext cx="11155680" cy="0"/>
          </a:xfrm>
          <a:prstGeom prst="line">
            <a:avLst/>
          </a:prstGeom>
          <a:noFill/>
          <a:ln w="12700">
            <a:solidFill>
              <a:srgbClr val="D5CC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8" name="Text 6"/>
          <p:cNvSpPr/>
          <p:nvPr/>
        </p:nvSpPr>
        <p:spPr>
          <a:xfrm>
            <a:off x="530352" y="6473952"/>
            <a:ext cx="649224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97386"/>
                </a:solidFill>
                <a:effectLst/>
                <a:uLnTx/>
                <a:uFillTx/>
                <a:latin typeface="Aptos" pitchFamily="34" charset="0"/>
                <a:ea typeface="Aptos" pitchFamily="34" charset="-122"/>
                <a:cs typeface="Aptos" pitchFamily="34" charset="-120"/>
              </a:rPr>
              <a:t>SDSC8007 • Mini Project</a:t>
            </a:r>
            <a:endParaRPr kumimoji="0" lang="en-US" sz="8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9372600" y="292608"/>
            <a:ext cx="1645920" cy="256032"/>
          </a:xfrm>
          <a:prstGeom prst="roundRect">
            <a:avLst>
              <a:gd name="adj" fmla="val 21429"/>
            </a:avLst>
          </a:prstGeom>
          <a:solidFill>
            <a:srgbClr val="FFFCF7"/>
          </a:solidFill>
          <a:ln w="12700">
            <a:solidFill>
              <a:srgbClr val="EDE2D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0" name="Text 8"/>
          <p:cNvSpPr/>
          <p:nvPr/>
        </p:nvSpPr>
        <p:spPr>
          <a:xfrm>
            <a:off x="9445752" y="333756"/>
            <a:ext cx="1499616" cy="12801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697386"/>
                </a:solidFill>
                <a:effectLst/>
                <a:uLnTx/>
                <a:uFillTx/>
                <a:latin typeface="Aptos" pitchFamily="34" charset="0"/>
                <a:ea typeface="Aptos" pitchFamily="34" charset="-122"/>
                <a:cs typeface="Aptos" pitchFamily="34" charset="-120"/>
              </a:rPr>
              <a:t>SHOW REASONING, NOT JUST A SCORE</a:t>
            </a:r>
            <a:endParaRPr kumimoji="0" lang="en-US" sz="82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Shape 9"/>
          <p:cNvSpPr/>
          <p:nvPr/>
        </p:nvSpPr>
        <p:spPr>
          <a:xfrm>
            <a:off x="694944" y="1298448"/>
            <a:ext cx="2743200" cy="4407408"/>
          </a:xfrm>
          <a:prstGeom prst="roundRect">
            <a:avLst>
              <a:gd name="adj" fmla="val 2667"/>
            </a:avLst>
          </a:prstGeom>
          <a:solidFill>
            <a:srgbClr val="FFFCF7"/>
          </a:solidFill>
          <a:ln w="12700">
            <a:solidFill>
              <a:srgbClr val="D5CC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2" name="Shape 10"/>
          <p:cNvSpPr/>
          <p:nvPr/>
        </p:nvSpPr>
        <p:spPr>
          <a:xfrm>
            <a:off x="694944" y="1298448"/>
            <a:ext cx="2743200" cy="475488"/>
          </a:xfrm>
          <a:prstGeom prst="rect">
            <a:avLst/>
          </a:prstGeom>
          <a:solidFill>
            <a:srgbClr val="B4343A"/>
          </a:solidFill>
          <a:ln w="12700">
            <a:solidFill>
              <a:srgbClr val="B4343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13" name="Text 11"/>
          <p:cNvSpPr/>
          <p:nvPr/>
        </p:nvSpPr>
        <p:spPr>
          <a:xfrm>
            <a:off x="859536" y="1444752"/>
            <a:ext cx="233172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Improvement A</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2"/>
          <p:cNvSpPr/>
          <p:nvPr/>
        </p:nvSpPr>
        <p:spPr>
          <a:xfrm>
            <a:off x="896112" y="1965960"/>
            <a:ext cx="64008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B4343A"/>
                </a:solidFill>
                <a:effectLst/>
                <a:uLnTx/>
                <a:uFillTx/>
                <a:latin typeface="Aptos" pitchFamily="34" charset="0"/>
                <a:ea typeface="Aptos" pitchFamily="34" charset="-122"/>
                <a:cs typeface="Aptos" pitchFamily="34" charset="-120"/>
              </a:rPr>
              <a:t>HYPOTHESIS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Text 13"/>
          <p:cNvSpPr/>
          <p:nvPr/>
        </p:nvSpPr>
        <p:spPr>
          <a:xfrm>
            <a:off x="896112" y="2212848"/>
            <a:ext cx="2331720" cy="475488"/>
          </a:xfrm>
          <a:prstGeom prst="rect">
            <a:avLst/>
          </a:prstGeom>
          <a:noFill/>
          <a:ln/>
        </p:spPr>
        <p:txBody>
          <a:bodyPr wrap="square" lIns="381" tIns="381" rIns="381" bIns="381"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Stabilize training and improve generalization.</a:t>
            </a:r>
            <a:endParaRPr kumimoji="0" lang="en-US" sz="105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Text 14"/>
          <p:cNvSpPr/>
          <p:nvPr/>
        </p:nvSpPr>
        <p:spPr>
          <a:xfrm>
            <a:off x="896112" y="2852928"/>
            <a:ext cx="77724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B4343A"/>
                </a:solidFill>
                <a:effectLst/>
                <a:uLnTx/>
                <a:uFillTx/>
                <a:latin typeface="Aptos" pitchFamily="34" charset="0"/>
                <a:ea typeface="Aptos" pitchFamily="34" charset="-122"/>
                <a:cs typeface="Aptos" pitchFamily="34" charset="-120"/>
              </a:rPr>
              <a:t>IMPLEMENTATION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896112" y="3108960"/>
            <a:ext cx="2331720" cy="694944"/>
          </a:xfrm>
          <a:prstGeom prst="rect">
            <a:avLst/>
          </a:prstGeom>
          <a:noFill/>
          <a:ln/>
        </p:spPr>
        <p:txBody>
          <a:bodyPr wrap="square" lIns="381" tIns="381" rIns="381" bIns="381"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Add BatchNorm2d after conv layers (</a:t>
            </a:r>
            <a:r>
              <a:rPr kumimoji="0" lang="en-US" altLang="zh-CN" sz="105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Conv→BN→ReLU</a:t>
            </a:r>
            <a:r>
              <a:rPr kumimoji="0" lang="en-US" altLang="zh-CN" sz="10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t>
            </a:r>
          </a:p>
        </p:txBody>
      </p:sp>
      <p:sp>
        <p:nvSpPr>
          <p:cNvPr id="18" name="Text 16"/>
          <p:cNvSpPr/>
          <p:nvPr/>
        </p:nvSpPr>
        <p:spPr>
          <a:xfrm>
            <a:off x="896112" y="3950208"/>
            <a:ext cx="41148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B4343A"/>
                </a:solidFill>
                <a:effectLst/>
                <a:uLnTx/>
                <a:uFillTx/>
                <a:latin typeface="Aptos" pitchFamily="34" charset="0"/>
                <a:ea typeface="Aptos" pitchFamily="34" charset="-122"/>
                <a:cs typeface="Aptos" pitchFamily="34" charset="-120"/>
              </a:rPr>
              <a:t>EFFECT</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Text 17"/>
          <p:cNvSpPr/>
          <p:nvPr/>
        </p:nvSpPr>
        <p:spPr>
          <a:xfrm>
            <a:off x="896112" y="4206240"/>
            <a:ext cx="2331720" cy="530352"/>
          </a:xfrm>
          <a:prstGeom prst="rect">
            <a:avLst/>
          </a:prstGeom>
          <a:noFill/>
          <a:ln/>
        </p:spPr>
        <p:txBody>
          <a:bodyPr wrap="square" lIns="381" tIns="381" rIns="381" bIns="381"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Faster/more stable convergence; less fold-to-fold variance; often lower </a:t>
            </a:r>
            <a:r>
              <a:rPr kumimoji="0" lang="en-US" altLang="zh-CN" sz="105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val</a:t>
            </a:r>
            <a:r>
              <a:rPr kumimoji="0" lang="en-US" altLang="zh-CN" sz="10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RMSE.</a:t>
            </a:r>
          </a:p>
        </p:txBody>
      </p:sp>
      <p:sp>
        <p:nvSpPr>
          <p:cNvPr id="20" name="Shape 18"/>
          <p:cNvSpPr/>
          <p:nvPr/>
        </p:nvSpPr>
        <p:spPr>
          <a:xfrm>
            <a:off x="896112" y="4956048"/>
            <a:ext cx="2331720" cy="438912"/>
          </a:xfrm>
          <a:prstGeom prst="roundRect">
            <a:avLst>
              <a:gd name="adj" fmla="val 16667"/>
            </a:avLst>
          </a:prstGeom>
          <a:solidFill>
            <a:srgbClr val="FFFFFF"/>
          </a:solidFill>
          <a:ln w="12700">
            <a:solidFill>
              <a:srgbClr val="D5CC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21" name="Text 19"/>
          <p:cNvSpPr/>
          <p:nvPr/>
        </p:nvSpPr>
        <p:spPr>
          <a:xfrm>
            <a:off x="1042416" y="5065776"/>
            <a:ext cx="1993392" cy="128016"/>
          </a:xfrm>
          <a:prstGeom prst="rect">
            <a:avLst/>
          </a:prstGeom>
          <a:noFill/>
          <a:ln/>
        </p:spPr>
        <p:txBody>
          <a:bodyPr wrap="square" lIns="381" tIns="381" rIns="381" bIns="381" rtlCol="0" anchor="ctr"/>
          <a:lstStyle/>
          <a:p>
            <a:pPr lvl="0">
              <a:buClrTx/>
            </a:pPr>
            <a:r>
              <a:rPr lang="en-US" altLang="zh-CN" sz="1080" i="1" kern="1200" dirty="0">
                <a:solidFill>
                  <a:srgbClr val="697386"/>
                </a:solidFill>
                <a:latin typeface="Aptos" pitchFamily="34" charset="0"/>
              </a:rPr>
              <a:t>+0.037</a:t>
            </a:r>
            <a:endParaRPr lang="en-US" sz="1080" i="1" kern="1200" dirty="0">
              <a:solidFill>
                <a:srgbClr val="697386"/>
              </a:solidFill>
              <a:latin typeface="Aptos" pitchFamily="34" charset="0"/>
            </a:endParaRPr>
          </a:p>
        </p:txBody>
      </p:sp>
      <p:sp>
        <p:nvSpPr>
          <p:cNvPr id="22" name="Shape 20"/>
          <p:cNvSpPr/>
          <p:nvPr/>
        </p:nvSpPr>
        <p:spPr>
          <a:xfrm>
            <a:off x="4050792" y="1298448"/>
            <a:ext cx="2743200" cy="4407408"/>
          </a:xfrm>
          <a:prstGeom prst="roundRect">
            <a:avLst>
              <a:gd name="adj" fmla="val 2667"/>
            </a:avLst>
          </a:prstGeom>
          <a:solidFill>
            <a:srgbClr val="FFFCF7"/>
          </a:solidFill>
          <a:ln w="12700">
            <a:solidFill>
              <a:srgbClr val="D5CC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endParaRPr>
          </a:p>
        </p:txBody>
      </p:sp>
      <p:sp>
        <p:nvSpPr>
          <p:cNvPr id="23" name="Shape 21"/>
          <p:cNvSpPr/>
          <p:nvPr/>
        </p:nvSpPr>
        <p:spPr>
          <a:xfrm>
            <a:off x="4050792" y="1298448"/>
            <a:ext cx="2743200" cy="475488"/>
          </a:xfrm>
          <a:prstGeom prst="rect">
            <a:avLst/>
          </a:prstGeom>
          <a:solidFill>
            <a:srgbClr val="16253F"/>
          </a:solidFill>
          <a:ln w="12700">
            <a:solidFill>
              <a:srgbClr val="16253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24" name="Text 22"/>
          <p:cNvSpPr/>
          <p:nvPr/>
        </p:nvSpPr>
        <p:spPr>
          <a:xfrm>
            <a:off x="4215384" y="1444752"/>
            <a:ext cx="233172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Improvement B</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Text 23"/>
          <p:cNvSpPr/>
          <p:nvPr/>
        </p:nvSpPr>
        <p:spPr>
          <a:xfrm>
            <a:off x="4251960" y="1965960"/>
            <a:ext cx="64008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B4343A"/>
                </a:solidFill>
                <a:effectLst/>
                <a:uLnTx/>
                <a:uFillTx/>
                <a:latin typeface="Aptos" pitchFamily="34" charset="0"/>
                <a:ea typeface="Aptos" pitchFamily="34" charset="-122"/>
                <a:cs typeface="Aptos" pitchFamily="34" charset="-120"/>
              </a:rPr>
              <a:t>HYPOTHESIS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Text 24"/>
          <p:cNvSpPr/>
          <p:nvPr/>
        </p:nvSpPr>
        <p:spPr>
          <a:xfrm>
            <a:off x="4251960" y="2212848"/>
            <a:ext cx="2331720" cy="475488"/>
          </a:xfrm>
          <a:prstGeom prst="rect">
            <a:avLst/>
          </a:prstGeom>
          <a:noFill/>
          <a:ln/>
        </p:spPr>
        <p:txBody>
          <a:bodyPr wrap="square" lIns="381" tIns="381" rIns="381" bIns="381"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Reduce overfitting and improve public score robustness.</a:t>
            </a:r>
            <a:endParaRPr kumimoji="0" lang="en-US" sz="1050"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Text 25"/>
          <p:cNvSpPr/>
          <p:nvPr/>
        </p:nvSpPr>
        <p:spPr>
          <a:xfrm>
            <a:off x="4251960" y="2852928"/>
            <a:ext cx="77724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B4343A"/>
                </a:solidFill>
                <a:effectLst/>
                <a:uLnTx/>
                <a:uFillTx/>
                <a:latin typeface="Aptos" pitchFamily="34" charset="0"/>
                <a:ea typeface="Aptos" pitchFamily="34" charset="-122"/>
                <a:cs typeface="Aptos" pitchFamily="34" charset="-120"/>
              </a:rPr>
              <a:t>IMPLEMENTATION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Text 26"/>
          <p:cNvSpPr/>
          <p:nvPr/>
        </p:nvSpPr>
        <p:spPr>
          <a:xfrm>
            <a:off x="4251960" y="3108960"/>
            <a:ext cx="2331720" cy="694944"/>
          </a:xfrm>
          <a:prstGeom prst="rect">
            <a:avLst/>
          </a:prstGeom>
          <a:noFill/>
          <a:ln/>
        </p:spPr>
        <p:txBody>
          <a:bodyPr wrap="square" lIns="381" tIns="381" rIns="381" bIns="381"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Add Dropout2d(0.15) in conv blocks; increase head dropout to 0.4/0.3.</a:t>
            </a:r>
          </a:p>
        </p:txBody>
      </p:sp>
      <p:sp>
        <p:nvSpPr>
          <p:cNvPr id="29" name="Text 27"/>
          <p:cNvSpPr/>
          <p:nvPr/>
        </p:nvSpPr>
        <p:spPr>
          <a:xfrm>
            <a:off x="4251960" y="3950208"/>
            <a:ext cx="41148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B4343A"/>
                </a:solidFill>
                <a:effectLst/>
                <a:uLnTx/>
                <a:uFillTx/>
                <a:latin typeface="Aptos" pitchFamily="34" charset="0"/>
                <a:ea typeface="Aptos" pitchFamily="34" charset="-122"/>
                <a:cs typeface="Aptos" pitchFamily="34" charset="-120"/>
              </a:rPr>
              <a:t>EFFECT</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Text 28"/>
          <p:cNvSpPr/>
          <p:nvPr/>
        </p:nvSpPr>
        <p:spPr>
          <a:xfrm>
            <a:off x="4251960" y="4206240"/>
            <a:ext cx="2331720" cy="530352"/>
          </a:xfrm>
          <a:prstGeom prst="rect">
            <a:avLst/>
          </a:prstGeom>
          <a:noFill/>
          <a:ln/>
        </p:spPr>
        <p:txBody>
          <a:bodyPr wrap="square" lIns="381" tIns="381" rIns="381" bIns="381"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Better generalization; more robust features; may slightly slow training but improves test performance.</a:t>
            </a:r>
            <a:endParaRPr kumimoji="0" lang="en-US" sz="105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Shape 29"/>
          <p:cNvSpPr/>
          <p:nvPr/>
        </p:nvSpPr>
        <p:spPr>
          <a:xfrm>
            <a:off x="4251960" y="4956048"/>
            <a:ext cx="2331720" cy="438912"/>
          </a:xfrm>
          <a:prstGeom prst="roundRect">
            <a:avLst>
              <a:gd name="adj" fmla="val 16667"/>
            </a:avLst>
          </a:prstGeom>
          <a:solidFill>
            <a:srgbClr val="FFFFFF"/>
          </a:solidFill>
          <a:ln w="12700">
            <a:solidFill>
              <a:srgbClr val="D5CC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32" name="Text 30"/>
          <p:cNvSpPr/>
          <p:nvPr/>
        </p:nvSpPr>
        <p:spPr>
          <a:xfrm>
            <a:off x="4398264" y="5065776"/>
            <a:ext cx="1993392" cy="128016"/>
          </a:xfrm>
          <a:prstGeom prst="rect">
            <a:avLst/>
          </a:prstGeom>
          <a:noFill/>
          <a:ln/>
        </p:spPr>
        <p:txBody>
          <a:bodyPr wrap="square" lIns="381" tIns="381" rIns="381" bIns="381" rtlCol="0" anchor="ctr"/>
          <a:lstStyle/>
          <a:p>
            <a:pPr lvl="0">
              <a:buClrTx/>
            </a:pPr>
            <a:r>
              <a:rPr lang="en-US" altLang="zh-CN" sz="1080" i="1" kern="1200" dirty="0">
                <a:solidFill>
                  <a:srgbClr val="697386"/>
                </a:solidFill>
                <a:latin typeface="Aptos" pitchFamily="34" charset="0"/>
              </a:rPr>
              <a:t>+0.149</a:t>
            </a:r>
            <a:endParaRPr lang="en-US" sz="1080" i="1" kern="1200" dirty="0">
              <a:solidFill>
                <a:srgbClr val="697386"/>
              </a:solidFill>
              <a:latin typeface="Aptos" pitchFamily="34" charset="0"/>
            </a:endParaRPr>
          </a:p>
        </p:txBody>
      </p:sp>
      <p:sp>
        <p:nvSpPr>
          <p:cNvPr id="33" name="Shape 31"/>
          <p:cNvSpPr/>
          <p:nvPr/>
        </p:nvSpPr>
        <p:spPr>
          <a:xfrm>
            <a:off x="7406640" y="1298448"/>
            <a:ext cx="2743200" cy="4407408"/>
          </a:xfrm>
          <a:prstGeom prst="roundRect">
            <a:avLst>
              <a:gd name="adj" fmla="val 2667"/>
            </a:avLst>
          </a:prstGeom>
          <a:solidFill>
            <a:srgbClr val="FFFCF7"/>
          </a:solidFill>
          <a:ln w="12700">
            <a:solidFill>
              <a:srgbClr val="D5CC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34" name="Shape 32"/>
          <p:cNvSpPr/>
          <p:nvPr/>
        </p:nvSpPr>
        <p:spPr>
          <a:xfrm>
            <a:off x="7406640" y="1298448"/>
            <a:ext cx="2743200" cy="475488"/>
          </a:xfrm>
          <a:prstGeom prst="rect">
            <a:avLst/>
          </a:prstGeom>
          <a:solidFill>
            <a:srgbClr val="16253F"/>
          </a:solidFill>
          <a:ln w="12700">
            <a:solidFill>
              <a:srgbClr val="16253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35" name="Text 33"/>
          <p:cNvSpPr/>
          <p:nvPr/>
        </p:nvSpPr>
        <p:spPr>
          <a:xfrm>
            <a:off x="7571232" y="1444752"/>
            <a:ext cx="233172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ptos" pitchFamily="34" charset="0"/>
                <a:ea typeface="Aptos" pitchFamily="34" charset="-122"/>
                <a:cs typeface="Aptos" pitchFamily="34" charset="-120"/>
              </a:rPr>
              <a:t>Improvement C</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Text 34"/>
          <p:cNvSpPr/>
          <p:nvPr/>
        </p:nvSpPr>
        <p:spPr>
          <a:xfrm>
            <a:off x="7607808" y="1965960"/>
            <a:ext cx="64008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B4343A"/>
                </a:solidFill>
                <a:effectLst/>
                <a:uLnTx/>
                <a:uFillTx/>
                <a:latin typeface="Aptos" pitchFamily="34" charset="0"/>
                <a:ea typeface="Aptos" pitchFamily="34" charset="-122"/>
                <a:cs typeface="Aptos" pitchFamily="34" charset="-120"/>
              </a:rPr>
              <a:t>HYPOTHESIS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37" name="Text 35"/>
          <p:cNvSpPr/>
          <p:nvPr/>
        </p:nvSpPr>
        <p:spPr>
          <a:xfrm>
            <a:off x="7607808" y="2212848"/>
            <a:ext cx="2331720" cy="475488"/>
          </a:xfrm>
          <a:prstGeom prst="rect">
            <a:avLst/>
          </a:prstGeom>
          <a:noFill/>
          <a:ln/>
        </p:spPr>
        <p:txBody>
          <a:bodyPr wrap="square" lIns="381" tIns="381" rIns="381" bIns="381"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More capacity helps predict 30 coordinates more accurately.</a:t>
            </a:r>
            <a:endParaRPr kumimoji="0" lang="en-US" sz="1050" b="0" i="0" u="none" strike="noStrike" kern="1200" cap="none" spc="0" normalizeH="0" baseline="0" noProof="0" dirty="0">
              <a:ln>
                <a:noFill/>
              </a:ln>
              <a:solidFill>
                <a:prstClr val="black"/>
              </a:solidFill>
              <a:effectLst/>
              <a:uLnTx/>
              <a:uFillTx/>
              <a:latin typeface="Aptos"/>
              <a:ea typeface="+mn-ea"/>
              <a:cs typeface="+mn-cs"/>
            </a:endParaRPr>
          </a:p>
        </p:txBody>
      </p:sp>
      <p:sp>
        <p:nvSpPr>
          <p:cNvPr id="38" name="Text 36"/>
          <p:cNvSpPr/>
          <p:nvPr/>
        </p:nvSpPr>
        <p:spPr>
          <a:xfrm>
            <a:off x="7607808" y="2852928"/>
            <a:ext cx="77724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B4343A"/>
                </a:solidFill>
                <a:effectLst/>
                <a:uLnTx/>
                <a:uFillTx/>
                <a:latin typeface="Aptos" pitchFamily="34" charset="0"/>
                <a:ea typeface="Aptos" pitchFamily="34" charset="-122"/>
                <a:cs typeface="Aptos" pitchFamily="34" charset="-120"/>
              </a:rPr>
              <a:t>IMPLEMENTATION</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39" name="Text 37"/>
          <p:cNvSpPr/>
          <p:nvPr/>
        </p:nvSpPr>
        <p:spPr>
          <a:xfrm>
            <a:off x="7607808" y="3108960"/>
            <a:ext cx="2331720" cy="694944"/>
          </a:xfrm>
          <a:prstGeom prst="rect">
            <a:avLst/>
          </a:prstGeom>
          <a:noFill/>
          <a:ln/>
        </p:spPr>
        <p:txBody>
          <a:bodyPr wrap="square" lIns="381" tIns="381" rIns="381" bIns="381"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Head from 512→out to 1024→512→out.</a:t>
            </a:r>
            <a:endParaRPr kumimoji="0" lang="en-US" sz="1050" b="0" i="0" u="none" strike="noStrike" kern="1200" cap="none" spc="0" normalizeH="0" baseline="0" noProof="0" dirty="0">
              <a:ln>
                <a:noFill/>
              </a:ln>
              <a:solidFill>
                <a:prstClr val="black"/>
              </a:solidFill>
              <a:effectLst/>
              <a:uLnTx/>
              <a:uFillTx/>
              <a:latin typeface="Aptos"/>
              <a:ea typeface="+mn-ea"/>
              <a:cs typeface="+mn-cs"/>
            </a:endParaRPr>
          </a:p>
        </p:txBody>
      </p:sp>
      <p:sp>
        <p:nvSpPr>
          <p:cNvPr id="40" name="Text 38"/>
          <p:cNvSpPr/>
          <p:nvPr/>
        </p:nvSpPr>
        <p:spPr>
          <a:xfrm>
            <a:off x="7607808" y="3950208"/>
            <a:ext cx="41148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B4343A"/>
                </a:solidFill>
                <a:effectLst/>
                <a:uLnTx/>
                <a:uFillTx/>
                <a:latin typeface="Aptos" pitchFamily="34" charset="0"/>
                <a:ea typeface="Aptos" pitchFamily="34" charset="-122"/>
                <a:cs typeface="Aptos" pitchFamily="34" charset="-120"/>
              </a:rPr>
              <a:t>EFFECT</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1" name="Text 39"/>
          <p:cNvSpPr/>
          <p:nvPr/>
        </p:nvSpPr>
        <p:spPr>
          <a:xfrm>
            <a:off x="7607808" y="4206240"/>
            <a:ext cx="2331720" cy="530352"/>
          </a:xfrm>
          <a:prstGeom prst="rect">
            <a:avLst/>
          </a:prstGeom>
          <a:noFill/>
          <a:ln/>
        </p:spPr>
        <p:txBody>
          <a:bodyPr wrap="square" lIns="381" tIns="381" rIns="381" bIns="381"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Better nonlinear fit for multi-</a:t>
            </a:r>
            <a:r>
              <a:rPr kumimoji="0" lang="en-US" altLang="zh-CN" sz="105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keypoint</a:t>
            </a:r>
            <a:r>
              <a:rPr kumimoji="0" lang="en-US" altLang="zh-CN" sz="10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regression; improved precision on harder </a:t>
            </a:r>
            <a:r>
              <a:rPr kumimoji="0" lang="en-US" altLang="zh-CN" sz="1050" b="0" i="0" u="none" strike="noStrike" kern="1200" cap="none" spc="0" normalizeH="0" baseline="0" noProof="0" dirty="0" err="1">
                <a:ln>
                  <a:noFill/>
                </a:ln>
                <a:solidFill>
                  <a:prstClr val="black"/>
                </a:solidFill>
                <a:effectLst/>
                <a:uLnTx/>
                <a:uFillTx/>
                <a:latin typeface="Aptos"/>
                <a:ea typeface="等线" panose="02010600030101010101" pitchFamily="2" charset="-122"/>
                <a:cs typeface="+mn-cs"/>
              </a:rPr>
              <a:t>keypoints</a:t>
            </a:r>
            <a:r>
              <a:rPr kumimoji="0" lang="en-US" altLang="zh-CN" sz="1050" b="0" i="0" u="none" strike="noStrike" kern="1200" cap="none" spc="0" normalizeH="0" baseline="0" noProof="0" dirty="0">
                <a:ln>
                  <a:noFill/>
                </a:ln>
                <a:solidFill>
                  <a:prstClr val="black"/>
                </a:solidFill>
                <a:effectLst/>
                <a:uLnTx/>
                <a:uFillTx/>
                <a:latin typeface="Aptos"/>
                <a:ea typeface="等线" panose="02010600030101010101" pitchFamily="2" charset="-122"/>
                <a:cs typeface="+mn-cs"/>
              </a:rPr>
              <a:t> (if regularized).</a:t>
            </a:r>
            <a:endParaRPr kumimoji="0" lang="en-US" sz="1050" b="0" i="0" u="none" strike="noStrike" kern="1200" cap="none" spc="0" normalizeH="0" baseline="0" noProof="0" dirty="0">
              <a:ln>
                <a:noFill/>
              </a:ln>
              <a:solidFill>
                <a:prstClr val="black"/>
              </a:solidFill>
              <a:effectLst/>
              <a:uLnTx/>
              <a:uFillTx/>
              <a:latin typeface="Aptos"/>
              <a:ea typeface="+mn-ea"/>
              <a:cs typeface="+mn-cs"/>
            </a:endParaRPr>
          </a:p>
        </p:txBody>
      </p:sp>
      <p:sp>
        <p:nvSpPr>
          <p:cNvPr id="42" name="Shape 40"/>
          <p:cNvSpPr/>
          <p:nvPr/>
        </p:nvSpPr>
        <p:spPr>
          <a:xfrm>
            <a:off x="7607808" y="4956048"/>
            <a:ext cx="2331720" cy="438912"/>
          </a:xfrm>
          <a:prstGeom prst="roundRect">
            <a:avLst>
              <a:gd name="adj" fmla="val 16667"/>
            </a:avLst>
          </a:prstGeom>
          <a:solidFill>
            <a:srgbClr val="FFFFFF"/>
          </a:solidFill>
          <a:ln w="12700">
            <a:solidFill>
              <a:srgbClr val="D5CC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43" name="Text 41"/>
          <p:cNvSpPr/>
          <p:nvPr/>
        </p:nvSpPr>
        <p:spPr>
          <a:xfrm>
            <a:off x="7754112" y="5065776"/>
            <a:ext cx="1993392" cy="128016"/>
          </a:xfrm>
          <a:prstGeom prst="rect">
            <a:avLst/>
          </a:prstGeom>
          <a:noFill/>
          <a:ln/>
        </p:spPr>
        <p:txBody>
          <a:bodyPr wrap="square" lIns="381" tIns="381" rIns="381" bIns="381" rtlCol="0" anchor="ctr"/>
          <a:lstStyle/>
          <a:p>
            <a:pPr>
              <a:buClrTx/>
            </a:pPr>
            <a:r>
              <a:rPr lang="en-US" altLang="zh-CN" sz="1080" i="1" kern="1200" dirty="0">
                <a:solidFill>
                  <a:srgbClr val="697386"/>
                </a:solidFill>
                <a:latin typeface="Aptos" pitchFamily="34" charset="0"/>
              </a:rPr>
              <a:t>+0.046</a:t>
            </a:r>
            <a:endParaRPr lang="en-US" sz="1080" i="1" kern="1200" dirty="0">
              <a:solidFill>
                <a:srgbClr val="697386"/>
              </a:solidFill>
              <a:latin typeface="Aptos" pitchFamily="34" charset="0"/>
            </a:endParaRPr>
          </a:p>
        </p:txBody>
      </p:sp>
      <p:sp>
        <p:nvSpPr>
          <p:cNvPr id="44" name="Shape 42"/>
          <p:cNvSpPr/>
          <p:nvPr/>
        </p:nvSpPr>
        <p:spPr>
          <a:xfrm>
            <a:off x="694944" y="5897880"/>
            <a:ext cx="9454896" cy="402336"/>
          </a:xfrm>
          <a:prstGeom prst="roundRect">
            <a:avLst>
              <a:gd name="adj" fmla="val 18182"/>
            </a:avLst>
          </a:prstGeom>
          <a:solidFill>
            <a:srgbClr val="F4EBDD"/>
          </a:solidFill>
          <a:ln w="12700">
            <a:solidFill>
              <a:srgbClr val="D5CC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45" name="Text 43"/>
          <p:cNvSpPr/>
          <p:nvPr/>
        </p:nvSpPr>
        <p:spPr>
          <a:xfrm>
            <a:off x="896112" y="6007608"/>
            <a:ext cx="9052560" cy="128016"/>
          </a:xfrm>
          <a:prstGeom prst="rect">
            <a:avLst/>
          </a:prstGeom>
          <a:noFill/>
          <a:ln/>
        </p:spPr>
        <p:txBody>
          <a:bodyPr wrap="square" lIns="381" tIns="381" rIns="381" bIns="381" rtlCol="0" anchor="ctr"/>
          <a:lstStyle/>
          <a:p>
            <a:pPr lvl="0">
              <a:buClrTx/>
            </a:pPr>
            <a:r>
              <a:rPr lang="en-US" altLang="zh-CN" sz="1100" dirty="0"/>
              <a:t>B adds </a:t>
            </a:r>
            <a:r>
              <a:rPr lang="en-US" altLang="zh-CN" sz="1100" dirty="0" err="1"/>
              <a:t>BatchNorm</a:t>
            </a:r>
            <a:r>
              <a:rPr lang="en-US" altLang="zh-CN" sz="1100" dirty="0"/>
              <a:t> + stronger Dropout to stabilize training and reduce overfitting, which most improves generalization.</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46" name="Shape 44"/>
          <p:cNvSpPr/>
          <p:nvPr/>
        </p:nvSpPr>
        <p:spPr>
          <a:xfrm>
            <a:off x="10442448" y="3493008"/>
            <a:ext cx="530352" cy="0"/>
          </a:xfrm>
          <a:prstGeom prst="line">
            <a:avLst/>
          </a:prstGeom>
          <a:noFill/>
          <a:ln w="19050">
            <a:solidFill>
              <a:srgbClr val="B4343A"/>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tos"/>
              <a:ea typeface="等线" panose="02010600030101010101" pitchFamily="2" charset="-122"/>
              <a:cs typeface="+mn-cs"/>
            </a:endParaRPr>
          </a:p>
        </p:txBody>
      </p:sp>
      <p:sp>
        <p:nvSpPr>
          <p:cNvPr id="47" name="Text 45"/>
          <p:cNvSpPr/>
          <p:nvPr/>
        </p:nvSpPr>
        <p:spPr>
          <a:xfrm>
            <a:off x="10735056" y="3255264"/>
            <a:ext cx="868680"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B4343A"/>
                </a:solidFill>
                <a:effectLst/>
                <a:uLnTx/>
                <a:uFillTx/>
                <a:latin typeface="Aptos" pitchFamily="34" charset="0"/>
                <a:ea typeface="Aptos" pitchFamily="34" charset="-122"/>
                <a:cs typeface="Aptos" pitchFamily="34" charset="-120"/>
              </a:rPr>
              <a:t>Best model</a:t>
            </a:r>
            <a:endParaRPr kumimoji="0" lang="en-US" sz="1050" b="0" i="0" u="none" strike="noStrike" kern="1200" cap="none" spc="0" normalizeH="0" baseline="0" noProof="0" dirty="0">
              <a:ln>
                <a:noFill/>
              </a:ln>
              <a:solidFill>
                <a:prstClr val="black"/>
              </a:solidFill>
              <a:effectLst/>
              <a:uLnTx/>
              <a:uFillTx/>
              <a:latin typeface="Aptos"/>
              <a:ea typeface="+mn-ea"/>
              <a:cs typeface="+mn-cs"/>
            </a:endParaRPr>
          </a:p>
        </p:txBody>
      </p:sp>
      <p:sp>
        <p:nvSpPr>
          <p:cNvPr id="48" name="Text 46"/>
          <p:cNvSpPr/>
          <p:nvPr/>
        </p:nvSpPr>
        <p:spPr>
          <a:xfrm>
            <a:off x="11384280" y="6464808"/>
            <a:ext cx="411480" cy="16459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97386"/>
                </a:solidFill>
                <a:effectLst/>
                <a:uLnTx/>
                <a:uFillTx/>
                <a:latin typeface="Aptos" pitchFamily="34" charset="0"/>
                <a:ea typeface="Aptos" pitchFamily="34" charset="-122"/>
                <a:cs typeface="Aptos" pitchFamily="34" charset="-120"/>
              </a:rPr>
              <a:t>0</a:t>
            </a:r>
            <a:r>
              <a:rPr kumimoji="0" lang="en-US" altLang="zh-CN" sz="850" b="0" i="0" u="none" strike="noStrike" kern="1200" cap="none" spc="0" normalizeH="0" baseline="0" noProof="0" dirty="0">
                <a:ln>
                  <a:noFill/>
                </a:ln>
                <a:solidFill>
                  <a:srgbClr val="697386"/>
                </a:solidFill>
                <a:effectLst/>
                <a:uLnTx/>
                <a:uFillTx/>
                <a:latin typeface="Aptos" pitchFamily="34" charset="0"/>
                <a:ea typeface="Aptos" pitchFamily="34" charset="-122"/>
                <a:cs typeface="Aptos" pitchFamily="34" charset="-120"/>
              </a:rPr>
              <a:t>6</a:t>
            </a:r>
            <a:endParaRPr kumimoji="0" lang="en-US" sz="8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65100" cy="68580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11544300" y="0"/>
            <a:ext cx="647700" cy="10033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1125200" y="0"/>
            <a:ext cx="406400" cy="419100"/>
          </a:xfrm>
          <a:prstGeom prst="roundRect">
            <a:avLst>
              <a:gd name="adj" fmla="val 0"/>
            </a:avLst>
          </a:prstGeom>
          <a:solidFill>
            <a:srgbClr val="16253F">
              <a:alpha val="100000"/>
            </a:srgbClr>
          </a:solidFill>
          <a:ln w="12700" cap="flat" cmpd="sng">
            <a:solidFill>
              <a:srgbClr val="16253F">
                <a:alpha val="0"/>
              </a:srgbClr>
            </a:solidFill>
            <a:prstDash val="solid"/>
            <a:miter lim="10000000"/>
          </a:ln>
        </p:spPr>
        <p:txBody>
          <a:bodyPr vert="horz" wrap="square" lIns="63500" tIns="63500" rIns="63500" bIns="63500" rtlCol="0" anchor="ctr"/>
          <a:lstStyle/>
          <a:p>
            <a:pPr algn="ctr">
              <a:defRPr/>
            </a:pPr>
            <a:endParaRPr/>
          </a:p>
        </p:txBody>
      </p:sp>
      <p:sp>
        <p:nvSpPr>
          <p:cNvPr id="5" name="AutoShape 5"/>
          <p:cNvSpPr/>
          <p:nvPr/>
        </p:nvSpPr>
        <p:spPr>
          <a:xfrm>
            <a:off x="508000" y="292100"/>
            <a:ext cx="2921000" cy="203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PROJECT RESULTS &amp; ANALYSIS</a:t>
            </a:r>
            <a:endParaRPr lang="en-US" sz="1100"/>
          </a:p>
        </p:txBody>
      </p:sp>
      <p:sp>
        <p:nvSpPr>
          <p:cNvPr id="6" name="AutoShape 6"/>
          <p:cNvSpPr/>
          <p:nvPr/>
        </p:nvSpPr>
        <p:spPr>
          <a:xfrm>
            <a:off x="508000" y="508000"/>
            <a:ext cx="8089900" cy="4699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600" b="1" i="0" u="none" strike="noStrike">
                <a:solidFill>
                  <a:srgbClr val="16253F"/>
                </a:solidFill>
                <a:latin typeface="Play"/>
                <a:ea typeface="Play"/>
                <a:cs typeface="Play"/>
                <a:sym typeface="Play"/>
              </a:rPr>
              <a:t>5. Final Results</a:t>
            </a:r>
            <a:endParaRPr lang="en-US" sz="1100"/>
          </a:p>
        </p:txBody>
      </p:sp>
      <p:cxnSp>
        <p:nvCxnSpPr>
          <p:cNvPr id="7" name="Connector 7"/>
          <p:cNvCxnSpPr/>
          <p:nvPr/>
        </p:nvCxnSpPr>
        <p:spPr>
          <a:xfrm>
            <a:off x="508000" y="6438900"/>
            <a:ext cx="11150607"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none" w="med" len="med"/>
          </a:ln>
        </p:spPr>
      </p:cxnSp>
      <p:sp>
        <p:nvSpPr>
          <p:cNvPr id="8" name="AutoShape 8"/>
          <p:cNvSpPr/>
          <p:nvPr/>
        </p:nvSpPr>
        <p:spPr>
          <a:xfrm>
            <a:off x="533400" y="6477000"/>
            <a:ext cx="64897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900" b="0" i="0" u="none" strike="noStrike">
                <a:solidFill>
                  <a:srgbClr val="697386"/>
                </a:solidFill>
                <a:latin typeface="Aptos"/>
                <a:ea typeface="Aptos"/>
                <a:cs typeface="Aptos"/>
                <a:sym typeface="Aptos"/>
              </a:rPr>
              <a:t>SDSC8007 • Mini Project • Facial Landmark Detection Challenge</a:t>
            </a:r>
            <a:endParaRPr lang="en-US" sz="1100"/>
          </a:p>
        </p:txBody>
      </p:sp>
      <p:sp>
        <p:nvSpPr>
          <p:cNvPr id="9" name="AutoShape 9"/>
          <p:cNvSpPr/>
          <p:nvPr/>
        </p:nvSpPr>
        <p:spPr>
          <a:xfrm>
            <a:off x="9372600" y="292100"/>
            <a:ext cx="1651000" cy="254000"/>
          </a:xfrm>
          <a:prstGeom prst="roundRect">
            <a:avLst>
              <a:gd name="adj" fmla="val 20000"/>
            </a:avLst>
          </a:prstGeom>
          <a:solidFill>
            <a:srgbClr val="FFFCF7">
              <a:alpha val="100000"/>
            </a:srgbClr>
          </a:solidFill>
          <a:ln w="12700" cap="flat" cmpd="sng">
            <a:solidFill>
              <a:srgbClr val="EDE2D3">
                <a:alpha val="100000"/>
              </a:srgbClr>
            </a:solidFill>
            <a:prstDash val="solid"/>
            <a:miter lim="10000000"/>
          </a:ln>
        </p:spPr>
        <p:txBody>
          <a:bodyPr vert="horz" wrap="square" lIns="63500" tIns="63500" rIns="63500" bIns="63500" rtlCol="0" anchor="ctr"/>
          <a:lstStyle/>
          <a:p>
            <a:pPr algn="ctr">
              <a:defRPr/>
            </a:pPr>
            <a:endParaRPr/>
          </a:p>
        </p:txBody>
      </p:sp>
      <p:sp>
        <p:nvSpPr>
          <p:cNvPr id="10" name="AutoShape 10"/>
          <p:cNvSpPr/>
          <p:nvPr/>
        </p:nvSpPr>
        <p:spPr>
          <a:xfrm>
            <a:off x="9448800" y="330200"/>
            <a:ext cx="1498600" cy="127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800" b="1" i="0" u="none" strike="noStrike">
                <a:solidFill>
                  <a:srgbClr val="697386"/>
                </a:solidFill>
                <a:latin typeface="Aptos"/>
                <a:ea typeface="Aptos"/>
                <a:cs typeface="Aptos"/>
                <a:sym typeface="Aptos"/>
              </a:rPr>
              <a:t>PERFORMANCE REVIEW</a:t>
            </a:r>
            <a:endParaRPr lang="en-US" sz="1100"/>
          </a:p>
        </p:txBody>
      </p:sp>
      <p:sp>
        <p:nvSpPr>
          <p:cNvPr id="11" name="AutoShape 11"/>
          <p:cNvSpPr/>
          <p:nvPr/>
        </p:nvSpPr>
        <p:spPr>
          <a:xfrm>
            <a:off x="698500" y="1244600"/>
            <a:ext cx="2755900" cy="1993900"/>
          </a:xfrm>
          <a:prstGeom prst="roundRect">
            <a:avLst>
              <a:gd name="adj" fmla="val 3821"/>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15" name="AutoShape 15"/>
          <p:cNvSpPr/>
          <p:nvPr/>
        </p:nvSpPr>
        <p:spPr>
          <a:xfrm>
            <a:off x="3670300" y="1244600"/>
            <a:ext cx="3822700" cy="1993900"/>
          </a:xfrm>
          <a:prstGeom prst="roundRect">
            <a:avLst>
              <a:gd name="adj" fmla="val 3821"/>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16" name="AutoShape 16"/>
          <p:cNvSpPr/>
          <p:nvPr/>
        </p:nvSpPr>
        <p:spPr>
          <a:xfrm>
            <a:off x="3911600" y="1422400"/>
            <a:ext cx="1524000" cy="228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dirty="0">
                <a:solidFill>
                  <a:srgbClr val="B4343A"/>
                </a:solidFill>
                <a:latin typeface="Aptos"/>
                <a:ea typeface="Aptos"/>
                <a:cs typeface="Aptos"/>
                <a:sym typeface="Aptos"/>
              </a:rPr>
              <a:t>TOP-LEVEL TARGET</a:t>
            </a:r>
            <a:endParaRPr lang="en-US" sz="1100" dirty="0"/>
          </a:p>
        </p:txBody>
      </p:sp>
      <p:sp>
        <p:nvSpPr>
          <p:cNvPr id="17" name="AutoShape 17"/>
          <p:cNvSpPr/>
          <p:nvPr/>
        </p:nvSpPr>
        <p:spPr>
          <a:xfrm>
            <a:off x="3911600" y="1841500"/>
            <a:ext cx="3365500" cy="12065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08333"/>
              </a:lnSpc>
              <a:defRPr/>
            </a:pPr>
            <a:r>
              <a:rPr lang="en-US" altLang="zh-CN" sz="1100" dirty="0">
                <a:solidFill>
                  <a:srgbClr val="3C3C3C"/>
                </a:solidFill>
                <a:latin typeface="Aptos"/>
                <a:ea typeface="Aptos"/>
                <a:cs typeface="Aptos"/>
                <a:sym typeface="Aptos"/>
              </a:rPr>
              <a:t>The </a:t>
            </a:r>
            <a:r>
              <a:rPr lang="en-US" altLang="zh-CN" sz="1100" dirty="0" err="1">
                <a:solidFill>
                  <a:srgbClr val="3C3C3C"/>
                </a:solidFill>
                <a:latin typeface="Aptos"/>
                <a:ea typeface="Aptos"/>
                <a:cs typeface="Aptos"/>
                <a:sym typeface="Aptos"/>
              </a:rPr>
              <a:t>ImprovedCNN</a:t>
            </a:r>
            <a:r>
              <a:rPr lang="en-US" altLang="zh-CN" sz="1100" dirty="0">
                <a:solidFill>
                  <a:srgbClr val="3C3C3C"/>
                </a:solidFill>
                <a:latin typeface="Aptos"/>
                <a:ea typeface="Aptos"/>
                <a:cs typeface="Aptos"/>
                <a:sym typeface="Aptos"/>
              </a:rPr>
              <a:t> with 5-Fold CV achieved a private score of 3.58178</a:t>
            </a:r>
            <a:r>
              <a:rPr lang="zh-CN" altLang="en-US" sz="1100" dirty="0">
                <a:solidFill>
                  <a:srgbClr val="3C3C3C"/>
                </a:solidFill>
                <a:latin typeface="Aptos"/>
                <a:ea typeface="Aptos"/>
                <a:cs typeface="Aptos"/>
                <a:sym typeface="Aptos"/>
              </a:rPr>
              <a:t>（</a:t>
            </a:r>
            <a:r>
              <a:rPr lang="en-US" altLang="zh-CN" sz="1100" dirty="0">
                <a:solidFill>
                  <a:srgbClr val="3C3C3C"/>
                </a:solidFill>
                <a:latin typeface="Aptos"/>
                <a:ea typeface="Aptos"/>
                <a:cs typeface="Aptos"/>
                <a:sym typeface="Aptos"/>
              </a:rPr>
              <a:t>TOP 85). Ensemble of 5 fold checkpoints reduces variance and improves generalization over single-fold </a:t>
            </a:r>
            <a:r>
              <a:rPr lang="en-US" altLang="zh-CN" sz="1100" dirty="0" err="1">
                <a:solidFill>
                  <a:srgbClr val="3C3C3C"/>
                </a:solidFill>
                <a:latin typeface="Aptos"/>
                <a:ea typeface="Aptos"/>
                <a:cs typeface="Aptos"/>
                <a:sym typeface="Aptos"/>
              </a:rPr>
              <a:t>training.rovement</a:t>
            </a:r>
            <a:r>
              <a:rPr lang="en-US" altLang="zh-CN" sz="1100" dirty="0">
                <a:solidFill>
                  <a:srgbClr val="3C3C3C"/>
                </a:solidFill>
                <a:latin typeface="Aptos"/>
                <a:ea typeface="Aptos"/>
                <a:cs typeface="Aptos"/>
                <a:sym typeface="Aptos"/>
              </a:rPr>
              <a:t> over the baseline model, but still has clear room for growth compared to the competition leaders (Top 5: 1.48413).</a:t>
            </a:r>
            <a:endParaRPr lang="en-US" altLang="zh-CN" sz="1100" dirty="0"/>
          </a:p>
        </p:txBody>
      </p:sp>
      <p:sp>
        <p:nvSpPr>
          <p:cNvPr id="18" name="AutoShape 18"/>
          <p:cNvSpPr/>
          <p:nvPr/>
        </p:nvSpPr>
        <p:spPr>
          <a:xfrm>
            <a:off x="7721600" y="1244600"/>
            <a:ext cx="3543300" cy="1993900"/>
          </a:xfrm>
          <a:prstGeom prst="roundRect">
            <a:avLst>
              <a:gd name="adj" fmla="val 3821"/>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19" name="AutoShape 19"/>
          <p:cNvSpPr/>
          <p:nvPr/>
        </p:nvSpPr>
        <p:spPr>
          <a:xfrm>
            <a:off x="7950200" y="1422400"/>
            <a:ext cx="1524000" cy="228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a:solidFill>
                  <a:srgbClr val="B4343A"/>
                </a:solidFill>
                <a:latin typeface="Aptos"/>
                <a:ea typeface="Aptos"/>
                <a:cs typeface="Aptos"/>
                <a:sym typeface="Aptos"/>
              </a:rPr>
              <a:t>KEY TAKEAWAY</a:t>
            </a:r>
            <a:endParaRPr lang="en-US" sz="1100"/>
          </a:p>
        </p:txBody>
      </p:sp>
      <p:sp>
        <p:nvSpPr>
          <p:cNvPr id="20" name="AutoShape 20"/>
          <p:cNvSpPr/>
          <p:nvPr/>
        </p:nvSpPr>
        <p:spPr>
          <a:xfrm>
            <a:off x="7950200" y="1841500"/>
            <a:ext cx="3111500" cy="12065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08333"/>
              </a:lnSpc>
              <a:defRPr/>
            </a:pPr>
            <a:r>
              <a:rPr lang="en-US" altLang="zh-CN" sz="1100" dirty="0">
                <a:solidFill>
                  <a:srgbClr val="3C3C3C"/>
                </a:solidFill>
                <a:latin typeface="Aptos"/>
                <a:ea typeface="Aptos"/>
                <a:cs typeface="Aptos"/>
                <a:sym typeface="Aptos"/>
              </a:rPr>
              <a:t>Key improvements: </a:t>
            </a:r>
            <a:r>
              <a:rPr lang="en-US" altLang="zh-CN" sz="1100" dirty="0" err="1">
                <a:solidFill>
                  <a:srgbClr val="3C3C3C"/>
                </a:solidFill>
                <a:latin typeface="Aptos"/>
                <a:ea typeface="Aptos"/>
                <a:cs typeface="Aptos"/>
                <a:sym typeface="Aptos"/>
              </a:rPr>
              <a:t>BatchNorm</a:t>
            </a:r>
            <a:r>
              <a:rPr lang="en-US" altLang="zh-CN" sz="1100" dirty="0">
                <a:solidFill>
                  <a:srgbClr val="3C3C3C"/>
                </a:solidFill>
                <a:latin typeface="Aptos"/>
                <a:ea typeface="Aptos"/>
                <a:cs typeface="Aptos"/>
                <a:sym typeface="Aptos"/>
              </a:rPr>
              <a:t> for stable training,</a:t>
            </a:r>
            <a:r>
              <a:rPr lang="en-US" altLang="zh-CN" sz="1100" dirty="0">
                <a:solidFill>
                  <a:srgbClr val="3C3C3C"/>
                </a:solidFill>
                <a:latin typeface="Aptos"/>
                <a:sym typeface="Aptos"/>
              </a:rPr>
              <a:t>Dropout2d for spatial </a:t>
            </a:r>
            <a:r>
              <a:rPr lang="en-US" altLang="zh-CN" sz="1100" dirty="0" err="1">
                <a:solidFill>
                  <a:srgbClr val="3C3C3C"/>
                </a:solidFill>
                <a:latin typeface="Aptos"/>
                <a:sym typeface="Aptos"/>
              </a:rPr>
              <a:t>regularization,larger</a:t>
            </a:r>
            <a:r>
              <a:rPr lang="en-US" altLang="zh-CN" sz="1100" dirty="0">
                <a:solidFill>
                  <a:srgbClr val="3C3C3C"/>
                </a:solidFill>
                <a:latin typeface="Aptos"/>
                <a:sym typeface="Aptos"/>
              </a:rPr>
              <a:t> </a:t>
            </a:r>
            <a:r>
              <a:rPr lang="en-US" altLang="zh-CN" sz="1100" dirty="0">
                <a:solidFill>
                  <a:srgbClr val="3C3C3C"/>
                </a:solidFill>
                <a:latin typeface="Aptos"/>
                <a:ea typeface="Aptos"/>
                <a:cs typeface="Aptos"/>
                <a:sym typeface="Aptos"/>
              </a:rPr>
              <a:t>head (1024→512→30), and 5-fold ensemble for robust </a:t>
            </a:r>
            <a:r>
              <a:rPr lang="en-US" altLang="zh-CN" sz="1100" dirty="0" err="1">
                <a:solidFill>
                  <a:srgbClr val="3C3C3C"/>
                </a:solidFill>
                <a:latin typeface="Aptos"/>
                <a:ea typeface="Aptos"/>
                <a:cs typeface="Aptos"/>
                <a:sym typeface="Aptos"/>
              </a:rPr>
              <a:t>submission.ing</a:t>
            </a:r>
            <a:r>
              <a:rPr lang="en-US" altLang="zh-CN" sz="1100" dirty="0">
                <a:solidFill>
                  <a:srgbClr val="3C3C3C"/>
                </a:solidFill>
                <a:latin typeface="Aptos"/>
                <a:ea typeface="Aptos"/>
                <a:cs typeface="Aptos"/>
                <a:sym typeface="Aptos"/>
              </a:rPr>
              <a:t> the power of deep learning for this image-based regression task.</a:t>
            </a:r>
            <a:endParaRPr lang="en-US" altLang="zh-CN" sz="1100" dirty="0"/>
          </a:p>
        </p:txBody>
      </p:sp>
      <p:sp>
        <p:nvSpPr>
          <p:cNvPr id="21" name="AutoShape 21"/>
          <p:cNvSpPr/>
          <p:nvPr/>
        </p:nvSpPr>
        <p:spPr>
          <a:xfrm>
            <a:off x="698500" y="3505200"/>
            <a:ext cx="6654800" cy="2197100"/>
          </a:xfrm>
          <a:prstGeom prst="roundRect">
            <a:avLst>
              <a:gd name="adj" fmla="val 3468"/>
            </a:avLst>
          </a:prstGeom>
          <a:solidFill>
            <a:srgbClr val="FFFFFF">
              <a:alpha val="90000"/>
            </a:srgbClr>
          </a:solidFill>
          <a:ln w="12700" cap="flat" cmpd="sng">
            <a:solidFill>
              <a:srgbClr val="B8BDC7">
                <a:alpha val="100000"/>
              </a:srgbClr>
            </a:solidFill>
            <a:prstDash val="solid"/>
            <a:miter lim="10000000"/>
          </a:ln>
        </p:spPr>
        <p:txBody>
          <a:bodyPr vert="horz" wrap="square" lIns="63500" tIns="63500" rIns="63500" bIns="63500" rtlCol="0" anchor="ctr"/>
          <a:lstStyle/>
          <a:p>
            <a:pPr algn="ctr">
              <a:defRPr/>
            </a:pPr>
            <a:endParaRPr/>
          </a:p>
        </p:txBody>
      </p:sp>
      <p:sp>
        <p:nvSpPr>
          <p:cNvPr id="22" name="AutoShape 22"/>
          <p:cNvSpPr/>
          <p:nvPr/>
        </p:nvSpPr>
        <p:spPr>
          <a:xfrm>
            <a:off x="863600" y="3632200"/>
            <a:ext cx="63246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16253F"/>
                </a:solidFill>
                <a:latin typeface="Aptos"/>
                <a:ea typeface="Aptos"/>
                <a:cs typeface="Aptos"/>
                <a:sym typeface="Aptos"/>
              </a:rPr>
              <a:t>COMPETITION RANKING &amp; COMPARISON</a:t>
            </a:r>
            <a:endParaRPr lang="en-US" sz="1100"/>
          </a:p>
        </p:txBody>
      </p:sp>
      <p:pic>
        <p:nvPicPr>
          <p:cNvPr id="23" name="Picture 23"/>
          <p:cNvPicPr>
            <a:picLocks noChangeAspect="1"/>
          </p:cNvPicPr>
          <p:nvPr/>
        </p:nvPicPr>
        <p:blipFill>
          <a:blip r:embed="rId3"/>
          <a:srcRect l="14891" r="14891"/>
          <a:stretch>
            <a:fillRect/>
          </a:stretch>
        </p:blipFill>
        <p:spPr>
          <a:xfrm>
            <a:off x="863600" y="4127500"/>
            <a:ext cx="2921000" cy="1397000"/>
          </a:xfrm>
          <a:prstGeom prst="rect">
            <a:avLst/>
          </a:prstGeom>
          <a:noFill/>
          <a:ln w="25400" cap="flat" cmpd="sng">
            <a:noFill/>
            <a:prstDash val="solid"/>
            <a:round/>
          </a:ln>
        </p:spPr>
      </p:pic>
      <p:pic>
        <p:nvPicPr>
          <p:cNvPr id="24" name="Picture 24"/>
          <p:cNvPicPr>
            <a:picLocks noChangeAspect="1"/>
          </p:cNvPicPr>
          <p:nvPr/>
        </p:nvPicPr>
        <p:blipFill>
          <a:blip r:embed="rId4"/>
          <a:srcRect l="3188" r="3188"/>
          <a:stretch>
            <a:fillRect/>
          </a:stretch>
        </p:blipFill>
        <p:spPr>
          <a:xfrm>
            <a:off x="3937000" y="4127500"/>
            <a:ext cx="2921000" cy="1397000"/>
          </a:xfrm>
          <a:prstGeom prst="rect">
            <a:avLst/>
          </a:prstGeom>
          <a:noFill/>
          <a:ln w="25400" cap="flat" cmpd="sng">
            <a:noFill/>
            <a:prstDash val="solid"/>
            <a:round/>
          </a:ln>
        </p:spPr>
      </p:pic>
      <p:sp>
        <p:nvSpPr>
          <p:cNvPr id="25" name="AutoShape 25"/>
          <p:cNvSpPr/>
          <p:nvPr/>
        </p:nvSpPr>
        <p:spPr>
          <a:xfrm>
            <a:off x="7569200" y="3505200"/>
            <a:ext cx="3695700" cy="2197100"/>
          </a:xfrm>
          <a:prstGeom prst="roundRect">
            <a:avLst>
              <a:gd name="adj" fmla="val 3468"/>
            </a:avLst>
          </a:prstGeom>
          <a:solidFill>
            <a:srgbClr val="FFFFFF">
              <a:alpha val="90000"/>
            </a:srgbClr>
          </a:solidFill>
          <a:ln w="12700" cap="flat" cmpd="sng">
            <a:solidFill>
              <a:srgbClr val="B8BDC7">
                <a:alpha val="100000"/>
              </a:srgbClr>
            </a:solidFill>
            <a:prstDash val="solid"/>
            <a:miter lim="10000000"/>
          </a:ln>
        </p:spPr>
        <p:txBody>
          <a:bodyPr vert="horz" wrap="square" lIns="63500" tIns="63500" rIns="63500" bIns="63500" rtlCol="0" anchor="ctr"/>
          <a:lstStyle/>
          <a:p>
            <a:pPr algn="ctr">
              <a:defRPr/>
            </a:pPr>
            <a:endParaRPr/>
          </a:p>
        </p:txBody>
      </p:sp>
      <p:sp>
        <p:nvSpPr>
          <p:cNvPr id="26" name="AutoShape 26"/>
          <p:cNvSpPr/>
          <p:nvPr/>
        </p:nvSpPr>
        <p:spPr>
          <a:xfrm>
            <a:off x="7734300" y="3632200"/>
            <a:ext cx="33655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16253F"/>
                </a:solidFill>
                <a:latin typeface="Aptos"/>
                <a:ea typeface="Aptos"/>
                <a:cs typeface="Aptos"/>
                <a:sym typeface="Aptos"/>
              </a:rPr>
              <a:t>ERROR ANALYSIS</a:t>
            </a:r>
            <a:endParaRPr lang="en-US" sz="1100"/>
          </a:p>
        </p:txBody>
      </p:sp>
      <p:sp>
        <p:nvSpPr>
          <p:cNvPr id="27" name="AutoShape 27"/>
          <p:cNvSpPr/>
          <p:nvPr/>
        </p:nvSpPr>
        <p:spPr>
          <a:xfrm>
            <a:off x="7734300" y="4127500"/>
            <a:ext cx="3365500" cy="1397000"/>
          </a:xfrm>
          <a:prstGeom prst="roundRect">
            <a:avLst>
              <a:gd name="adj" fmla="val 0"/>
            </a:avLst>
          </a:prstGeom>
          <a:noFill/>
          <a:ln w="25400" cap="flat" cmpd="sng">
            <a:noFill/>
            <a:prstDash val="solid"/>
            <a:round/>
          </a:ln>
        </p:spPr>
        <p:txBody>
          <a:bodyPr vert="horz" wrap="square" lIns="0" tIns="63500" rIns="0" bIns="63500" rtlCol="0" anchor="ctr" anchorCtr="0"/>
          <a:lstStyle/>
          <a:p>
            <a:pPr indent="0" algn="just">
              <a:lnSpc>
                <a:spcPct val="116666"/>
              </a:lnSpc>
              <a:defRPr/>
            </a:pPr>
            <a:r>
              <a:rPr lang="en-US" altLang="zh-CN" sz="1100" dirty="0">
                <a:solidFill>
                  <a:srgbClr val="3C3C3C"/>
                </a:solidFill>
                <a:latin typeface="Aptos"/>
                <a:sym typeface="Aptos"/>
              </a:rPr>
              <a:t>No complex </a:t>
            </a:r>
            <a:r>
              <a:rPr lang="en-US" altLang="zh-CN" sz="1100" dirty="0">
                <a:solidFill>
                  <a:srgbClr val="3C3C3C"/>
                </a:solidFill>
                <a:latin typeface="Aptos"/>
                <a:ea typeface="Aptos"/>
                <a:cs typeface="Aptos"/>
                <a:sym typeface="Aptos"/>
              </a:rPr>
              <a:t>data augmentation, no coord normalization, no LR schedule, no heatmap regression</a:t>
            </a:r>
            <a:endParaRPr lang="en-US" altLang="zh-CN" sz="1100" dirty="0"/>
          </a:p>
        </p:txBody>
      </p:sp>
      <p:sp>
        <p:nvSpPr>
          <p:cNvPr id="28" name="AutoShape 28"/>
          <p:cNvSpPr/>
          <p:nvPr/>
        </p:nvSpPr>
        <p:spPr>
          <a:xfrm>
            <a:off x="11379200" y="6464300"/>
            <a:ext cx="4064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r">
              <a:lnSpc>
                <a:spcPct val="100000"/>
              </a:lnSpc>
              <a:defRPr/>
            </a:pPr>
            <a:r>
              <a:rPr lang="en-US" sz="900" b="0" i="0" u="none" strike="noStrike">
                <a:solidFill>
                  <a:srgbClr val="697386"/>
                </a:solidFill>
                <a:latin typeface="Aptos"/>
                <a:ea typeface="Aptos"/>
                <a:cs typeface="Aptos"/>
                <a:sym typeface="Aptos"/>
              </a:rPr>
              <a:t>07</a:t>
            </a:r>
            <a:endParaRPr lang="en-US" sz="1100"/>
          </a:p>
        </p:txBody>
      </p:sp>
      <p:sp>
        <p:nvSpPr>
          <p:cNvPr id="33" name="AutoShape 12">
            <a:extLst>
              <a:ext uri="{FF2B5EF4-FFF2-40B4-BE49-F238E27FC236}">
                <a16:creationId xmlns:a16="http://schemas.microsoft.com/office/drawing/2014/main" id="{06895CDB-DFC0-C4F9-DE1A-136FBD584A9F}"/>
              </a:ext>
            </a:extLst>
          </p:cNvPr>
          <p:cNvSpPr/>
          <p:nvPr/>
        </p:nvSpPr>
        <p:spPr>
          <a:xfrm>
            <a:off x="914400" y="1422400"/>
            <a:ext cx="1270000" cy="228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a:solidFill>
                  <a:srgbClr val="B4343A"/>
                </a:solidFill>
                <a:latin typeface="Aptos"/>
                <a:ea typeface="Aptos"/>
                <a:cs typeface="Aptos"/>
                <a:sym typeface="Aptos"/>
              </a:rPr>
              <a:t>FINAL SCORE</a:t>
            </a:r>
            <a:endParaRPr lang="en-US" sz="1100"/>
          </a:p>
        </p:txBody>
      </p:sp>
      <p:sp>
        <p:nvSpPr>
          <p:cNvPr id="34" name="AutoShape 13">
            <a:extLst>
              <a:ext uri="{FF2B5EF4-FFF2-40B4-BE49-F238E27FC236}">
                <a16:creationId xmlns:a16="http://schemas.microsoft.com/office/drawing/2014/main" id="{043611A5-FD58-01F6-7576-58408A5DFCC3}"/>
              </a:ext>
            </a:extLst>
          </p:cNvPr>
          <p:cNvSpPr/>
          <p:nvPr/>
        </p:nvSpPr>
        <p:spPr>
          <a:xfrm>
            <a:off x="914400" y="1778000"/>
            <a:ext cx="2286000" cy="571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91666"/>
              </a:lnSpc>
              <a:defRPr/>
            </a:pPr>
            <a:r>
              <a:rPr lang="en-US" sz="2800" b="1" i="0" u="none" strike="noStrike" dirty="0">
                <a:solidFill>
                  <a:srgbClr val="16253F"/>
                </a:solidFill>
                <a:latin typeface="Play"/>
                <a:ea typeface="Play"/>
                <a:cs typeface="Play"/>
                <a:sym typeface="Play"/>
              </a:rPr>
              <a:t>3.58178</a:t>
            </a:r>
            <a:endParaRPr lang="en-US" sz="1100" dirty="0"/>
          </a:p>
        </p:txBody>
      </p:sp>
      <p:sp>
        <p:nvSpPr>
          <p:cNvPr id="35" name="AutoShape 14">
            <a:extLst>
              <a:ext uri="{FF2B5EF4-FFF2-40B4-BE49-F238E27FC236}">
                <a16:creationId xmlns:a16="http://schemas.microsoft.com/office/drawing/2014/main" id="{824983C7-B238-8989-F25C-8C2143EB1911}"/>
              </a:ext>
            </a:extLst>
          </p:cNvPr>
          <p:cNvSpPr/>
          <p:nvPr/>
        </p:nvSpPr>
        <p:spPr>
          <a:xfrm>
            <a:off x="914400" y="2413000"/>
            <a:ext cx="2286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dirty="0">
                <a:solidFill>
                  <a:srgbClr val="697386"/>
                </a:solidFill>
                <a:latin typeface="Aptos"/>
                <a:ea typeface="Aptos"/>
                <a:cs typeface="Aptos"/>
                <a:sym typeface="Aptos"/>
              </a:rPr>
              <a:t>Private: 3.58178 | Public: 3.81359</a:t>
            </a:r>
            <a:br>
              <a:rPr lang="en-US" sz="1100" b="0" i="0" u="none" strike="noStrike" dirty="0">
                <a:solidFill>
                  <a:srgbClr val="697386"/>
                </a:solidFill>
                <a:latin typeface="Aptos"/>
                <a:ea typeface="Aptos"/>
                <a:cs typeface="Aptos"/>
                <a:sym typeface="Aptos"/>
              </a:rPr>
            </a:br>
            <a:r>
              <a:rPr lang="en-US" sz="1100" b="0" i="0" u="none" strike="noStrike" dirty="0">
                <a:solidFill>
                  <a:srgbClr val="697386"/>
                </a:solidFill>
                <a:latin typeface="Aptos"/>
                <a:ea typeface="Aptos"/>
                <a:cs typeface="Aptos"/>
                <a:sym typeface="Aptos"/>
              </a:rPr>
              <a:t>Metric: RMSE (masked, lower = better)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65100" cy="68580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11544300" y="0"/>
            <a:ext cx="647700" cy="10033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1125200" y="0"/>
            <a:ext cx="406400" cy="419100"/>
          </a:xfrm>
          <a:prstGeom prst="roundRect">
            <a:avLst>
              <a:gd name="adj" fmla="val 0"/>
            </a:avLst>
          </a:prstGeom>
          <a:solidFill>
            <a:srgbClr val="16253F">
              <a:alpha val="100000"/>
            </a:srgbClr>
          </a:solidFill>
          <a:ln w="12700" cap="flat" cmpd="sng">
            <a:solidFill>
              <a:srgbClr val="16253F">
                <a:alpha val="0"/>
              </a:srgbClr>
            </a:solidFill>
            <a:prstDash val="solid"/>
            <a:miter lim="10000000"/>
          </a:ln>
        </p:spPr>
        <p:txBody>
          <a:bodyPr vert="horz" wrap="square" lIns="63500" tIns="63500" rIns="63500" bIns="63500" rtlCol="0" anchor="ctr"/>
          <a:lstStyle/>
          <a:p>
            <a:pPr algn="ctr">
              <a:defRPr/>
            </a:pPr>
            <a:endParaRPr/>
          </a:p>
        </p:txBody>
      </p:sp>
      <p:sp>
        <p:nvSpPr>
          <p:cNvPr id="5" name="AutoShape 5"/>
          <p:cNvSpPr/>
          <p:nvPr/>
        </p:nvSpPr>
        <p:spPr>
          <a:xfrm>
            <a:off x="508000" y="292100"/>
            <a:ext cx="2921000" cy="203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FINAL PRESENTATION TEMPLATE</a:t>
            </a:r>
            <a:endParaRPr lang="en-US" sz="1100"/>
          </a:p>
        </p:txBody>
      </p:sp>
      <p:sp>
        <p:nvSpPr>
          <p:cNvPr id="6" name="AutoShape 6"/>
          <p:cNvSpPr/>
          <p:nvPr/>
        </p:nvSpPr>
        <p:spPr>
          <a:xfrm>
            <a:off x="508000" y="508000"/>
            <a:ext cx="8089900" cy="4699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600" b="1" i="0" u="none" strike="noStrike">
                <a:solidFill>
                  <a:srgbClr val="16253F"/>
                </a:solidFill>
                <a:latin typeface="Play"/>
                <a:ea typeface="Play"/>
                <a:cs typeface="Play"/>
                <a:sym typeface="Play"/>
              </a:rPr>
              <a:t>6. Discussion &amp; Reflection</a:t>
            </a:r>
            <a:endParaRPr lang="en-US" sz="1100"/>
          </a:p>
        </p:txBody>
      </p:sp>
      <p:cxnSp>
        <p:nvCxnSpPr>
          <p:cNvPr id="7" name="Connector 7"/>
          <p:cNvCxnSpPr/>
          <p:nvPr/>
        </p:nvCxnSpPr>
        <p:spPr>
          <a:xfrm>
            <a:off x="508000" y="6438900"/>
            <a:ext cx="11150607"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none" w="med" len="med"/>
          </a:ln>
        </p:spPr>
      </p:cxnSp>
      <p:sp>
        <p:nvSpPr>
          <p:cNvPr id="8" name="AutoShape 8"/>
          <p:cNvSpPr/>
          <p:nvPr/>
        </p:nvSpPr>
        <p:spPr>
          <a:xfrm>
            <a:off x="533400" y="6477000"/>
            <a:ext cx="64897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900" b="0" i="0" u="none" strike="noStrike" dirty="0">
                <a:solidFill>
                  <a:srgbClr val="697386"/>
                </a:solidFill>
                <a:latin typeface="Aptos"/>
                <a:ea typeface="Aptos"/>
                <a:cs typeface="Aptos"/>
                <a:sym typeface="Aptos"/>
              </a:rPr>
              <a:t>SDSC8007 • Mini Project </a:t>
            </a:r>
            <a:endParaRPr lang="en-US" sz="1100" dirty="0"/>
          </a:p>
        </p:txBody>
      </p:sp>
      <p:sp>
        <p:nvSpPr>
          <p:cNvPr id="9" name="AutoShape 9"/>
          <p:cNvSpPr/>
          <p:nvPr/>
        </p:nvSpPr>
        <p:spPr>
          <a:xfrm>
            <a:off x="9372600" y="292100"/>
            <a:ext cx="1651000" cy="254000"/>
          </a:xfrm>
          <a:prstGeom prst="roundRect">
            <a:avLst>
              <a:gd name="adj" fmla="val 20000"/>
            </a:avLst>
          </a:prstGeom>
          <a:solidFill>
            <a:srgbClr val="FFFCF7">
              <a:alpha val="100000"/>
            </a:srgbClr>
          </a:solidFill>
          <a:ln w="12700" cap="flat" cmpd="sng">
            <a:solidFill>
              <a:srgbClr val="EDE2D3">
                <a:alpha val="100000"/>
              </a:srgbClr>
            </a:solidFill>
            <a:prstDash val="solid"/>
            <a:miter lim="10000000"/>
          </a:ln>
        </p:spPr>
        <p:txBody>
          <a:bodyPr vert="horz" wrap="square" lIns="63500" tIns="63500" rIns="63500" bIns="63500" rtlCol="0" anchor="ctr"/>
          <a:lstStyle/>
          <a:p>
            <a:pPr algn="ctr">
              <a:defRPr/>
            </a:pPr>
            <a:endParaRPr/>
          </a:p>
        </p:txBody>
      </p:sp>
      <p:sp>
        <p:nvSpPr>
          <p:cNvPr id="10" name="AutoShape 10"/>
          <p:cNvSpPr/>
          <p:nvPr/>
        </p:nvSpPr>
        <p:spPr>
          <a:xfrm>
            <a:off x="9448800" y="330200"/>
            <a:ext cx="1498600" cy="127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800" b="1" i="0" u="none" strike="noStrike">
                <a:solidFill>
                  <a:srgbClr val="697386"/>
                </a:solidFill>
                <a:latin typeface="Aptos"/>
                <a:ea typeface="Aptos"/>
                <a:cs typeface="Aptos"/>
                <a:sym typeface="Aptos"/>
              </a:rPr>
              <a:t>EXPLAIN THE MODELING JOURNEY</a:t>
            </a:r>
            <a:endParaRPr lang="en-US" sz="1100"/>
          </a:p>
        </p:txBody>
      </p:sp>
      <p:sp>
        <p:nvSpPr>
          <p:cNvPr id="11" name="AutoShape 11"/>
          <p:cNvSpPr/>
          <p:nvPr/>
        </p:nvSpPr>
        <p:spPr>
          <a:xfrm>
            <a:off x="698500" y="1257300"/>
            <a:ext cx="3530600" cy="2146300"/>
          </a:xfrm>
          <a:prstGeom prst="roundRect">
            <a:avLst>
              <a:gd name="adj" fmla="val 3550"/>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12" name="AutoShape 12"/>
          <p:cNvSpPr/>
          <p:nvPr/>
        </p:nvSpPr>
        <p:spPr>
          <a:xfrm>
            <a:off x="914400" y="1473200"/>
            <a:ext cx="1270000" cy="228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B4343A"/>
                </a:solidFill>
                <a:latin typeface="Aptos"/>
                <a:ea typeface="Aptos"/>
                <a:cs typeface="Aptos"/>
                <a:sym typeface="Aptos"/>
              </a:rPr>
              <a:t>WHAT WORKED</a:t>
            </a:r>
            <a:endParaRPr lang="en-US" sz="1100"/>
          </a:p>
        </p:txBody>
      </p:sp>
      <p:sp>
        <p:nvSpPr>
          <p:cNvPr id="13" name="AutoShape 13"/>
          <p:cNvSpPr/>
          <p:nvPr/>
        </p:nvSpPr>
        <p:spPr>
          <a:xfrm>
            <a:off x="914400" y="1841500"/>
            <a:ext cx="3111500" cy="1397000"/>
          </a:xfrm>
          <a:prstGeom prst="roundRect">
            <a:avLst>
              <a:gd name="adj" fmla="val 0"/>
            </a:avLst>
          </a:prstGeom>
          <a:noFill/>
          <a:ln w="25400" cap="flat" cmpd="sng">
            <a:noFill/>
            <a:prstDash val="solid"/>
            <a:round/>
          </a:ln>
        </p:spPr>
        <p:txBody>
          <a:bodyPr vert="horz" wrap="square" lIns="25400" tIns="25400" rIns="25400" bIns="25400" rtlCol="0" anchor="t" anchorCtr="0"/>
          <a:lstStyle/>
          <a:p>
            <a:pPr indent="0" algn="l">
              <a:lnSpc>
                <a:spcPct val="108333"/>
              </a:lnSpc>
              <a:defRPr/>
            </a:pPr>
            <a:r>
              <a:rPr lang="en-US" sz="1100" b="1" i="0" u="none" strike="noStrike">
                <a:solidFill>
                  <a:srgbClr val="434B58"/>
                </a:solidFill>
                <a:latin typeface="Aptos"/>
                <a:ea typeface="Aptos"/>
                <a:cs typeface="Aptos"/>
                <a:sym typeface="Aptos"/>
              </a:rPr>
              <a:t>Method:</a:t>
            </a:r>
            <a:r>
              <a:rPr lang="en-US" sz="1100" b="0" i="0" u="none" strike="noStrike">
                <a:solidFill>
                  <a:srgbClr val="697386"/>
                </a:solidFill>
                <a:latin typeface="Aptos"/>
                <a:ea typeface="Aptos"/>
                <a:cs typeface="Aptos"/>
                <a:sym typeface="Aptos"/>
              </a:rPr>
              <a:t>Switching to a CNN model, which is inherently suited for image data.</a:t>
            </a:r>
            <a:endParaRPr lang="en-US" sz="1100"/>
          </a:p>
          <a:p>
            <a:pPr indent="0" algn="l">
              <a:lnSpc>
                <a:spcPct val="108333"/>
              </a:lnSpc>
            </a:pPr>
            <a:r>
              <a:rPr lang="en-US" sz="1100" b="1" i="0" u="none" strike="noStrike">
                <a:solidFill>
                  <a:srgbClr val="434B58"/>
                </a:solidFill>
                <a:latin typeface="Aptos"/>
                <a:ea typeface="Aptos"/>
                <a:cs typeface="Aptos"/>
                <a:sym typeface="Aptos"/>
              </a:rPr>
              <a:t>Why:</a:t>
            </a:r>
            <a:r>
              <a:rPr lang="en-US" sz="1100" b="0" i="0" u="none" strike="noStrike">
                <a:solidFill>
                  <a:srgbClr val="697386"/>
                </a:solidFill>
                <a:latin typeface="Aptos"/>
                <a:ea typeface="Aptos"/>
                <a:cs typeface="Aptos"/>
                <a:sym typeface="Aptos"/>
              </a:rPr>
              <a:t>Its hierarchical feature learning captured spatial patterns missed by simpler models.</a:t>
            </a:r>
          </a:p>
          <a:p>
            <a:pPr indent="0" algn="l">
              <a:lnSpc>
                <a:spcPct val="108333"/>
              </a:lnSpc>
            </a:pPr>
            <a:r>
              <a:rPr lang="en-US" sz="1100" b="1" i="0" u="none" strike="noStrike">
                <a:solidFill>
                  <a:srgbClr val="434B58"/>
                </a:solidFill>
                <a:latin typeface="Aptos"/>
                <a:ea typeface="Aptos"/>
                <a:cs typeface="Aptos"/>
                <a:sym typeface="Aptos"/>
              </a:rPr>
              <a:t>Evidence:</a:t>
            </a:r>
            <a:r>
              <a:rPr lang="en-US" sz="1100" b="0" i="0" u="none" strike="noStrike">
                <a:solidFill>
                  <a:srgbClr val="697386"/>
                </a:solidFill>
                <a:latin typeface="Aptos"/>
                <a:ea typeface="Aptos"/>
                <a:cs typeface="Aptos"/>
                <a:sym typeface="Aptos"/>
              </a:rPr>
              <a:t>Substantial gain in validation and final leaderboard score.</a:t>
            </a:r>
          </a:p>
        </p:txBody>
      </p:sp>
      <p:sp>
        <p:nvSpPr>
          <p:cNvPr id="14" name="AutoShape 14"/>
          <p:cNvSpPr/>
          <p:nvPr/>
        </p:nvSpPr>
        <p:spPr>
          <a:xfrm>
            <a:off x="4483100" y="1257300"/>
            <a:ext cx="3530600" cy="2146300"/>
          </a:xfrm>
          <a:prstGeom prst="roundRect">
            <a:avLst>
              <a:gd name="adj" fmla="val 3550"/>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15" name="AutoShape 15"/>
          <p:cNvSpPr/>
          <p:nvPr/>
        </p:nvSpPr>
        <p:spPr>
          <a:xfrm>
            <a:off x="4699000" y="1473200"/>
            <a:ext cx="1778000" cy="228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B4343A"/>
                </a:solidFill>
                <a:latin typeface="Aptos"/>
                <a:ea typeface="Aptos"/>
                <a:cs typeface="Aptos"/>
                <a:sym typeface="Aptos"/>
              </a:rPr>
              <a:t>WHAT DID NOT WORK</a:t>
            </a:r>
            <a:endParaRPr lang="en-US" sz="1100"/>
          </a:p>
        </p:txBody>
      </p:sp>
      <p:sp>
        <p:nvSpPr>
          <p:cNvPr id="16" name="AutoShape 16"/>
          <p:cNvSpPr/>
          <p:nvPr/>
        </p:nvSpPr>
        <p:spPr>
          <a:xfrm>
            <a:off x="4699000" y="1841500"/>
            <a:ext cx="3111500" cy="1397000"/>
          </a:xfrm>
          <a:prstGeom prst="roundRect">
            <a:avLst>
              <a:gd name="adj" fmla="val 0"/>
            </a:avLst>
          </a:prstGeom>
          <a:noFill/>
          <a:ln w="25400" cap="flat" cmpd="sng">
            <a:noFill/>
            <a:prstDash val="solid"/>
            <a:round/>
          </a:ln>
        </p:spPr>
        <p:txBody>
          <a:bodyPr vert="horz" wrap="square" lIns="25400" tIns="25400" rIns="25400" bIns="25400" rtlCol="0" anchor="t" anchorCtr="0"/>
          <a:lstStyle/>
          <a:p>
            <a:pPr indent="0" algn="l">
              <a:lnSpc>
                <a:spcPct val="108333"/>
              </a:lnSpc>
              <a:defRPr/>
            </a:pPr>
            <a:r>
              <a:rPr lang="en-US" sz="1100" b="1" i="0" u="none" strike="noStrike" dirty="0">
                <a:solidFill>
                  <a:srgbClr val="434B58"/>
                </a:solidFill>
                <a:latin typeface="Aptos"/>
                <a:ea typeface="Aptos"/>
                <a:cs typeface="Aptos"/>
                <a:sym typeface="Aptos"/>
              </a:rPr>
              <a:t>Failed </a:t>
            </a:r>
            <a:r>
              <a:rPr lang="en-US" sz="1100" b="1" i="0" u="none" strike="noStrike" dirty="0" err="1">
                <a:solidFill>
                  <a:srgbClr val="434B58"/>
                </a:solidFill>
                <a:latin typeface="Aptos"/>
                <a:ea typeface="Aptos"/>
                <a:cs typeface="Aptos"/>
                <a:sym typeface="Aptos"/>
              </a:rPr>
              <a:t>Attempt:</a:t>
            </a:r>
            <a:r>
              <a:rPr lang="en-US" sz="1100" b="0" i="0" u="none" strike="noStrike" dirty="0" err="1">
                <a:solidFill>
                  <a:srgbClr val="697386"/>
                </a:solidFill>
                <a:latin typeface="Aptos"/>
                <a:ea typeface="Aptos"/>
                <a:cs typeface="Aptos"/>
                <a:sym typeface="Aptos"/>
              </a:rPr>
              <a:t>Simple</a:t>
            </a:r>
            <a:r>
              <a:rPr lang="en-US" sz="1100" b="0" i="0" u="none" strike="noStrike" dirty="0">
                <a:solidFill>
                  <a:srgbClr val="697386"/>
                </a:solidFill>
                <a:latin typeface="Aptos"/>
                <a:ea typeface="Aptos"/>
                <a:cs typeface="Aptos"/>
                <a:sym typeface="Aptos"/>
              </a:rPr>
              <a:t> data augmentation (e.g., flipping) yielded no significant improvement.</a:t>
            </a:r>
            <a:endParaRPr lang="en-US" sz="1100" dirty="0"/>
          </a:p>
          <a:p>
            <a:pPr indent="0" algn="l">
              <a:lnSpc>
                <a:spcPct val="108333"/>
              </a:lnSpc>
            </a:pPr>
            <a:r>
              <a:rPr lang="en-US" sz="1100" b="1" i="0" u="none" strike="noStrike" dirty="0" err="1">
                <a:solidFill>
                  <a:srgbClr val="434B58"/>
                </a:solidFill>
                <a:latin typeface="Aptos"/>
                <a:ea typeface="Aptos"/>
                <a:cs typeface="Aptos"/>
                <a:sym typeface="Aptos"/>
              </a:rPr>
              <a:t>Reason:</a:t>
            </a:r>
            <a:r>
              <a:rPr lang="en-US" sz="1100" b="0" i="0" u="none" strike="noStrike" dirty="0" err="1">
                <a:solidFill>
                  <a:srgbClr val="697386"/>
                </a:solidFill>
                <a:latin typeface="Aptos"/>
                <a:ea typeface="Aptos"/>
                <a:cs typeface="Aptos"/>
                <a:sym typeface="Aptos"/>
              </a:rPr>
              <a:t>Augmentation</a:t>
            </a:r>
            <a:r>
              <a:rPr lang="en-US" sz="1100" b="0" i="0" u="none" strike="noStrike" dirty="0">
                <a:solidFill>
                  <a:srgbClr val="697386"/>
                </a:solidFill>
                <a:latin typeface="Aptos"/>
                <a:ea typeface="Aptos"/>
                <a:cs typeface="Aptos"/>
                <a:sym typeface="Aptos"/>
              </a:rPr>
              <a:t> was not extensive enough, or the model was already robust to minor variations.</a:t>
            </a:r>
          </a:p>
          <a:p>
            <a:pPr indent="0" algn="l">
              <a:lnSpc>
                <a:spcPct val="108333"/>
              </a:lnSpc>
            </a:pPr>
            <a:r>
              <a:rPr lang="en-US" sz="1100" b="1" i="0" u="none" strike="noStrike" dirty="0" err="1">
                <a:solidFill>
                  <a:srgbClr val="434B58"/>
                </a:solidFill>
                <a:latin typeface="Aptos"/>
                <a:ea typeface="Aptos"/>
                <a:cs typeface="Aptos"/>
                <a:sym typeface="Aptos"/>
              </a:rPr>
              <a:t>Improvement:</a:t>
            </a:r>
            <a:r>
              <a:rPr lang="en-US" sz="1100" b="0" i="0" u="none" strike="noStrike" dirty="0" err="1">
                <a:solidFill>
                  <a:srgbClr val="697386"/>
                </a:solidFill>
                <a:latin typeface="Aptos"/>
                <a:ea typeface="Aptos"/>
                <a:cs typeface="Aptos"/>
                <a:sym typeface="Aptos"/>
              </a:rPr>
              <a:t>Try</a:t>
            </a:r>
            <a:r>
              <a:rPr lang="en-US" sz="1100" b="0" i="0" u="none" strike="noStrike" dirty="0">
                <a:solidFill>
                  <a:srgbClr val="697386"/>
                </a:solidFill>
                <a:latin typeface="Aptos"/>
                <a:ea typeface="Aptos"/>
                <a:cs typeface="Aptos"/>
                <a:sym typeface="Aptos"/>
              </a:rPr>
              <a:t> more aggressive techniques like rotation, scaling, and color jitter.</a:t>
            </a:r>
          </a:p>
        </p:txBody>
      </p:sp>
      <p:sp>
        <p:nvSpPr>
          <p:cNvPr id="17" name="AutoShape 17"/>
          <p:cNvSpPr/>
          <p:nvPr/>
        </p:nvSpPr>
        <p:spPr>
          <a:xfrm>
            <a:off x="8267700" y="1257300"/>
            <a:ext cx="2997200" cy="2146300"/>
          </a:xfrm>
          <a:prstGeom prst="roundRect">
            <a:avLst>
              <a:gd name="adj" fmla="val 3550"/>
            </a:avLst>
          </a:prstGeom>
          <a:solidFill>
            <a:srgbClr val="FFFFFF">
              <a:alpha val="78000"/>
            </a:srgbClr>
          </a:solidFill>
          <a:ln w="12700" cap="flat" cmpd="sng">
            <a:solidFill>
              <a:srgbClr val="B8BDC7">
                <a:alpha val="100000"/>
              </a:srgbClr>
            </a:solidFill>
            <a:prstDash val="dash"/>
            <a:miter lim="10000000"/>
          </a:ln>
        </p:spPr>
        <p:txBody>
          <a:bodyPr vert="horz" wrap="square" lIns="63500" tIns="63500" rIns="63500" bIns="63500" rtlCol="0" anchor="ctr"/>
          <a:lstStyle/>
          <a:p>
            <a:pPr algn="ctr">
              <a:defRPr/>
            </a:pPr>
            <a:endParaRPr/>
          </a:p>
        </p:txBody>
      </p:sp>
      <p:sp>
        <p:nvSpPr>
          <p:cNvPr id="18" name="AutoShape 18"/>
          <p:cNvSpPr/>
          <p:nvPr/>
        </p:nvSpPr>
        <p:spPr>
          <a:xfrm>
            <a:off x="8432800" y="1422400"/>
            <a:ext cx="2667000" cy="203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16253F"/>
                </a:solidFill>
                <a:latin typeface="Aptos"/>
                <a:ea typeface="Aptos"/>
                <a:cs typeface="Aptos"/>
                <a:sym typeface="Aptos"/>
              </a:rPr>
              <a:t>KEY INSIGHTS</a:t>
            </a:r>
            <a:endParaRPr lang="en-US" sz="1100"/>
          </a:p>
        </p:txBody>
      </p:sp>
      <p:sp>
        <p:nvSpPr>
          <p:cNvPr id="19" name="AutoShape 19"/>
          <p:cNvSpPr/>
          <p:nvPr/>
        </p:nvSpPr>
        <p:spPr>
          <a:xfrm>
            <a:off x="8432800" y="1778000"/>
            <a:ext cx="2667000" cy="1549400"/>
          </a:xfrm>
          <a:prstGeom prst="roundRect">
            <a:avLst>
              <a:gd name="adj" fmla="val 0"/>
            </a:avLst>
          </a:prstGeom>
          <a:noFill/>
          <a:ln w="25400" cap="flat" cmpd="sng">
            <a:noFill/>
            <a:prstDash val="solid"/>
            <a:round/>
          </a:ln>
        </p:spPr>
        <p:txBody>
          <a:bodyPr vert="horz" wrap="square" lIns="63500" tIns="63500" rIns="63500" bIns="63500" rtlCol="0" anchor="ctr" anchorCtr="0"/>
          <a:lstStyle/>
          <a:p>
            <a:pPr indent="0" algn="just">
              <a:lnSpc>
                <a:spcPct val="116666"/>
              </a:lnSpc>
              <a:defRPr/>
            </a:pPr>
            <a:r>
              <a:rPr lang="en-US" altLang="zh-CN" sz="1100" dirty="0">
                <a:solidFill>
                  <a:srgbClr val="697386"/>
                </a:solidFill>
                <a:latin typeface="Aptos"/>
                <a:ea typeface="Aptos"/>
                <a:cs typeface="Aptos"/>
                <a:sym typeface="Aptos"/>
              </a:rPr>
              <a:t>Masked loss is essential: computing RMSE only on present labels avoids gradient bias from missing annotations, which was the key design decision in this project. of-the-art models require robust augmentation to handle edge cases.</a:t>
            </a:r>
            <a:endParaRPr lang="en-US" altLang="zh-CN" sz="1100" dirty="0"/>
          </a:p>
        </p:txBody>
      </p:sp>
      <p:sp>
        <p:nvSpPr>
          <p:cNvPr id="20" name="AutoShape 20"/>
          <p:cNvSpPr/>
          <p:nvPr/>
        </p:nvSpPr>
        <p:spPr>
          <a:xfrm>
            <a:off x="698500" y="3670300"/>
            <a:ext cx="10566400" cy="2120900"/>
          </a:xfrm>
          <a:prstGeom prst="roundRect">
            <a:avLst>
              <a:gd name="adj" fmla="val 3592"/>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21" name="AutoShape 21"/>
          <p:cNvSpPr/>
          <p:nvPr/>
        </p:nvSpPr>
        <p:spPr>
          <a:xfrm>
            <a:off x="914400" y="3886200"/>
            <a:ext cx="2032000" cy="228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B4343A"/>
                </a:solidFill>
                <a:latin typeface="Aptos"/>
                <a:ea typeface="Aptos"/>
                <a:cs typeface="Aptos"/>
                <a:sym typeface="Aptos"/>
              </a:rPr>
              <a:t>LIMITATIONS &amp; NEXT STEPS</a:t>
            </a:r>
            <a:endParaRPr lang="en-US" sz="1100"/>
          </a:p>
        </p:txBody>
      </p:sp>
      <p:sp>
        <p:nvSpPr>
          <p:cNvPr id="22" name="AutoShape 22"/>
          <p:cNvSpPr/>
          <p:nvPr/>
        </p:nvSpPr>
        <p:spPr>
          <a:xfrm>
            <a:off x="914400" y="4254500"/>
            <a:ext cx="9969500" cy="508000"/>
          </a:xfrm>
          <a:prstGeom prst="roundRect">
            <a:avLst>
              <a:gd name="adj" fmla="val 0"/>
            </a:avLst>
          </a:prstGeom>
          <a:noFill/>
          <a:ln w="25400" cap="flat" cmpd="sng">
            <a:noFill/>
            <a:prstDash val="solid"/>
            <a:round/>
          </a:ln>
        </p:spPr>
        <p:txBody>
          <a:bodyPr vert="horz" wrap="square" lIns="25400" tIns="25400" rIns="25400" bIns="25400" rtlCol="0" anchor="ctr" anchorCtr="0"/>
          <a:lstStyle/>
          <a:p>
            <a:pPr indent="0" algn="l">
              <a:lnSpc>
                <a:spcPct val="108333"/>
              </a:lnSpc>
              <a:defRPr/>
            </a:pPr>
            <a:r>
              <a:rPr lang="en-US" sz="1200" b="0" i="0" u="none" strike="noStrike" dirty="0">
                <a:solidFill>
                  <a:srgbClr val="697386"/>
                </a:solidFill>
                <a:latin typeface="Aptos"/>
                <a:ea typeface="Aptos"/>
                <a:cs typeface="Aptos"/>
                <a:sym typeface="Aptos"/>
              </a:rPr>
              <a:t>Reflecting on the project, while our CNN model showed strong results on standard data, it faces clear challenges with edge cases and architectural simplicity.</a:t>
            </a:r>
            <a:endParaRPr lang="en-US" sz="1100" dirty="0"/>
          </a:p>
        </p:txBody>
      </p:sp>
      <p:sp>
        <p:nvSpPr>
          <p:cNvPr id="23" name="AutoShape 23"/>
          <p:cNvSpPr/>
          <p:nvPr/>
        </p:nvSpPr>
        <p:spPr>
          <a:xfrm>
            <a:off x="914400" y="4889500"/>
            <a:ext cx="2971800" cy="762000"/>
          </a:xfrm>
          <a:prstGeom prst="roundRect">
            <a:avLst>
              <a:gd name="adj" fmla="val 10000"/>
            </a:avLst>
          </a:prstGeom>
          <a:solidFill>
            <a:srgbClr val="FFFFFF">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24"/>
          <p:cNvSpPr/>
          <p:nvPr/>
        </p:nvSpPr>
        <p:spPr>
          <a:xfrm>
            <a:off x="1016000" y="4978400"/>
            <a:ext cx="2794000" cy="635000"/>
          </a:xfrm>
          <a:prstGeom prst="roundRect">
            <a:avLst>
              <a:gd name="adj" fmla="val 0"/>
            </a:avLst>
          </a:prstGeom>
          <a:noFill/>
          <a:ln w="25400" cap="flat" cmpd="sng">
            <a:noFill/>
            <a:prstDash val="solid"/>
            <a:round/>
          </a:ln>
        </p:spPr>
        <p:txBody>
          <a:bodyPr vert="horz" wrap="square" lIns="25400" tIns="25400" rIns="25400" bIns="25400" rtlCol="0" anchor="ctr" anchorCtr="0"/>
          <a:lstStyle/>
          <a:p>
            <a:pPr indent="0" algn="l">
              <a:lnSpc>
                <a:spcPct val="100000"/>
              </a:lnSpc>
              <a:defRPr/>
            </a:pPr>
            <a:r>
              <a:rPr lang="en-US" sz="1100" b="1" i="0" u="none" strike="noStrike" dirty="0">
                <a:solidFill>
                  <a:srgbClr val="16253F"/>
                </a:solidFill>
                <a:latin typeface="Aptos"/>
                <a:ea typeface="Aptos"/>
                <a:cs typeface="Aptos"/>
                <a:sym typeface="Aptos"/>
              </a:rPr>
              <a:t>LIMITATION 1</a:t>
            </a:r>
            <a:endParaRPr lang="en-US" sz="1100" dirty="0"/>
          </a:p>
          <a:p>
            <a:pPr indent="0" algn="l">
              <a:lnSpc>
                <a:spcPct val="100000"/>
              </a:lnSpc>
            </a:pPr>
            <a:r>
              <a:rPr lang="en-US" sz="1100" b="0" i="0" u="none" strike="noStrike" dirty="0">
                <a:solidFill>
                  <a:srgbClr val="697386"/>
                </a:solidFill>
                <a:latin typeface="Aptos"/>
                <a:ea typeface="Aptos"/>
                <a:cs typeface="Aptos"/>
                <a:sym typeface="Aptos"/>
              </a:rPr>
              <a:t>Performance degrades on faces with extreme poses or occlusions.</a:t>
            </a:r>
          </a:p>
        </p:txBody>
      </p:sp>
      <p:sp>
        <p:nvSpPr>
          <p:cNvPr id="25" name="AutoShape 25"/>
          <p:cNvSpPr/>
          <p:nvPr/>
        </p:nvSpPr>
        <p:spPr>
          <a:xfrm>
            <a:off x="4064000" y="4889500"/>
            <a:ext cx="2971800" cy="762000"/>
          </a:xfrm>
          <a:prstGeom prst="roundRect">
            <a:avLst>
              <a:gd name="adj" fmla="val 10000"/>
            </a:avLst>
          </a:prstGeom>
          <a:solidFill>
            <a:srgbClr val="FFFFFF">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26" name="AutoShape 26"/>
          <p:cNvSpPr/>
          <p:nvPr/>
        </p:nvSpPr>
        <p:spPr>
          <a:xfrm>
            <a:off x="4165600" y="4978400"/>
            <a:ext cx="2794000" cy="635000"/>
          </a:xfrm>
          <a:prstGeom prst="roundRect">
            <a:avLst>
              <a:gd name="adj" fmla="val 0"/>
            </a:avLst>
          </a:prstGeom>
          <a:noFill/>
          <a:ln w="25400" cap="flat" cmpd="sng">
            <a:noFill/>
            <a:prstDash val="solid"/>
            <a:round/>
          </a:ln>
        </p:spPr>
        <p:txBody>
          <a:bodyPr vert="horz" wrap="square" lIns="25400" tIns="25400" rIns="25400" bIns="25400" rtlCol="0" anchor="ctr" anchorCtr="0"/>
          <a:lstStyle/>
          <a:p>
            <a:pPr indent="0" algn="l">
              <a:lnSpc>
                <a:spcPct val="100000"/>
              </a:lnSpc>
              <a:defRPr/>
            </a:pPr>
            <a:r>
              <a:rPr lang="en-US" sz="1100" b="1" i="0" u="none" strike="noStrike" dirty="0">
                <a:solidFill>
                  <a:srgbClr val="16253F"/>
                </a:solidFill>
                <a:latin typeface="Aptos"/>
                <a:ea typeface="Aptos"/>
                <a:cs typeface="Aptos"/>
                <a:sym typeface="Aptos"/>
              </a:rPr>
              <a:t>LIMITATION 2</a:t>
            </a:r>
            <a:endParaRPr lang="en-US" sz="1100" dirty="0"/>
          </a:p>
          <a:p>
            <a:pPr indent="0" algn="l">
              <a:lnSpc>
                <a:spcPct val="100000"/>
              </a:lnSpc>
            </a:pPr>
            <a:r>
              <a:rPr lang="en-US" sz="1100" b="0" i="0" u="none" strike="noStrike" dirty="0">
                <a:solidFill>
                  <a:srgbClr val="697386"/>
                </a:solidFill>
                <a:latin typeface="Aptos"/>
                <a:ea typeface="Aptos"/>
                <a:cs typeface="Aptos"/>
                <a:sym typeface="Aptos"/>
              </a:rPr>
              <a:t>The architecture used was relatively simple; more complex ones (e.g., </a:t>
            </a:r>
            <a:r>
              <a:rPr lang="en-US" sz="1100" b="0" i="0" u="none" strike="noStrike" dirty="0" err="1">
                <a:solidFill>
                  <a:srgbClr val="697386"/>
                </a:solidFill>
                <a:latin typeface="Aptos"/>
                <a:ea typeface="Aptos"/>
                <a:cs typeface="Aptos"/>
                <a:sym typeface="Aptos"/>
              </a:rPr>
              <a:t>ResNet</a:t>
            </a:r>
            <a:r>
              <a:rPr lang="en-US" sz="1100" b="0" i="0" u="none" strike="noStrike" dirty="0">
                <a:solidFill>
                  <a:srgbClr val="697386"/>
                </a:solidFill>
                <a:latin typeface="Aptos"/>
                <a:ea typeface="Aptos"/>
                <a:cs typeface="Aptos"/>
                <a:sym typeface="Aptos"/>
              </a:rPr>
              <a:t>) may perform better.</a:t>
            </a:r>
          </a:p>
        </p:txBody>
      </p:sp>
      <p:sp>
        <p:nvSpPr>
          <p:cNvPr id="27" name="AutoShape 27"/>
          <p:cNvSpPr/>
          <p:nvPr/>
        </p:nvSpPr>
        <p:spPr>
          <a:xfrm>
            <a:off x="7200900" y="4889500"/>
            <a:ext cx="2971800" cy="762000"/>
          </a:xfrm>
          <a:prstGeom prst="roundRect">
            <a:avLst>
              <a:gd name="adj" fmla="val 10000"/>
            </a:avLst>
          </a:prstGeom>
          <a:solidFill>
            <a:srgbClr val="FFFFFF">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28" name="AutoShape 28"/>
          <p:cNvSpPr/>
          <p:nvPr/>
        </p:nvSpPr>
        <p:spPr>
          <a:xfrm>
            <a:off x="7302500" y="4978400"/>
            <a:ext cx="2794000" cy="635000"/>
          </a:xfrm>
          <a:prstGeom prst="roundRect">
            <a:avLst>
              <a:gd name="adj" fmla="val 0"/>
            </a:avLst>
          </a:prstGeom>
          <a:noFill/>
          <a:ln w="25400" cap="flat" cmpd="sng">
            <a:noFill/>
            <a:prstDash val="solid"/>
            <a:round/>
          </a:ln>
        </p:spPr>
        <p:txBody>
          <a:bodyPr vert="horz" wrap="square" lIns="25400" tIns="25400" rIns="25400" bIns="25400" rtlCol="0" anchor="ctr" anchorCtr="0"/>
          <a:lstStyle/>
          <a:p>
            <a:pPr>
              <a:defRPr/>
            </a:pPr>
            <a:r>
              <a:rPr lang="en-US" altLang="zh-CN" sz="1100" b="1" dirty="0">
                <a:solidFill>
                  <a:srgbClr val="16253F"/>
                </a:solidFill>
                <a:latin typeface="Aptos"/>
                <a:ea typeface="Aptos"/>
                <a:cs typeface="Aptos"/>
                <a:sym typeface="Aptos"/>
              </a:rPr>
              <a:t>NEXT STEP</a:t>
            </a:r>
            <a:endParaRPr lang="en-US" altLang="zh-CN" sz="1100" dirty="0"/>
          </a:p>
          <a:p>
            <a:r>
              <a:rPr lang="en-US" altLang="zh-CN" sz="1100" dirty="0">
                <a:solidFill>
                  <a:srgbClr val="697386"/>
                </a:solidFill>
                <a:latin typeface="Aptos"/>
                <a:ea typeface="Aptos"/>
                <a:cs typeface="Aptos"/>
                <a:sym typeface="Aptos"/>
              </a:rPr>
              <a:t>Add augmentation, coord normalization, cosine LR schedule, early stopping, heatmap regression.</a:t>
            </a:r>
          </a:p>
        </p:txBody>
      </p:sp>
      <p:sp>
        <p:nvSpPr>
          <p:cNvPr id="29" name="AutoShape 29"/>
          <p:cNvSpPr/>
          <p:nvPr/>
        </p:nvSpPr>
        <p:spPr>
          <a:xfrm>
            <a:off x="11379200" y="6464300"/>
            <a:ext cx="4064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r">
              <a:lnSpc>
                <a:spcPct val="100000"/>
              </a:lnSpc>
              <a:defRPr/>
            </a:pPr>
            <a:r>
              <a:rPr lang="en-US" sz="900" b="0" i="0" u="none" strike="noStrike">
                <a:solidFill>
                  <a:srgbClr val="697386"/>
                </a:solidFill>
                <a:latin typeface="Aptos"/>
                <a:ea typeface="Aptos"/>
                <a:cs typeface="Aptos"/>
                <a:sym typeface="Aptos"/>
              </a:rPr>
              <a:t>08</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65100" cy="68580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11544300" y="0"/>
            <a:ext cx="647700" cy="10033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1125200" y="0"/>
            <a:ext cx="406400" cy="419100"/>
          </a:xfrm>
          <a:prstGeom prst="roundRect">
            <a:avLst>
              <a:gd name="adj" fmla="val 0"/>
            </a:avLst>
          </a:prstGeom>
          <a:solidFill>
            <a:srgbClr val="16253F">
              <a:alpha val="100000"/>
            </a:srgbClr>
          </a:solidFill>
          <a:ln w="12700" cap="flat" cmpd="sng">
            <a:solidFill>
              <a:srgbClr val="16253F">
                <a:alpha val="0"/>
              </a:srgbClr>
            </a:solidFill>
            <a:prstDash val="solid"/>
            <a:miter lim="10000000"/>
          </a:ln>
        </p:spPr>
        <p:txBody>
          <a:bodyPr vert="horz" wrap="square" lIns="63500" tIns="63500" rIns="63500" bIns="63500" rtlCol="0" anchor="ctr"/>
          <a:lstStyle/>
          <a:p>
            <a:pPr algn="ctr">
              <a:defRPr/>
            </a:pPr>
            <a:endParaRPr/>
          </a:p>
        </p:txBody>
      </p:sp>
      <p:sp>
        <p:nvSpPr>
          <p:cNvPr id="5" name="AutoShape 5"/>
          <p:cNvSpPr/>
          <p:nvPr/>
        </p:nvSpPr>
        <p:spPr>
          <a:xfrm>
            <a:off x="508000" y="292100"/>
            <a:ext cx="2921000" cy="203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FINAL PRESENTATION TEMPLATE</a:t>
            </a:r>
            <a:endParaRPr lang="en-US" sz="1100"/>
          </a:p>
        </p:txBody>
      </p:sp>
      <p:sp>
        <p:nvSpPr>
          <p:cNvPr id="6" name="AutoShape 6"/>
          <p:cNvSpPr/>
          <p:nvPr/>
        </p:nvSpPr>
        <p:spPr>
          <a:xfrm>
            <a:off x="508000" y="508000"/>
            <a:ext cx="8089900" cy="4699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600" b="1" i="0" u="none" strike="noStrike">
                <a:solidFill>
                  <a:srgbClr val="16253F"/>
                </a:solidFill>
                <a:latin typeface="Play"/>
                <a:ea typeface="Play"/>
                <a:cs typeface="Play"/>
                <a:sym typeface="Play"/>
              </a:rPr>
              <a:t>7. AI Usage &amp; Reproducibility</a:t>
            </a:r>
            <a:endParaRPr lang="en-US" sz="1100"/>
          </a:p>
        </p:txBody>
      </p:sp>
      <p:cxnSp>
        <p:nvCxnSpPr>
          <p:cNvPr id="7" name="Connector 7"/>
          <p:cNvCxnSpPr/>
          <p:nvPr/>
        </p:nvCxnSpPr>
        <p:spPr>
          <a:xfrm>
            <a:off x="508000" y="6438900"/>
            <a:ext cx="11150607" cy="12700"/>
          </a:xfrm>
          <a:prstGeom prst="line">
            <a:avLst/>
          </a:prstGeom>
          <a:solidFill>
            <a:srgbClr val="DEE0E3">
              <a:alpha val="100000"/>
            </a:srgbClr>
          </a:solidFill>
          <a:ln w="12700" cap="sq" cmpd="sng">
            <a:solidFill>
              <a:srgbClr val="D5CCBF">
                <a:alpha val="100000"/>
              </a:srgbClr>
            </a:solidFill>
            <a:prstDash val="solid"/>
            <a:miter lim="10000000"/>
            <a:headEnd type="none" w="med" len="med"/>
            <a:tailEnd type="none" w="med" len="med"/>
          </a:ln>
        </p:spPr>
      </p:cxnSp>
      <p:sp>
        <p:nvSpPr>
          <p:cNvPr id="8" name="AutoShape 8"/>
          <p:cNvSpPr/>
          <p:nvPr/>
        </p:nvSpPr>
        <p:spPr>
          <a:xfrm>
            <a:off x="533400" y="6477000"/>
            <a:ext cx="64897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900" b="0" i="0" u="none" strike="noStrike">
                <a:solidFill>
                  <a:srgbClr val="697386"/>
                </a:solidFill>
                <a:latin typeface="Aptos"/>
                <a:ea typeface="Aptos"/>
                <a:cs typeface="Aptos"/>
                <a:sym typeface="Aptos"/>
              </a:rPr>
              <a:t>SDSC8007 • Mini Project • AI Usage &amp; Reproducibility</a:t>
            </a:r>
            <a:endParaRPr lang="en-US" sz="1100"/>
          </a:p>
        </p:txBody>
      </p:sp>
      <p:sp>
        <p:nvSpPr>
          <p:cNvPr id="9" name="AutoShape 9"/>
          <p:cNvSpPr/>
          <p:nvPr/>
        </p:nvSpPr>
        <p:spPr>
          <a:xfrm>
            <a:off x="9372600" y="292100"/>
            <a:ext cx="1651000" cy="254000"/>
          </a:xfrm>
          <a:prstGeom prst="roundRect">
            <a:avLst>
              <a:gd name="adj" fmla="val 20000"/>
            </a:avLst>
          </a:prstGeom>
          <a:solidFill>
            <a:srgbClr val="FFFCF7">
              <a:alpha val="100000"/>
            </a:srgbClr>
          </a:solidFill>
          <a:ln w="12700" cap="flat" cmpd="sng">
            <a:solidFill>
              <a:srgbClr val="EDE2D3">
                <a:alpha val="100000"/>
              </a:srgbClr>
            </a:solidFill>
            <a:prstDash val="solid"/>
            <a:miter lim="10000000"/>
          </a:ln>
        </p:spPr>
        <p:txBody>
          <a:bodyPr vert="horz" wrap="square" lIns="63500" tIns="63500" rIns="63500" bIns="63500" rtlCol="0" anchor="ctr"/>
          <a:lstStyle/>
          <a:p>
            <a:pPr algn="ctr">
              <a:defRPr/>
            </a:pPr>
            <a:endParaRPr/>
          </a:p>
        </p:txBody>
      </p:sp>
      <p:sp>
        <p:nvSpPr>
          <p:cNvPr id="10" name="AutoShape 10"/>
          <p:cNvSpPr/>
          <p:nvPr/>
        </p:nvSpPr>
        <p:spPr>
          <a:xfrm>
            <a:off x="9448800" y="330200"/>
            <a:ext cx="1498600" cy="127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800" b="1" i="0" u="none" strike="noStrike">
                <a:solidFill>
                  <a:srgbClr val="697386"/>
                </a:solidFill>
                <a:latin typeface="Aptos"/>
                <a:ea typeface="Aptos"/>
                <a:cs typeface="Aptos"/>
                <a:sym typeface="Aptos"/>
              </a:rPr>
              <a:t>DISCLOSE CLEARLY</a:t>
            </a:r>
            <a:endParaRPr lang="en-US" sz="1100"/>
          </a:p>
        </p:txBody>
      </p:sp>
      <p:sp>
        <p:nvSpPr>
          <p:cNvPr id="11" name="AutoShape 11"/>
          <p:cNvSpPr/>
          <p:nvPr/>
        </p:nvSpPr>
        <p:spPr>
          <a:xfrm>
            <a:off x="698500" y="1257300"/>
            <a:ext cx="5245100" cy="4521200"/>
          </a:xfrm>
          <a:prstGeom prst="roundRect">
            <a:avLst>
              <a:gd name="adj" fmla="val 1685"/>
            </a:avLst>
          </a:prstGeom>
          <a:solidFill>
            <a:srgbClr val="FFFC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12" name="AutoShape 12"/>
          <p:cNvSpPr/>
          <p:nvPr/>
        </p:nvSpPr>
        <p:spPr>
          <a:xfrm>
            <a:off x="914400" y="1498600"/>
            <a:ext cx="8255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B4343A"/>
                </a:solidFill>
                <a:latin typeface="Aptos"/>
                <a:ea typeface="Aptos"/>
                <a:cs typeface="Aptos"/>
                <a:sym typeface="Aptos"/>
              </a:rPr>
              <a:t>AI TOOL USAGE</a:t>
            </a:r>
            <a:endParaRPr lang="en-US" sz="1100"/>
          </a:p>
        </p:txBody>
      </p:sp>
      <p:sp>
        <p:nvSpPr>
          <p:cNvPr id="13" name="AutoShape 13"/>
          <p:cNvSpPr/>
          <p:nvPr/>
        </p:nvSpPr>
        <p:spPr>
          <a:xfrm>
            <a:off x="914400" y="1752600"/>
            <a:ext cx="47117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374151"/>
                </a:solidFill>
                <a:latin typeface="Noto Sans SC"/>
                <a:ea typeface="Noto Sans SC"/>
                <a:cs typeface="Noto Sans SC"/>
                <a:sym typeface="Noto Sans SC"/>
              </a:rPr>
              <a:t>Which AI tools were used, for what purpose, and which core designs were completed independently by the group.</a:t>
            </a:r>
            <a:endParaRPr lang="en-US" sz="1100"/>
          </a:p>
        </p:txBody>
      </p:sp>
      <p:sp>
        <p:nvSpPr>
          <p:cNvPr id="14" name="AutoShape 14"/>
          <p:cNvSpPr/>
          <p:nvPr/>
        </p:nvSpPr>
        <p:spPr>
          <a:xfrm>
            <a:off x="914400" y="2413000"/>
            <a:ext cx="4660900" cy="571500"/>
          </a:xfrm>
          <a:prstGeom prst="roundRect">
            <a:avLst>
              <a:gd name="adj" fmla="val 13333"/>
            </a:avLst>
          </a:prstGeom>
          <a:solidFill>
            <a:srgbClr val="EAF0F7">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15" name="AutoShape 15"/>
          <p:cNvSpPr/>
          <p:nvPr/>
        </p:nvSpPr>
        <p:spPr>
          <a:xfrm>
            <a:off x="1079500" y="2514600"/>
            <a:ext cx="431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91666"/>
              </a:lnSpc>
              <a:defRPr/>
            </a:pPr>
            <a:r>
              <a:rPr lang="en-US" sz="1100" b="1" i="0" u="none" strike="noStrike" dirty="0" err="1">
                <a:solidFill>
                  <a:srgbClr val="1F2329"/>
                </a:solidFill>
                <a:latin typeface="Noto Sans SC"/>
                <a:ea typeface="Noto Sans SC"/>
                <a:cs typeface="Noto Sans SC"/>
                <a:sym typeface="Noto Sans SC"/>
              </a:rPr>
              <a:t>Tool:</a:t>
            </a:r>
            <a:r>
              <a:rPr lang="en-US" sz="1100" b="0" i="0" u="none" strike="noStrike" dirty="0" err="1">
                <a:solidFill>
                  <a:srgbClr val="374151"/>
                </a:solidFill>
                <a:latin typeface="Noto Sans SC"/>
                <a:ea typeface="Noto Sans SC"/>
                <a:cs typeface="Noto Sans SC"/>
                <a:sym typeface="Noto Sans SC"/>
              </a:rPr>
              <a:t>G</a:t>
            </a:r>
            <a:r>
              <a:rPr lang="en-US" altLang="zh-CN" sz="1100" b="0" i="0" u="none" strike="noStrike" dirty="0" err="1">
                <a:solidFill>
                  <a:srgbClr val="374151"/>
                </a:solidFill>
                <a:latin typeface="Noto Sans SC"/>
                <a:ea typeface="Noto Sans SC"/>
                <a:cs typeface="Noto Sans SC"/>
                <a:sym typeface="Noto Sans SC"/>
              </a:rPr>
              <a:t>emini</a:t>
            </a:r>
            <a:endParaRPr lang="en-US" sz="1100" dirty="0"/>
          </a:p>
        </p:txBody>
      </p:sp>
      <p:sp>
        <p:nvSpPr>
          <p:cNvPr id="16" name="AutoShape 16"/>
          <p:cNvSpPr/>
          <p:nvPr/>
        </p:nvSpPr>
        <p:spPr>
          <a:xfrm>
            <a:off x="914400" y="3111500"/>
            <a:ext cx="4660900" cy="698500"/>
          </a:xfrm>
          <a:prstGeom prst="roundRect">
            <a:avLst>
              <a:gd name="adj" fmla="val 10909"/>
            </a:avLst>
          </a:prstGeom>
          <a:solidFill>
            <a:srgbClr val="FFFFFF">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17" name="AutoShape 17"/>
          <p:cNvSpPr/>
          <p:nvPr/>
        </p:nvSpPr>
        <p:spPr>
          <a:xfrm>
            <a:off x="1079500" y="3200400"/>
            <a:ext cx="4318000" cy="508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91666"/>
              </a:lnSpc>
              <a:defRPr/>
            </a:pPr>
            <a:r>
              <a:rPr lang="en-US" altLang="zh-CN" sz="1100" b="1" dirty="0">
                <a:solidFill>
                  <a:srgbClr val="1F2329"/>
                </a:solidFill>
              </a:rPr>
              <a:t>Purpose: </a:t>
            </a:r>
            <a:r>
              <a:rPr lang="en-US" altLang="zh-CN" sz="1100" dirty="0">
                <a:solidFill>
                  <a:srgbClr val="374151"/>
                </a:solidFill>
                <a:latin typeface="Noto Sans SC"/>
                <a:ea typeface="Noto Sans SC"/>
              </a:rPr>
              <a:t>Used for bug resolution, discussion of ideas, and generating some PowerPoint images.</a:t>
            </a:r>
          </a:p>
        </p:txBody>
      </p:sp>
      <p:sp>
        <p:nvSpPr>
          <p:cNvPr id="18" name="AutoShape 18"/>
          <p:cNvSpPr/>
          <p:nvPr/>
        </p:nvSpPr>
        <p:spPr>
          <a:xfrm>
            <a:off x="914400" y="3937000"/>
            <a:ext cx="4660900" cy="825500"/>
          </a:xfrm>
          <a:prstGeom prst="roundRect">
            <a:avLst>
              <a:gd name="adj" fmla="val 9230"/>
            </a:avLst>
          </a:prstGeom>
          <a:solidFill>
            <a:srgbClr val="FFFFFF">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19" name="AutoShape 19"/>
          <p:cNvSpPr/>
          <p:nvPr/>
        </p:nvSpPr>
        <p:spPr>
          <a:xfrm>
            <a:off x="1079500" y="4038600"/>
            <a:ext cx="431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91666"/>
              </a:lnSpc>
              <a:defRPr/>
            </a:pPr>
            <a:r>
              <a:rPr lang="en-US" sz="1100" b="1" i="0" u="none" strike="noStrike" dirty="0">
                <a:solidFill>
                  <a:srgbClr val="1F2329"/>
                </a:solidFill>
                <a:latin typeface="Noto Sans SC"/>
                <a:ea typeface="Noto Sans SC"/>
                <a:cs typeface="Noto Sans SC"/>
                <a:sym typeface="Noto Sans SC"/>
              </a:rPr>
              <a:t>Independent </a:t>
            </a:r>
            <a:r>
              <a:rPr lang="en-US" sz="1100" b="1" i="0" u="none" strike="noStrike" dirty="0" err="1">
                <a:solidFill>
                  <a:srgbClr val="1F2329"/>
                </a:solidFill>
                <a:latin typeface="Noto Sans SC"/>
                <a:ea typeface="Noto Sans SC"/>
                <a:cs typeface="Noto Sans SC"/>
                <a:sym typeface="Noto Sans SC"/>
              </a:rPr>
              <a:t>Work:</a:t>
            </a:r>
            <a:r>
              <a:rPr lang="en-US" sz="1100" b="0" i="0" u="none" strike="noStrike" dirty="0" err="1">
                <a:solidFill>
                  <a:srgbClr val="374151"/>
                </a:solidFill>
                <a:latin typeface="Noto Sans SC"/>
                <a:ea typeface="Noto Sans SC"/>
                <a:cs typeface="Noto Sans SC"/>
                <a:sym typeface="Noto Sans SC"/>
              </a:rPr>
              <a:t>All</a:t>
            </a:r>
            <a:r>
              <a:rPr lang="en-US" sz="1100" b="0" i="0" u="none" strike="noStrike" dirty="0">
                <a:solidFill>
                  <a:srgbClr val="374151"/>
                </a:solidFill>
                <a:latin typeface="Noto Sans SC"/>
                <a:ea typeface="Noto Sans SC"/>
                <a:cs typeface="Noto Sans SC"/>
                <a:sym typeface="Noto Sans SC"/>
              </a:rPr>
              <a:t> core model designs (CNN architecture), data preprocessing strategies, and experimental pipeline were designed and implemented independently by the group.</a:t>
            </a:r>
            <a:endParaRPr lang="en-US" sz="1100" dirty="0"/>
          </a:p>
        </p:txBody>
      </p:sp>
      <p:sp>
        <p:nvSpPr>
          <p:cNvPr id="20" name="AutoShape 20"/>
          <p:cNvSpPr/>
          <p:nvPr/>
        </p:nvSpPr>
        <p:spPr>
          <a:xfrm>
            <a:off x="914400" y="4953000"/>
            <a:ext cx="4660900" cy="635000"/>
          </a:xfrm>
          <a:prstGeom prst="roundRect">
            <a:avLst>
              <a:gd name="adj" fmla="val 12000"/>
            </a:avLst>
          </a:prstGeom>
          <a:solidFill>
            <a:srgbClr val="FFF1F2">
              <a:alpha val="100000"/>
            </a:srgbClr>
          </a:solidFill>
          <a:ln w="12700" cap="flat" cmpd="sng">
            <a:solidFill>
              <a:srgbClr val="D5CCBF">
                <a:alpha val="100000"/>
              </a:srgbClr>
            </a:solidFill>
            <a:prstDash val="solid"/>
            <a:miter lim="10000000"/>
          </a:ln>
        </p:spPr>
        <p:txBody>
          <a:bodyPr vert="horz" wrap="square" lIns="63500" tIns="63500" rIns="63500" bIns="63500" rtlCol="0" anchor="ctr"/>
          <a:lstStyle/>
          <a:p>
            <a:pPr algn="ctr">
              <a:defRPr/>
            </a:pPr>
            <a:endParaRPr/>
          </a:p>
        </p:txBody>
      </p:sp>
      <p:sp>
        <p:nvSpPr>
          <p:cNvPr id="21" name="AutoShape 21"/>
          <p:cNvSpPr/>
          <p:nvPr/>
        </p:nvSpPr>
        <p:spPr>
          <a:xfrm>
            <a:off x="1079500" y="5054600"/>
            <a:ext cx="4318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91666"/>
              </a:lnSpc>
              <a:defRPr/>
            </a:pPr>
            <a:r>
              <a:rPr lang="en-US" sz="1100" b="1" i="0" u="none" strike="noStrike" dirty="0">
                <a:solidFill>
                  <a:srgbClr val="B91C1C"/>
                </a:solidFill>
                <a:latin typeface="Noto Sans SC"/>
                <a:ea typeface="Noto Sans SC"/>
                <a:cs typeface="Noto Sans SC"/>
                <a:sym typeface="Noto Sans SC"/>
              </a:rPr>
              <a:t>Disclosure </a:t>
            </a:r>
            <a:r>
              <a:rPr lang="en-US" sz="1100" b="1" i="0" u="none" strike="noStrike" dirty="0" err="1">
                <a:solidFill>
                  <a:srgbClr val="B91C1C"/>
                </a:solidFill>
                <a:latin typeface="Noto Sans SC"/>
                <a:ea typeface="Noto Sans SC"/>
                <a:cs typeface="Noto Sans SC"/>
                <a:sym typeface="Noto Sans SC"/>
              </a:rPr>
              <a:t>Note:</a:t>
            </a:r>
            <a:r>
              <a:rPr lang="en-US" sz="1100" b="0" i="0" u="none" strike="noStrike" dirty="0" err="1">
                <a:solidFill>
                  <a:srgbClr val="374151"/>
                </a:solidFill>
                <a:latin typeface="Noto Sans SC"/>
                <a:ea typeface="Noto Sans SC"/>
                <a:cs typeface="Noto Sans SC"/>
                <a:sym typeface="Noto Sans SC"/>
              </a:rPr>
              <a:t>AI</a:t>
            </a:r>
            <a:r>
              <a:rPr lang="en-US" sz="1100" b="0" i="0" u="none" strike="noStrike" dirty="0">
                <a:solidFill>
                  <a:srgbClr val="374151"/>
                </a:solidFill>
                <a:latin typeface="Noto Sans SC"/>
                <a:ea typeface="Noto Sans SC"/>
                <a:cs typeface="Noto Sans SC"/>
                <a:sym typeface="Noto Sans SC"/>
              </a:rPr>
              <a:t> tools were used as productivity aids and did not contribute to the core intellectual content of the project.</a:t>
            </a:r>
            <a:endParaRPr lang="en-US" sz="1100" dirty="0"/>
          </a:p>
        </p:txBody>
      </p:sp>
      <p:sp>
        <p:nvSpPr>
          <p:cNvPr id="36" name="AutoShape 36"/>
          <p:cNvSpPr/>
          <p:nvPr/>
        </p:nvSpPr>
        <p:spPr>
          <a:xfrm>
            <a:off x="11379200" y="6464300"/>
            <a:ext cx="406400" cy="165100"/>
          </a:xfrm>
          <a:prstGeom prst="roundRect">
            <a:avLst>
              <a:gd name="adj" fmla="val 0"/>
            </a:avLst>
          </a:prstGeom>
          <a:noFill/>
          <a:ln w="25400" cap="flat" cmpd="sng">
            <a:noFill/>
            <a:prstDash val="solid"/>
            <a:round/>
          </a:ln>
        </p:spPr>
        <p:txBody>
          <a:bodyPr vert="horz" wrap="square" lIns="0" tIns="0" rIns="0" bIns="0" rtlCol="0" anchor="ctr" anchorCtr="0"/>
          <a:lstStyle/>
          <a:p>
            <a:pPr indent="0" algn="r">
              <a:lnSpc>
                <a:spcPct val="100000"/>
              </a:lnSpc>
              <a:defRPr/>
            </a:pPr>
            <a:r>
              <a:rPr lang="en-US" sz="900" b="0" i="0" u="none" strike="noStrike">
                <a:solidFill>
                  <a:srgbClr val="697386"/>
                </a:solidFill>
                <a:latin typeface="Aptos"/>
                <a:ea typeface="Aptos"/>
                <a:cs typeface="Aptos"/>
                <a:sym typeface="Aptos"/>
              </a:rPr>
              <a:t>09</a:t>
            </a:r>
            <a:endParaRPr lang="en-US" sz="1100"/>
          </a:p>
        </p:txBody>
      </p:sp>
      <p:sp>
        <p:nvSpPr>
          <p:cNvPr id="37" name="Shape 20">
            <a:extLst>
              <a:ext uri="{FF2B5EF4-FFF2-40B4-BE49-F238E27FC236}">
                <a16:creationId xmlns:a16="http://schemas.microsoft.com/office/drawing/2014/main" id="{28F32B7C-002D-A39E-DCF4-7B138368BD81}"/>
              </a:ext>
            </a:extLst>
          </p:cNvPr>
          <p:cNvSpPr/>
          <p:nvPr/>
        </p:nvSpPr>
        <p:spPr>
          <a:xfrm>
            <a:off x="6159500" y="1257300"/>
            <a:ext cx="5065776" cy="4526280"/>
          </a:xfrm>
          <a:prstGeom prst="roundRect">
            <a:avLst>
              <a:gd name="adj" fmla="val 1616"/>
            </a:avLst>
          </a:prstGeom>
          <a:solidFill>
            <a:srgbClr val="FFFCF7"/>
          </a:solidFill>
          <a:ln w="12700">
            <a:solidFill>
              <a:srgbClr val="D5CCBF"/>
            </a:solidFill>
            <a:prstDash val="solid"/>
          </a:ln>
        </p:spPr>
        <p:txBody>
          <a:bodyPr/>
          <a:lstStyle/>
          <a:p>
            <a:endParaRPr lang="zh-CN" altLang="en-US"/>
          </a:p>
        </p:txBody>
      </p:sp>
      <p:sp>
        <p:nvSpPr>
          <p:cNvPr id="38" name="Text 21">
            <a:extLst>
              <a:ext uri="{FF2B5EF4-FFF2-40B4-BE49-F238E27FC236}">
                <a16:creationId xmlns:a16="http://schemas.microsoft.com/office/drawing/2014/main" id="{ED0802CA-36FB-93B9-F0D5-F059CC726553}"/>
              </a:ext>
            </a:extLst>
          </p:cNvPr>
          <p:cNvSpPr/>
          <p:nvPr/>
        </p:nvSpPr>
        <p:spPr>
          <a:xfrm>
            <a:off x="6437376" y="1499616"/>
            <a:ext cx="1371600" cy="164592"/>
          </a:xfrm>
          <a:prstGeom prst="rect">
            <a:avLst/>
          </a:prstGeom>
          <a:noFill/>
          <a:ln/>
        </p:spPr>
        <p:txBody>
          <a:bodyPr wrap="square" lIns="0" tIns="0" rIns="0" bIns="0" rtlCol="0" anchor="ctr"/>
          <a:lstStyle/>
          <a:p>
            <a:pPr marL="0" indent="0">
              <a:buNone/>
            </a:pPr>
            <a:r>
              <a:rPr lang="en-US" sz="950" b="1" dirty="0">
                <a:solidFill>
                  <a:srgbClr val="B4343A"/>
                </a:solidFill>
                <a:latin typeface="Aptos" pitchFamily="34" charset="0"/>
                <a:ea typeface="Aptos" pitchFamily="34" charset="-122"/>
                <a:cs typeface="Aptos" pitchFamily="34" charset="-120"/>
              </a:rPr>
              <a:t>REPRODUCIBILITY CHECKLIST</a:t>
            </a:r>
            <a:endParaRPr lang="en-US" sz="950" dirty="0"/>
          </a:p>
        </p:txBody>
      </p:sp>
      <p:sp>
        <p:nvSpPr>
          <p:cNvPr id="39" name="Shape 22">
            <a:extLst>
              <a:ext uri="{FF2B5EF4-FFF2-40B4-BE49-F238E27FC236}">
                <a16:creationId xmlns:a16="http://schemas.microsoft.com/office/drawing/2014/main" id="{D4CA48FA-F283-BEE7-651F-231975462EA1}"/>
              </a:ext>
            </a:extLst>
          </p:cNvPr>
          <p:cNvSpPr/>
          <p:nvPr/>
        </p:nvSpPr>
        <p:spPr>
          <a:xfrm>
            <a:off x="6437376" y="1828800"/>
            <a:ext cx="201168" cy="201168"/>
          </a:xfrm>
          <a:prstGeom prst="roundRect">
            <a:avLst>
              <a:gd name="adj" fmla="val 13636"/>
            </a:avLst>
          </a:prstGeom>
          <a:solidFill>
            <a:srgbClr val="FFFFFF"/>
          </a:solidFill>
          <a:ln w="13970">
            <a:solidFill>
              <a:srgbClr val="B4343A"/>
            </a:solidFill>
            <a:prstDash val="solid"/>
          </a:ln>
        </p:spPr>
        <p:txBody>
          <a:bodyPr/>
          <a:lstStyle/>
          <a:p>
            <a:endParaRPr lang="zh-CN" altLang="en-US"/>
          </a:p>
        </p:txBody>
      </p:sp>
      <p:sp>
        <p:nvSpPr>
          <p:cNvPr id="40" name="Text 23">
            <a:extLst>
              <a:ext uri="{FF2B5EF4-FFF2-40B4-BE49-F238E27FC236}">
                <a16:creationId xmlns:a16="http://schemas.microsoft.com/office/drawing/2014/main" id="{184428E3-D3BA-52F9-57F5-1DEF2A80903B}"/>
              </a:ext>
            </a:extLst>
          </p:cNvPr>
          <p:cNvSpPr/>
          <p:nvPr/>
        </p:nvSpPr>
        <p:spPr>
          <a:xfrm>
            <a:off x="6766560" y="1802692"/>
            <a:ext cx="4023360" cy="182880"/>
          </a:xfrm>
          <a:prstGeom prst="rect">
            <a:avLst/>
          </a:prstGeom>
          <a:noFill/>
          <a:ln/>
        </p:spPr>
        <p:txBody>
          <a:bodyPr wrap="square" lIns="381" tIns="381" rIns="381" bIns="381" rtlCol="0" anchor="ctr"/>
          <a:lstStyle/>
          <a:p>
            <a:pPr marL="0" indent="0">
              <a:buNone/>
            </a:pPr>
            <a:r>
              <a:rPr lang="en-US" altLang="zh-CN" sz="1120" i="1" dirty="0">
                <a:solidFill>
                  <a:srgbClr val="697386"/>
                </a:solidFill>
                <a:latin typeface="Aptos" pitchFamily="34" charset="0"/>
              </a:rPr>
              <a:t>Seed: 42</a:t>
            </a:r>
            <a:endParaRPr lang="en-US" sz="1120" i="1" dirty="0">
              <a:solidFill>
                <a:srgbClr val="697386"/>
              </a:solidFill>
              <a:latin typeface="Aptos" pitchFamily="34" charset="0"/>
            </a:endParaRPr>
          </a:p>
        </p:txBody>
      </p:sp>
      <p:sp>
        <p:nvSpPr>
          <p:cNvPr id="41" name="Shape 24">
            <a:extLst>
              <a:ext uri="{FF2B5EF4-FFF2-40B4-BE49-F238E27FC236}">
                <a16:creationId xmlns:a16="http://schemas.microsoft.com/office/drawing/2014/main" id="{1C565F56-484A-C581-86DC-7A559242E925}"/>
              </a:ext>
            </a:extLst>
          </p:cNvPr>
          <p:cNvSpPr/>
          <p:nvPr/>
        </p:nvSpPr>
        <p:spPr>
          <a:xfrm>
            <a:off x="6437376" y="2344510"/>
            <a:ext cx="201168" cy="201168"/>
          </a:xfrm>
          <a:prstGeom prst="roundRect">
            <a:avLst>
              <a:gd name="adj" fmla="val 13636"/>
            </a:avLst>
          </a:prstGeom>
          <a:solidFill>
            <a:srgbClr val="FFFFFF"/>
          </a:solidFill>
          <a:ln w="13970">
            <a:solidFill>
              <a:srgbClr val="B4343A"/>
            </a:solidFill>
            <a:prstDash val="solid"/>
          </a:ln>
        </p:spPr>
        <p:txBody>
          <a:bodyPr/>
          <a:lstStyle/>
          <a:p>
            <a:endParaRPr lang="zh-CN" altLang="en-US"/>
          </a:p>
        </p:txBody>
      </p:sp>
      <p:sp>
        <p:nvSpPr>
          <p:cNvPr id="42" name="Text 25">
            <a:extLst>
              <a:ext uri="{FF2B5EF4-FFF2-40B4-BE49-F238E27FC236}">
                <a16:creationId xmlns:a16="http://schemas.microsoft.com/office/drawing/2014/main" id="{50A289CE-6F1C-15DB-AF4D-415D9E34A242}"/>
              </a:ext>
            </a:extLst>
          </p:cNvPr>
          <p:cNvSpPr/>
          <p:nvPr/>
        </p:nvSpPr>
        <p:spPr>
          <a:xfrm>
            <a:off x="6766560" y="2375408"/>
            <a:ext cx="4023360" cy="182880"/>
          </a:xfrm>
          <a:prstGeom prst="rect">
            <a:avLst/>
          </a:prstGeom>
          <a:noFill/>
          <a:ln/>
        </p:spPr>
        <p:txBody>
          <a:bodyPr wrap="square" lIns="381" tIns="381" rIns="381" bIns="381" rtlCol="0" anchor="ctr"/>
          <a:lstStyle/>
          <a:p>
            <a:r>
              <a:rPr lang="en-US" altLang="zh-CN" sz="1120" i="1" dirty="0" err="1">
                <a:solidFill>
                  <a:srgbClr val="697386"/>
                </a:solidFill>
                <a:latin typeface="Aptos" pitchFamily="34" charset="0"/>
              </a:rPr>
              <a:t>numpy</a:t>
            </a:r>
            <a:r>
              <a:rPr lang="en-US" altLang="zh-CN" sz="1120" i="1" dirty="0">
                <a:solidFill>
                  <a:srgbClr val="697386"/>
                </a:solidFill>
                <a:latin typeface="Aptos" pitchFamily="34" charset="0"/>
              </a:rPr>
              <a:t>&gt;=1.24</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pandas&gt;=2.0</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scikit-learn&gt;=1.3</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torch&gt;=2.1</a:t>
            </a:r>
            <a:r>
              <a:rPr lang="zh-CN" altLang="en-US" sz="1120" i="1" dirty="0">
                <a:solidFill>
                  <a:srgbClr val="697386"/>
                </a:solidFill>
                <a:latin typeface="Aptos" pitchFamily="34" charset="0"/>
              </a:rPr>
              <a:t>、</a:t>
            </a:r>
            <a:r>
              <a:rPr lang="en-US" altLang="zh-CN" sz="1120" i="1" dirty="0" err="1">
                <a:solidFill>
                  <a:srgbClr val="697386"/>
                </a:solidFill>
                <a:latin typeface="Aptos" pitchFamily="34" charset="0"/>
              </a:rPr>
              <a:t>tqdm</a:t>
            </a:r>
            <a:r>
              <a:rPr lang="en-US" altLang="zh-CN" sz="1120" i="1" dirty="0">
                <a:solidFill>
                  <a:srgbClr val="697386"/>
                </a:solidFill>
                <a:latin typeface="Aptos" pitchFamily="34" charset="0"/>
              </a:rPr>
              <a:t>&gt;=4.66</a:t>
            </a:r>
          </a:p>
        </p:txBody>
      </p:sp>
      <p:sp>
        <p:nvSpPr>
          <p:cNvPr id="43" name="Shape 26">
            <a:extLst>
              <a:ext uri="{FF2B5EF4-FFF2-40B4-BE49-F238E27FC236}">
                <a16:creationId xmlns:a16="http://schemas.microsoft.com/office/drawing/2014/main" id="{DBF66343-976D-3984-4F4D-B0F9C3E4E4B3}"/>
              </a:ext>
            </a:extLst>
          </p:cNvPr>
          <p:cNvSpPr/>
          <p:nvPr/>
        </p:nvSpPr>
        <p:spPr>
          <a:xfrm>
            <a:off x="6430845" y="2832861"/>
            <a:ext cx="201168" cy="201168"/>
          </a:xfrm>
          <a:prstGeom prst="roundRect">
            <a:avLst>
              <a:gd name="adj" fmla="val 13636"/>
            </a:avLst>
          </a:prstGeom>
          <a:solidFill>
            <a:srgbClr val="FFFFFF"/>
          </a:solidFill>
          <a:ln w="13970">
            <a:solidFill>
              <a:srgbClr val="B4343A"/>
            </a:solidFill>
            <a:prstDash val="solid"/>
          </a:ln>
        </p:spPr>
        <p:txBody>
          <a:bodyPr/>
          <a:lstStyle/>
          <a:p>
            <a:endParaRPr lang="zh-CN" altLang="en-US"/>
          </a:p>
        </p:txBody>
      </p:sp>
      <p:sp>
        <p:nvSpPr>
          <p:cNvPr id="44" name="Text 27">
            <a:extLst>
              <a:ext uri="{FF2B5EF4-FFF2-40B4-BE49-F238E27FC236}">
                <a16:creationId xmlns:a16="http://schemas.microsoft.com/office/drawing/2014/main" id="{216D70C9-9536-2589-DF07-FB5007AB6A1E}"/>
              </a:ext>
            </a:extLst>
          </p:cNvPr>
          <p:cNvSpPr/>
          <p:nvPr/>
        </p:nvSpPr>
        <p:spPr>
          <a:xfrm>
            <a:off x="6766560" y="3628317"/>
            <a:ext cx="4023360" cy="182880"/>
          </a:xfrm>
          <a:prstGeom prst="rect">
            <a:avLst/>
          </a:prstGeom>
          <a:noFill/>
          <a:ln/>
        </p:spPr>
        <p:txBody>
          <a:bodyPr wrap="square" lIns="381" tIns="381" rIns="381" bIns="381" rtlCol="0" anchor="ctr"/>
          <a:lstStyle/>
          <a:p>
            <a:r>
              <a:rPr lang="en-US" altLang="zh-CN" sz="1120" i="1" dirty="0">
                <a:solidFill>
                  <a:srgbClr val="697386"/>
                </a:solidFill>
                <a:latin typeface="Aptos" pitchFamily="34" charset="0"/>
              </a:rPr>
              <a:t>Validation</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K-Fold Cross Validation</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5 folds</a:t>
            </a:r>
            <a:r>
              <a:rPr lang="zh-CN" altLang="en-US" sz="1120" i="1" dirty="0">
                <a:solidFill>
                  <a:srgbClr val="697386"/>
                </a:solidFill>
                <a:latin typeface="Aptos" pitchFamily="34" charset="0"/>
              </a:rPr>
              <a:t>）</a:t>
            </a:r>
          </a:p>
          <a:p>
            <a:r>
              <a:rPr lang="en-US" altLang="zh-CN" sz="1120" i="1" dirty="0">
                <a:solidFill>
                  <a:srgbClr val="697386"/>
                </a:solidFill>
                <a:latin typeface="Aptos" pitchFamily="34" charset="0"/>
              </a:rPr>
              <a:t>Optimizer</a:t>
            </a:r>
            <a:r>
              <a:rPr lang="zh-CN" altLang="en-US" sz="1120" i="1" dirty="0">
                <a:solidFill>
                  <a:srgbClr val="697386"/>
                </a:solidFill>
                <a:latin typeface="Aptos" pitchFamily="34" charset="0"/>
              </a:rPr>
              <a:t>：</a:t>
            </a:r>
            <a:r>
              <a:rPr lang="en-US" altLang="zh-CN" sz="1120" i="1" dirty="0" err="1">
                <a:solidFill>
                  <a:srgbClr val="697386"/>
                </a:solidFill>
                <a:latin typeface="Aptos" pitchFamily="34" charset="0"/>
              </a:rPr>
              <a:t>AdamW</a:t>
            </a:r>
            <a:endParaRPr lang="en-US" altLang="zh-CN" sz="1120" i="1" dirty="0">
              <a:solidFill>
                <a:srgbClr val="697386"/>
              </a:solidFill>
              <a:latin typeface="Aptos" pitchFamily="34" charset="0"/>
            </a:endParaRPr>
          </a:p>
          <a:p>
            <a:pPr lvl="1"/>
            <a:r>
              <a:rPr lang="en-US" altLang="zh-CN" sz="1120" i="1" dirty="0">
                <a:solidFill>
                  <a:srgbClr val="697386"/>
                </a:solidFill>
                <a:latin typeface="Aptos" pitchFamily="34" charset="0"/>
              </a:rPr>
              <a:t>learning rate</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1e-3</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a:t>
            </a:r>
            <a:r>
              <a:rPr lang="en-US" altLang="zh-CN" sz="1120" i="1" dirty="0" err="1">
                <a:solidFill>
                  <a:srgbClr val="697386"/>
                </a:solidFill>
                <a:latin typeface="Aptos" pitchFamily="34" charset="0"/>
              </a:rPr>
              <a:t>lr</a:t>
            </a:r>
            <a:r>
              <a:rPr lang="zh-CN" altLang="en-US" sz="1120" i="1" dirty="0">
                <a:solidFill>
                  <a:srgbClr val="697386"/>
                </a:solidFill>
                <a:latin typeface="Aptos" pitchFamily="34" charset="0"/>
              </a:rPr>
              <a:t>）</a:t>
            </a:r>
          </a:p>
          <a:p>
            <a:pPr lvl="1"/>
            <a:r>
              <a:rPr lang="en-US" altLang="zh-CN" sz="1120" i="1" dirty="0">
                <a:solidFill>
                  <a:srgbClr val="697386"/>
                </a:solidFill>
                <a:latin typeface="Aptos" pitchFamily="34" charset="0"/>
              </a:rPr>
              <a:t>weight decay</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1e-4</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--weight-decay</a:t>
            </a:r>
            <a:r>
              <a:rPr lang="zh-CN" altLang="en-US" sz="1120" i="1" dirty="0">
                <a:solidFill>
                  <a:srgbClr val="697386"/>
                </a:solidFill>
                <a:latin typeface="Aptos" pitchFamily="34" charset="0"/>
              </a:rPr>
              <a:t>）</a:t>
            </a:r>
          </a:p>
          <a:p>
            <a:r>
              <a:rPr lang="en-US" altLang="zh-CN" sz="1120" i="1" dirty="0">
                <a:solidFill>
                  <a:srgbClr val="697386"/>
                </a:solidFill>
                <a:latin typeface="Aptos" pitchFamily="34" charset="0"/>
              </a:rPr>
              <a:t>Loss</a:t>
            </a:r>
            <a:r>
              <a:rPr lang="zh-CN" altLang="en-US" sz="1120" i="1" dirty="0">
                <a:solidFill>
                  <a:srgbClr val="697386"/>
                </a:solidFill>
                <a:latin typeface="Aptos" pitchFamily="34" charset="0"/>
              </a:rPr>
              <a:t>：</a:t>
            </a:r>
            <a:r>
              <a:rPr lang="en-US" altLang="zh-CN" sz="1120" i="1" dirty="0" err="1">
                <a:solidFill>
                  <a:srgbClr val="697386"/>
                </a:solidFill>
                <a:latin typeface="Aptos" pitchFamily="34" charset="0"/>
              </a:rPr>
              <a:t>MaskedMSELoss</a:t>
            </a:r>
            <a:r>
              <a:rPr lang="en-US" altLang="zh-CN" sz="1120" i="1" dirty="0">
                <a:solidFill>
                  <a:srgbClr val="697386"/>
                </a:solidFill>
                <a:latin typeface="Aptos" pitchFamily="34" charset="0"/>
              </a:rPr>
              <a:t>()</a:t>
            </a:r>
            <a:r>
              <a:rPr lang="zh-CN" altLang="en-US" sz="1120" i="1" dirty="0">
                <a:solidFill>
                  <a:srgbClr val="697386"/>
                </a:solidFill>
                <a:latin typeface="Aptos" pitchFamily="34" charset="0"/>
              </a:rPr>
              <a:t> </a:t>
            </a:r>
            <a:endParaRPr lang="en-US" altLang="zh-CN" sz="1120" i="1" dirty="0">
              <a:solidFill>
                <a:srgbClr val="697386"/>
              </a:solidFill>
              <a:latin typeface="Aptos" pitchFamily="34" charset="0"/>
            </a:endParaRPr>
          </a:p>
          <a:p>
            <a:r>
              <a:rPr lang="en-US" altLang="zh-CN" sz="1120" i="1" dirty="0">
                <a:solidFill>
                  <a:srgbClr val="697386"/>
                </a:solidFill>
                <a:latin typeface="Aptos" pitchFamily="34" charset="0"/>
              </a:rPr>
              <a:t>Epochs</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20</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--epochs</a:t>
            </a:r>
            <a:r>
              <a:rPr lang="zh-CN" altLang="en-US" sz="1120" i="1" dirty="0">
                <a:solidFill>
                  <a:srgbClr val="697386"/>
                </a:solidFill>
                <a:latin typeface="Aptos" pitchFamily="34" charset="0"/>
              </a:rPr>
              <a:t>）</a:t>
            </a:r>
          </a:p>
          <a:p>
            <a:r>
              <a:rPr lang="en-US" altLang="zh-CN" sz="1120" i="1" dirty="0">
                <a:solidFill>
                  <a:srgbClr val="697386"/>
                </a:solidFill>
                <a:latin typeface="Aptos" pitchFamily="34" charset="0"/>
              </a:rPr>
              <a:t>Batch size</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64</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--batch-size</a:t>
            </a:r>
            <a:r>
              <a:rPr lang="zh-CN" altLang="en-US" sz="1120" i="1" dirty="0">
                <a:solidFill>
                  <a:srgbClr val="697386"/>
                </a:solidFill>
                <a:latin typeface="Aptos" pitchFamily="34" charset="0"/>
              </a:rPr>
              <a:t>）</a:t>
            </a:r>
          </a:p>
          <a:p>
            <a:r>
              <a:rPr lang="en-US" altLang="zh-CN" sz="1120" i="1" dirty="0" err="1">
                <a:solidFill>
                  <a:srgbClr val="697386"/>
                </a:solidFill>
                <a:latin typeface="Aptos" pitchFamily="34" charset="0"/>
              </a:rPr>
              <a:t>DataLoader</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shuffle=True</a:t>
            </a:r>
            <a:r>
              <a:rPr lang="zh-CN" altLang="en-US" sz="1120" i="1" dirty="0">
                <a:solidFill>
                  <a:srgbClr val="697386"/>
                </a:solidFill>
                <a:latin typeface="Aptos" pitchFamily="34" charset="0"/>
              </a:rPr>
              <a:t>（</a:t>
            </a:r>
            <a:r>
              <a:rPr lang="en-US" altLang="zh-CN" sz="1120" i="1" dirty="0">
                <a:solidFill>
                  <a:srgbClr val="697386"/>
                </a:solidFill>
                <a:latin typeface="Aptos" pitchFamily="34" charset="0"/>
              </a:rPr>
              <a:t>train</a:t>
            </a:r>
            <a:r>
              <a:rPr lang="zh-CN" altLang="en-US" sz="1120" i="1" dirty="0">
                <a:solidFill>
                  <a:srgbClr val="697386"/>
                </a:solidFill>
                <a:latin typeface="Aptos" pitchFamily="34" charset="0"/>
              </a:rPr>
              <a:t>），</a:t>
            </a:r>
            <a:r>
              <a:rPr lang="en-US" altLang="zh-CN" sz="1120" i="1" dirty="0" err="1">
                <a:solidFill>
                  <a:srgbClr val="697386"/>
                </a:solidFill>
                <a:latin typeface="Aptos" pitchFamily="34" charset="0"/>
              </a:rPr>
              <a:t>num_workers</a:t>
            </a:r>
            <a:r>
              <a:rPr lang="en-US" altLang="zh-CN" sz="1120" i="1" dirty="0">
                <a:solidFill>
                  <a:srgbClr val="697386"/>
                </a:solidFill>
                <a:latin typeface="Aptos" pitchFamily="34" charset="0"/>
              </a:rPr>
              <a:t>=0</a:t>
            </a:r>
          </a:p>
          <a:p>
            <a:r>
              <a:rPr lang="en-US" altLang="zh-CN" sz="1120" i="1" dirty="0">
                <a:solidFill>
                  <a:srgbClr val="697386"/>
                </a:solidFill>
                <a:latin typeface="Aptos" pitchFamily="34" charset="0"/>
              </a:rPr>
              <a:t>Output artifacts</a:t>
            </a:r>
            <a:r>
              <a:rPr lang="zh-CN" altLang="en-US" sz="1120" i="1" dirty="0">
                <a:solidFill>
                  <a:srgbClr val="697386"/>
                </a:solidFill>
                <a:latin typeface="Aptos" pitchFamily="34" charset="0"/>
              </a:rPr>
              <a:t>：</a:t>
            </a:r>
          </a:p>
          <a:p>
            <a:pPr lvl="1"/>
            <a:r>
              <a:rPr lang="en-US" altLang="zh-CN" sz="1120" i="1" dirty="0">
                <a:solidFill>
                  <a:srgbClr val="697386"/>
                </a:solidFill>
                <a:latin typeface="Aptos" pitchFamily="34" charset="0"/>
              </a:rPr>
              <a:t>artifacts/fold_1.pt ~ fold_5.pt</a:t>
            </a:r>
          </a:p>
          <a:p>
            <a:pPr lvl="1"/>
            <a:r>
              <a:rPr lang="en-US" altLang="zh-CN" sz="1120" i="1" dirty="0">
                <a:solidFill>
                  <a:srgbClr val="697386"/>
                </a:solidFill>
                <a:latin typeface="Aptos" pitchFamily="34" charset="0"/>
              </a:rPr>
              <a:t>artifacts/</a:t>
            </a:r>
            <a:r>
              <a:rPr lang="en-US" altLang="zh-CN" sz="1120" i="1" dirty="0" err="1">
                <a:solidFill>
                  <a:srgbClr val="697386"/>
                </a:solidFill>
                <a:latin typeface="Aptos" pitchFamily="34" charset="0"/>
              </a:rPr>
              <a:t>cv_summary.json</a:t>
            </a:r>
            <a:endParaRPr lang="zh-CN" altLang="en-US" sz="1120" i="1" dirty="0">
              <a:solidFill>
                <a:srgbClr val="697386"/>
              </a:solidFill>
              <a:latin typeface="Aptos" pitchFamily="34" charset="0"/>
            </a:endParaRPr>
          </a:p>
        </p:txBody>
      </p:sp>
      <p:sp>
        <p:nvSpPr>
          <p:cNvPr id="47" name="Shape 30">
            <a:extLst>
              <a:ext uri="{FF2B5EF4-FFF2-40B4-BE49-F238E27FC236}">
                <a16:creationId xmlns:a16="http://schemas.microsoft.com/office/drawing/2014/main" id="{9F3211C6-C8D6-9317-7723-1A82BBFB07D9}"/>
              </a:ext>
            </a:extLst>
          </p:cNvPr>
          <p:cNvSpPr/>
          <p:nvPr/>
        </p:nvSpPr>
        <p:spPr>
          <a:xfrm>
            <a:off x="6437376" y="5064397"/>
            <a:ext cx="201168" cy="201168"/>
          </a:xfrm>
          <a:prstGeom prst="roundRect">
            <a:avLst>
              <a:gd name="adj" fmla="val 13636"/>
            </a:avLst>
          </a:prstGeom>
          <a:solidFill>
            <a:srgbClr val="FFFFFF"/>
          </a:solidFill>
          <a:ln w="13970">
            <a:solidFill>
              <a:srgbClr val="B4343A"/>
            </a:solidFill>
            <a:prstDash val="solid"/>
          </a:ln>
        </p:spPr>
        <p:txBody>
          <a:bodyPr/>
          <a:lstStyle/>
          <a:p>
            <a:endParaRPr lang="zh-CN" altLang="en-US"/>
          </a:p>
        </p:txBody>
      </p:sp>
      <p:sp>
        <p:nvSpPr>
          <p:cNvPr id="48" name="Text 31">
            <a:extLst>
              <a:ext uri="{FF2B5EF4-FFF2-40B4-BE49-F238E27FC236}">
                <a16:creationId xmlns:a16="http://schemas.microsoft.com/office/drawing/2014/main" id="{40CCC3CB-0E93-8F27-B05F-3348D13EC73F}"/>
              </a:ext>
            </a:extLst>
          </p:cNvPr>
          <p:cNvSpPr/>
          <p:nvPr/>
        </p:nvSpPr>
        <p:spPr>
          <a:xfrm>
            <a:off x="6766560" y="5082685"/>
            <a:ext cx="4023360" cy="182880"/>
          </a:xfrm>
          <a:prstGeom prst="rect">
            <a:avLst/>
          </a:prstGeom>
          <a:noFill/>
          <a:ln/>
        </p:spPr>
        <p:txBody>
          <a:bodyPr wrap="square" lIns="381" tIns="381" rIns="381" bIns="381" rtlCol="0" anchor="ctr"/>
          <a:lstStyle/>
          <a:p>
            <a:pPr marL="0" indent="0">
              <a:buNone/>
            </a:pPr>
            <a:r>
              <a:rPr lang="en-US" altLang="zh-CN" sz="1120" i="1" dirty="0">
                <a:solidFill>
                  <a:srgbClr val="697386"/>
                </a:solidFill>
                <a:latin typeface="Aptos" pitchFamily="34" charset="0"/>
              </a:rPr>
              <a:t>RMSE</a:t>
            </a:r>
            <a:endParaRPr lang="en-US" sz="1120" i="1" dirty="0">
              <a:solidFill>
                <a:srgbClr val="697386"/>
              </a:solidFill>
              <a:latin typeface="Aptos" pitchFamily="34" charset="0"/>
            </a:endParaRPr>
          </a:p>
        </p:txBody>
      </p:sp>
      <p:sp>
        <p:nvSpPr>
          <p:cNvPr id="49" name="Shape 32">
            <a:extLst>
              <a:ext uri="{FF2B5EF4-FFF2-40B4-BE49-F238E27FC236}">
                <a16:creationId xmlns:a16="http://schemas.microsoft.com/office/drawing/2014/main" id="{B040BB7A-C0EB-2CDF-F2E3-A18359CCEA54}"/>
              </a:ext>
            </a:extLst>
          </p:cNvPr>
          <p:cNvSpPr/>
          <p:nvPr/>
        </p:nvSpPr>
        <p:spPr>
          <a:xfrm>
            <a:off x="6437376" y="5394960"/>
            <a:ext cx="201168" cy="201168"/>
          </a:xfrm>
          <a:prstGeom prst="roundRect">
            <a:avLst>
              <a:gd name="adj" fmla="val 13636"/>
            </a:avLst>
          </a:prstGeom>
          <a:solidFill>
            <a:srgbClr val="FFFFFF"/>
          </a:solidFill>
          <a:ln w="13970">
            <a:solidFill>
              <a:srgbClr val="B4343A"/>
            </a:solidFill>
            <a:prstDash val="solid"/>
          </a:ln>
        </p:spPr>
        <p:txBody>
          <a:bodyPr/>
          <a:lstStyle/>
          <a:p>
            <a:endParaRPr lang="zh-CN" altLang="en-US"/>
          </a:p>
        </p:txBody>
      </p:sp>
      <p:sp>
        <p:nvSpPr>
          <p:cNvPr id="50" name="Text 33">
            <a:extLst>
              <a:ext uri="{FF2B5EF4-FFF2-40B4-BE49-F238E27FC236}">
                <a16:creationId xmlns:a16="http://schemas.microsoft.com/office/drawing/2014/main" id="{A98C87F5-3907-D92E-DC15-371EB6096D4B}"/>
              </a:ext>
            </a:extLst>
          </p:cNvPr>
          <p:cNvSpPr/>
          <p:nvPr/>
        </p:nvSpPr>
        <p:spPr>
          <a:xfrm>
            <a:off x="6766560" y="5413248"/>
            <a:ext cx="4023360" cy="182880"/>
          </a:xfrm>
          <a:prstGeom prst="rect">
            <a:avLst/>
          </a:prstGeom>
          <a:noFill/>
          <a:ln/>
        </p:spPr>
        <p:txBody>
          <a:bodyPr wrap="square" lIns="381" tIns="381" rIns="381" bIns="381" rtlCol="0" anchor="ctr"/>
          <a:lstStyle/>
          <a:p>
            <a:pPr marL="0" indent="0">
              <a:buNone/>
            </a:pPr>
            <a:r>
              <a:rPr lang="en-US" altLang="zh-CN" sz="1120" i="1" dirty="0">
                <a:solidFill>
                  <a:srgbClr val="697386"/>
                </a:solidFill>
                <a:latin typeface="Aptos" pitchFamily="34" charset="0"/>
              </a:rPr>
              <a:t>N/A</a:t>
            </a:r>
            <a:endParaRPr lang="en-US" sz="1120" i="1" dirty="0">
              <a:solidFill>
                <a:srgbClr val="697386"/>
              </a:solidFill>
              <a:latin typeface="Aptos"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2832100" cy="6858000"/>
          </a:xfrm>
          <a:prstGeom prst="roundRect">
            <a:avLst>
              <a:gd name="adj" fmla="val 0"/>
            </a:avLst>
          </a:prstGeom>
          <a:solidFill>
            <a:srgbClr val="B4343A">
              <a:alpha val="100000"/>
            </a:srgbClr>
          </a:solidFill>
          <a:ln w="12700" cap="flat" cmpd="sng">
            <a:solidFill>
              <a:srgbClr val="B4343A">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2832100" y="0"/>
            <a:ext cx="9359900" cy="6858000"/>
          </a:xfrm>
          <a:prstGeom prst="roundRect">
            <a:avLst>
              <a:gd name="adj" fmla="val 0"/>
            </a:avLst>
          </a:prstGeom>
          <a:solidFill>
            <a:srgbClr val="16253F">
              <a:alpha val="100000"/>
            </a:srgbClr>
          </a:solidFill>
          <a:ln w="12700" cap="flat" cmpd="sng">
            <a:solidFill>
              <a:srgbClr val="16253F">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635000" y="2286000"/>
            <a:ext cx="1778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400" b="1" i="0" u="none" strike="noStrike">
                <a:solidFill>
                  <a:srgbClr val="FFFFFF"/>
                </a:solidFill>
                <a:latin typeface="Play"/>
                <a:ea typeface="Play"/>
                <a:cs typeface="Play"/>
                <a:sym typeface="Play"/>
              </a:rPr>
              <a:t>Q&amp;A</a:t>
            </a:r>
            <a:endParaRPr lang="en-US" sz="1100"/>
          </a:p>
        </p:txBody>
      </p:sp>
      <p:sp>
        <p:nvSpPr>
          <p:cNvPr id="5" name="AutoShape 5"/>
          <p:cNvSpPr/>
          <p:nvPr/>
        </p:nvSpPr>
        <p:spPr>
          <a:xfrm>
            <a:off x="3733800" y="1536700"/>
            <a:ext cx="533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FFFFFF"/>
                </a:solidFill>
                <a:latin typeface="Play"/>
                <a:ea typeface="Play"/>
                <a:cs typeface="Play"/>
                <a:sym typeface="Play"/>
              </a:rPr>
              <a:t>Appendix slides you may add after this page</a:t>
            </a:r>
            <a:endParaRPr lang="en-US" sz="1100" dirty="0"/>
          </a:p>
        </p:txBody>
      </p:sp>
      <p:sp>
        <p:nvSpPr>
          <p:cNvPr id="6" name="AutoShape 6"/>
          <p:cNvSpPr/>
          <p:nvPr/>
        </p:nvSpPr>
        <p:spPr>
          <a:xfrm>
            <a:off x="3733800" y="2413000"/>
            <a:ext cx="4826000" cy="2794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500" b="0" i="0" u="none" strike="noStrike" dirty="0">
                <a:solidFill>
                  <a:srgbClr val="D5DBE7"/>
                </a:solidFill>
                <a:latin typeface="Aptos"/>
                <a:ea typeface="Aptos"/>
                <a:cs typeface="Aptos"/>
                <a:sym typeface="Aptos"/>
              </a:rPr>
              <a:t>• More ablation details</a:t>
            </a:r>
            <a:endParaRPr lang="en-US" sz="1100" dirty="0"/>
          </a:p>
          <a:p>
            <a:pPr indent="0" algn="l">
              <a:lnSpc>
                <a:spcPct val="133333"/>
              </a:lnSpc>
            </a:pPr>
            <a:r>
              <a:rPr lang="en-US" sz="1500" b="0" i="0" u="none" strike="noStrike" dirty="0">
                <a:solidFill>
                  <a:srgbClr val="D5DBE7"/>
                </a:solidFill>
                <a:latin typeface="Aptos"/>
                <a:ea typeface="Aptos"/>
                <a:cs typeface="Aptos"/>
                <a:sym typeface="Aptos"/>
              </a:rPr>
              <a:t>• Extra EDA plots</a:t>
            </a:r>
          </a:p>
          <a:p>
            <a:pPr indent="0" algn="l">
              <a:lnSpc>
                <a:spcPct val="133333"/>
              </a:lnSpc>
            </a:pPr>
            <a:r>
              <a:rPr lang="en-US" sz="1500" b="0" i="0" u="none" strike="noStrike" dirty="0">
                <a:solidFill>
                  <a:srgbClr val="D5DBE7"/>
                </a:solidFill>
                <a:latin typeface="Aptos"/>
                <a:ea typeface="Aptos"/>
                <a:cs typeface="Aptos"/>
                <a:sym typeface="Aptos"/>
              </a:rPr>
              <a:t>• Architecture diagram / training curve</a:t>
            </a:r>
          </a:p>
          <a:p>
            <a:pPr indent="0" algn="l">
              <a:lnSpc>
                <a:spcPct val="133333"/>
              </a:lnSpc>
            </a:pPr>
            <a:r>
              <a:rPr lang="en-US" sz="1500" b="0" i="0" u="none" strike="noStrike" dirty="0">
                <a:solidFill>
                  <a:srgbClr val="D5DBE7"/>
                </a:solidFill>
                <a:latin typeface="Aptos"/>
                <a:ea typeface="Aptos"/>
                <a:cs typeface="Aptos"/>
                <a:sym typeface="Aptos"/>
              </a:rPr>
              <a:t>• Failure cases / qualitative examples</a:t>
            </a:r>
          </a:p>
          <a:p>
            <a:pPr indent="0" algn="l">
              <a:lnSpc>
                <a:spcPct val="133333"/>
              </a:lnSpc>
            </a:pPr>
            <a:r>
              <a:rPr lang="en-US" sz="1500" b="0" i="0" u="none" strike="noStrike" dirty="0">
                <a:solidFill>
                  <a:srgbClr val="D5DBE7"/>
                </a:solidFill>
                <a:latin typeface="Aptos"/>
                <a:ea typeface="Aptos"/>
                <a:cs typeface="Aptos"/>
                <a:sym typeface="Aptos"/>
              </a:rPr>
              <a:t>• Backup answers for validation and reproducibility</a:t>
            </a:r>
          </a:p>
        </p:txBody>
      </p:sp>
      <p:sp>
        <p:nvSpPr>
          <p:cNvPr id="7" name="AutoShape 7"/>
          <p:cNvSpPr/>
          <p:nvPr/>
        </p:nvSpPr>
        <p:spPr>
          <a:xfrm>
            <a:off x="8763000" y="2032000"/>
            <a:ext cx="2794000" cy="2794000"/>
          </a:xfrm>
          <a:prstGeom prst="roundRect">
            <a:avLst>
              <a:gd name="adj" fmla="val 3636"/>
            </a:avLst>
          </a:prstGeom>
          <a:solidFill>
            <a:srgbClr val="20314E">
              <a:alpha val="100000"/>
            </a:srgbClr>
          </a:solidFill>
          <a:ln w="12700" cap="flat" cmpd="sng">
            <a:solidFill>
              <a:srgbClr val="60738E">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00" y="2540000"/>
            <a:ext cx="254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Play"/>
                <a:ea typeface="Play"/>
                <a:cs typeface="Play"/>
                <a:sym typeface="Play"/>
              </a:rPr>
              <a:t>Thank you</a:t>
            </a:r>
            <a:endParaRPr lang="en-US" sz="1100"/>
          </a:p>
        </p:txBody>
      </p:sp>
      <p:sp>
        <p:nvSpPr>
          <p:cNvPr id="9" name="AutoShape 9"/>
          <p:cNvSpPr/>
          <p:nvPr/>
        </p:nvSpPr>
        <p:spPr>
          <a:xfrm>
            <a:off x="8890000" y="3683000"/>
            <a:ext cx="254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1" u="none" strike="noStrike">
                <a:solidFill>
                  <a:srgbClr val="A1B1C8"/>
                </a:solidFill>
                <a:latin typeface="Aptos"/>
                <a:ea typeface="Aptos"/>
                <a:cs typeface="Aptos"/>
                <a:sym typeface="Aptos"/>
              </a:rPr>
              <a:t>For your attention</a:t>
            </a:r>
            <a:endParaRPr lang="en-US" sz="1100"/>
          </a:p>
        </p:txBody>
      </p:sp>
      <p:sp>
        <p:nvSpPr>
          <p:cNvPr id="10" name="AutoShape 10"/>
          <p:cNvSpPr/>
          <p:nvPr/>
        </p:nvSpPr>
        <p:spPr>
          <a:xfrm>
            <a:off x="3733800" y="5842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8291A5"/>
                </a:solidFill>
                <a:latin typeface="Aptos"/>
                <a:ea typeface="Aptos"/>
                <a:cs typeface="Aptos"/>
                <a:sym typeface="Aptos"/>
              </a:rPr>
              <a:t>SDSC8007 • Final Presentation Template</a:t>
            </a:r>
            <a:endParaRPr lang="en-US" sz="1100"/>
          </a:p>
        </p:txBody>
      </p:sp>
      <p:sp>
        <p:nvSpPr>
          <p:cNvPr id="11" name="AutoShape 11"/>
          <p:cNvSpPr/>
          <p:nvPr/>
        </p:nvSpPr>
        <p:spPr>
          <a:xfrm>
            <a:off x="11303000" y="6223000"/>
            <a:ext cx="762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697386"/>
                </a:solidFill>
                <a:latin typeface="Aptos"/>
                <a:ea typeface="Aptos"/>
                <a:cs typeface="Aptos"/>
                <a:sym typeface="Aptos"/>
              </a:rPr>
              <a:t>10</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1579</Words>
  <Application>Microsoft Office PowerPoint</Application>
  <PresentationFormat>宽屏</PresentationFormat>
  <Paragraphs>235</Paragraphs>
  <Slides>10</Slides>
  <Notes>10</Notes>
  <HiddenSlides>0</HiddenSlides>
  <MMClips>0</MMClips>
  <ScaleCrop>false</ScaleCrop>
  <HeadingPairs>
    <vt:vector size="6" baseType="variant">
      <vt:variant>
        <vt:lpstr>已用的字体</vt:lpstr>
      </vt:variant>
      <vt:variant>
        <vt:i4>6</vt:i4>
      </vt:variant>
      <vt:variant>
        <vt:lpstr>主题</vt:lpstr>
      </vt:variant>
      <vt:variant>
        <vt:i4>3</vt:i4>
      </vt:variant>
      <vt:variant>
        <vt:lpstr>幻灯片标题</vt:lpstr>
      </vt:variant>
      <vt:variant>
        <vt:i4>10</vt:i4>
      </vt:variant>
    </vt:vector>
  </HeadingPairs>
  <TitlesOfParts>
    <vt:vector size="19" baseType="lpstr">
      <vt:lpstr>Noto Sans SC</vt:lpstr>
      <vt:lpstr>Play</vt:lpstr>
      <vt:lpstr>等线</vt:lpstr>
      <vt:lpstr>Aptos</vt:lpstr>
      <vt:lpstr>Aptos Display</vt:lpstr>
      <vt:lpstr>Arial</vt:lpstr>
      <vt:lpstr>Office 主题​​</vt:lpstr>
      <vt:lpstr>默认主题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陈肃炜</dc:creator>
  <cp:lastModifiedBy>肃炜 陈</cp:lastModifiedBy>
  <cp:revision>6</cp:revision>
  <dcterms:modified xsi:type="dcterms:W3CDTF">2026-04-28T08:56:42Z</dcterms:modified>
</cp:coreProperties>
</file>