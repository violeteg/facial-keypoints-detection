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大家好，欢迎参加我们的项目最终展示。本次报告将详细介绍我们在“面部关键点回归”这个迷你项目中的工作。我们的团队由Tianran Zhang, Yongjia Zhang和Shilpi Roy组成。我们将分享我们如何理解任务、分析数据、构建模型，并最终取得了竞赛中的第85名。接下来，我们将按照标准的建模流程，为大家展示我们的完整工作。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本次报告将遵循一个清晰的故事线，分为五个部分。首先，我们会明确任务的定义和评估标准。其次，我们将深入分析数据集并识别其中的挑战。接着，我们会介绍我们建立的基线模型。然后，详细阐述我们为提升模型性能所做的各项改进。最后，我们会展示最终的结果，并进行反思总结。这个结构将帮助大家系统性地了解我们的项目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首先，我们来明确任务。本次竞赛是关于面部关键点回归，目标是预测图像中15个面部关键点的坐标。输入是灰度图像，任务类型是回归。官方评估指标是均方误差（MSE），我们的目标是尽可能降低这个值。这个任务在人脸识别、情绪检测等领域有重要应用。我们的核心目标就是构建一个高精度的预测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数据分析与挑战。我们的数据集包含约7000张带标签的训练图像。每个图像是96x96的灰度图，展平后是一个9216维的向量。主要挑战包括：部分样本存在缺失的关键点标签，这需要我们进行预处理；并非所有关键点在每张图中都可见，导致标签稀疏；以及测试集可能存在与训练集不同的姿态或光照，即领域漂移问题。这些分析告诉我们，数据预处理和降维将是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我们的基线模型非常简单。我们首先将图像像素值归一化到0到1之间，然后直接使用展平后的9216维向量作为输入，训练一个线性回归模型。损失函数采用均方误差。这个模型在公共排行榜上取得了3.81958的分数。选择线性回归作为基线是因为它简单、可解释，能为我们提供一个性能基准，方便后续评估更复杂模型的改进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这是我们的最终结果。我们的最佳模型在测试集上取得了3.59529的分数，在竞赛中排名第85位。虽然相比基线有了很大提升，但与第一名的1.28236分相比仍有差距。关键结论是，CNN模型是我们成功的核心。通过对比图可以看到，顶尖选手的分数显著更低。错误分析显示，模型在处理遮挡、极端姿态的人脸时表现不佳，这是未来需要改进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现在我们来进行讨论与反思。本次项目中最成功的部分是采用了CNN模型，它显著提升了预测精度，证明了深度学习在图像处理任务中的强大能力。然而，一些尝试并未取得预期效果，比如简单的数据增强。这可能是因为增强的力度不够。项目的主要局限性在于模型对极端姿态和遮挡的人脸处理能力不足。未来，我们计划尝试更先进的网络架构，如ResNet，并采用更复杂的数据增强技术来进一步提升模型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关于AI工具的使用和项目的可复现性。在项目中，我们使用了GitHub Copilot作为代码辅助工具，主要用于自动补全和调试，以提高编码效率。但所有核心的模型设计、数据处理策略和实验流程均由团队独立完成。为了确保可复现性，我们已经记录了所有必要的信息，包括随机种子、环境配置、训练参数、代码链接以及指标计算细节，任何人都可以根据这些信息复现我们的实验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我的报告到此结束。感谢大家的聆听。现在是问答环节，欢迎大家提问。如果需要，我们也准备了附录幻灯片，包含更多关于实验细节、数据可视化和模型架构的信息。谢谢！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2032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779000" y="0"/>
            <a:ext cx="2413000" cy="68580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9067800" y="660400"/>
            <a:ext cx="711200" cy="4940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36600" y="8382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B4343A"/>
                </a:solidFill>
                <a:latin typeface="Aptos"/>
                <a:ea typeface="Aptos"/>
                <a:cs typeface="Aptos"/>
                <a:sym typeface="Aptos"/>
              </a:rPr>
              <a:t>SDSC8007 • MINI PROJECT</a:t>
            </a:r>
            <a:endParaRPr lang="en-US" sz="1100"/>
          </a:p>
        </p:txBody>
      </p:sp>
      <p:sp>
        <p:nvSpPr>
          <p:cNvPr name="AutoShape 6" id="6"/>
          <p:cNvSpPr/>
          <p:nvPr/>
        </p:nvSpPr>
        <p:spPr>
          <a:xfrm rot="0" flipH="false" flipV="false">
            <a:off x="711200" y="1231900"/>
            <a:ext cx="5397500" cy="14224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500">
                <a:solidFill>
                  <a:srgbClr val="16253F"/>
                </a:solidFill>
                <a:latin typeface="Play"/>
                <a:ea typeface="Play"/>
                <a:cs typeface="Play"/>
                <a:sym typeface="Play"/>
              </a:rPr>
              <a:t>Facial Keypoints</a:t>
            </a:r>
            <a:r>
              <a:rPr lang="en-US" b="true" i="false" strike="noStrike" u="none" sz="2500">
                <a:solidFill>
                  <a:srgbClr val="16253F"/>
                </a:solidFill>
                <a:latin typeface="Play"/>
                <a:ea typeface="Play"/>
                <a:cs typeface="Play"/>
                <a:sym typeface="Play"/>
              </a:rPr>
              <a:t/>
            </a:r>
            <a:endParaRPr lang="en-US" sz="1100"/>
          </a:p>
          <a:p>
            <a:pPr algn="l" indent="0">
              <a:lnSpc>
                <a:spcPct val="100000"/>
              </a:lnSpc>
            </a:pPr>
            <a:r>
              <a:rPr lang="en-US" b="true" i="false" strike="noStrike" u="none" sz="2500">
                <a:solidFill>
                  <a:srgbClr val="16253F"/>
                </a:solidFill>
                <a:latin typeface="Play"/>
                <a:ea typeface="Play"/>
                <a:cs typeface="Play"/>
                <a:sym typeface="Play"/>
              </a:rPr>
              <a:t>Regression</a:t>
            </a:r>
          </a:p>
        </p:txBody>
      </p:sp>
      <p:sp>
        <p:nvSpPr>
          <p:cNvPr name="AutoShape 7" id="7"/>
          <p:cNvSpPr/>
          <p:nvPr/>
        </p:nvSpPr>
        <p:spPr>
          <a:xfrm rot="0" flipH="false" flipV="false">
            <a:off x="749300" y="2755900"/>
            <a:ext cx="5346700" cy="711200"/>
          </a:xfrm>
          <a:prstGeom prst="roundRect">
            <a:avLst>
              <a:gd name="adj" fmla="val 0"/>
            </a:avLst>
          </a:prstGeom>
          <a:noFill/>
          <a:ln w="25400" cmpd="sng" cap="flat">
            <a:noFill/>
            <a:prstDash val="solid"/>
            <a:round/>
          </a:ln>
        </p:spPr>
        <p:txBody>
          <a:bodyPr anchor="ctr" rtlCol="false" anchorCtr="false" vert="horz" wrap="square" lIns="254" rIns="254" tIns="254" bIns="254"/>
          <a:lstStyle/>
          <a:p>
            <a:pPr algn="l" indent="0">
              <a:lnSpc>
                <a:spcPct val="100000"/>
              </a:lnSpc>
              <a:defRPr/>
            </a:pPr>
            <a:r>
              <a:rPr lang="en-US" b="false" i="false" strike="noStrike" u="none" sz="1500">
                <a:solidFill>
                  <a:srgbClr val="16253F"/>
                </a:solidFill>
                <a:latin typeface="Aptos"/>
                <a:ea typeface="Aptos"/>
                <a:cs typeface="Aptos"/>
                <a:sym typeface="Aptos"/>
              </a:rPr>
              <a:t>This presentation outlines our approach to predicting facial keypoints, covering data analysis, model construction, and performance evaluation for the Kaggle mini-competition.</a:t>
            </a:r>
            <a:endParaRPr lang="en-US" sz="1100"/>
          </a:p>
        </p:txBody>
      </p:sp>
      <p:sp>
        <p:nvSpPr>
          <p:cNvPr name="AutoShape 8" id="8"/>
          <p:cNvSpPr/>
          <p:nvPr/>
        </p:nvSpPr>
        <p:spPr>
          <a:xfrm rot="0" flipH="false" flipV="false">
            <a:off x="736600" y="3810000"/>
            <a:ext cx="5473700" cy="1485900"/>
          </a:xfrm>
          <a:prstGeom prst="roundRect">
            <a:avLst>
              <a:gd name="adj" fmla="val 5128"/>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65200" y="4000500"/>
            <a:ext cx="5461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TEAM</a:t>
            </a:r>
            <a:endParaRPr lang="en-US" sz="1100"/>
          </a:p>
        </p:txBody>
      </p:sp>
      <p:sp>
        <p:nvSpPr>
          <p:cNvPr name="AutoShape 10" id="10"/>
          <p:cNvSpPr/>
          <p:nvPr/>
        </p:nvSpPr>
        <p:spPr>
          <a:xfrm rot="0" flipH="false" flipV="false">
            <a:off x="965200" y="4229100"/>
            <a:ext cx="2057400" cy="762000"/>
          </a:xfrm>
          <a:prstGeom prst="roundRect">
            <a:avLst>
              <a:gd name="adj" fmla="val 0"/>
            </a:avLst>
          </a:prstGeom>
          <a:noFill/>
          <a:ln w="25400" cmpd="sng" cap="flat">
            <a:noFill/>
            <a:prstDash val="solid"/>
            <a:round/>
          </a:ln>
        </p:spPr>
        <p:txBody>
          <a:bodyPr anchor="ctr" rtlCol="false" anchorCtr="false" vert="horz" wrap="square" lIns="381" rIns="381" tIns="381" bIns="381"/>
          <a:lstStyle/>
          <a:p>
            <a:pPr algn="l" indent="0">
              <a:lnSpc>
                <a:spcPct val="100000"/>
              </a:lnSpc>
              <a:defRPr/>
            </a:pPr>
            <a:r>
              <a:rPr lang="en-US" b="false" i="false" strike="noStrike" u="none" sz="1000">
                <a:solidFill>
                  <a:srgbClr val="000000"/>
                </a:solidFill>
                <a:latin typeface="Aptos"/>
                <a:ea typeface="Aptos"/>
                <a:cs typeface="Aptos"/>
                <a:sym typeface="Aptos"/>
              </a:rPr>
              <a:t>Tianran Zhang 72540158</a:t>
            </a:r>
            <a:r>
              <a:rPr lang="en-US" b="false" i="false" strike="noStrike" u="none" sz="1000">
                <a:solidFill>
                  <a:srgbClr val="000000"/>
                </a:solidFill>
                <a:latin typeface="Aptos"/>
                <a:ea typeface="Aptos"/>
                <a:cs typeface="Aptos"/>
                <a:sym typeface="Aptos"/>
              </a:rPr>
              <a:t/>
            </a:r>
            <a:endParaRPr lang="en-US" sz="1100"/>
          </a:p>
          <a:p>
            <a:pPr algn="l" indent="0">
              <a:lnSpc>
                <a:spcPct val="100000"/>
              </a:lnSpc>
            </a:pPr>
            <a:r>
              <a:rPr lang="en-US" b="false" i="false" strike="noStrike" u="none" sz="1000">
                <a:solidFill>
                  <a:srgbClr val="000000"/>
                </a:solidFill>
                <a:latin typeface="Aptos"/>
                <a:ea typeface="Aptos"/>
                <a:cs typeface="Aptos"/>
                <a:sym typeface="Aptos"/>
              </a:rPr>
              <a:t>Yongjia Zhang 72540790</a:t>
            </a:r>
            <a:r>
              <a:rPr lang="en-US" b="false" i="false" strike="noStrike" u="none" sz="1000">
                <a:solidFill>
                  <a:srgbClr val="000000"/>
                </a:solidFill>
                <a:latin typeface="Aptos"/>
                <a:ea typeface="Aptos"/>
                <a:cs typeface="Aptos"/>
                <a:sym typeface="Aptos"/>
              </a:rPr>
              <a:t/>
            </a:r>
          </a:p>
          <a:p>
            <a:pPr algn="l" indent="0">
              <a:lnSpc>
                <a:spcPct val="100000"/>
              </a:lnSpc>
            </a:pPr>
            <a:r>
              <a:rPr lang="en-US" b="false" i="false" strike="noStrike" u="none" sz="1000">
                <a:solidFill>
                  <a:srgbClr val="000000"/>
                </a:solidFill>
                <a:latin typeface="Aptos"/>
                <a:ea typeface="Aptos"/>
                <a:cs typeface="Aptos"/>
                <a:sym typeface="Aptos"/>
              </a:rPr>
              <a:t>Shilpi Roy 72543447</a:t>
            </a:r>
          </a:p>
        </p:txBody>
      </p:sp>
      <p:sp>
        <p:nvSpPr>
          <p:cNvPr name="AutoShape 11" id="11"/>
          <p:cNvSpPr/>
          <p:nvPr/>
        </p:nvSpPr>
        <p:spPr>
          <a:xfrm rot="0" flipH="false" flipV="false">
            <a:off x="3403600" y="4000500"/>
            <a:ext cx="10922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COMPETITION</a:t>
            </a:r>
            <a:endParaRPr lang="en-US" sz="1100"/>
          </a:p>
        </p:txBody>
      </p:sp>
      <p:sp>
        <p:nvSpPr>
          <p:cNvPr name="AutoShape 12" id="12"/>
          <p:cNvSpPr/>
          <p:nvPr/>
        </p:nvSpPr>
        <p:spPr>
          <a:xfrm rot="0" flipH="false" flipV="false">
            <a:off x="3403600" y="4229100"/>
            <a:ext cx="2095500" cy="762000"/>
          </a:xfrm>
          <a:prstGeom prst="roundRect">
            <a:avLst>
              <a:gd name="adj" fmla="val 0"/>
            </a:avLst>
          </a:prstGeom>
          <a:noFill/>
          <a:ln w="25400" cmpd="sng" cap="flat">
            <a:noFill/>
            <a:prstDash val="solid"/>
            <a:round/>
          </a:ln>
        </p:spPr>
        <p:txBody>
          <a:bodyPr anchor="ctr" rtlCol="false" anchorCtr="false" vert="horz" wrap="square" lIns="381" rIns="381" tIns="381" bIns="381"/>
          <a:lstStyle/>
          <a:p>
            <a:pPr algn="l" indent="0">
              <a:lnSpc>
                <a:spcPct val="100000"/>
              </a:lnSpc>
              <a:defRPr/>
            </a:pPr>
            <a:r>
              <a:rPr lang="en-US" b="false" i="false" strike="noStrike" u="none" sz="1000">
                <a:solidFill>
                  <a:srgbClr val="000000"/>
                </a:solidFill>
                <a:latin typeface="Aptos"/>
                <a:ea typeface="Aptos"/>
                <a:cs typeface="Aptos"/>
                <a:sym typeface="Aptos"/>
              </a:rPr>
              <a:t>Facial Keypoints Regression</a:t>
            </a:r>
            <a:r>
              <a:rPr lang="en-US" b="false" i="false" strike="noStrike" u="none" sz="1600">
                <a:solidFill>
                  <a:srgbClr val="1F2329"/>
                </a:solidFill>
                <a:latin typeface="Aptos"/>
                <a:ea typeface="Aptos"/>
                <a:cs typeface="Aptos"/>
                <a:sym typeface="Aptos"/>
              </a:rPr>
              <a:t/>
            </a:r>
            <a:endParaRPr lang="en-US" sz="1100"/>
          </a:p>
          <a:p>
            <a:pPr algn="l" indent="0">
              <a:lnSpc>
                <a:spcPct val="100000"/>
              </a:lnSpc>
            </a:pPr>
            <a:r>
              <a:rPr lang="en-US" b="false" i="false" strike="noStrike" u="none" sz="900">
                <a:solidFill>
                  <a:srgbClr val="697386"/>
                </a:solidFill>
                <a:latin typeface="Aptos"/>
                <a:ea typeface="Aptos"/>
                <a:cs typeface="Aptos"/>
                <a:sym typeface="Aptos"/>
              </a:rPr>
              <a:t>kaggle.com/competitions/mini-project-facial-keypoints-detection</a:t>
            </a:r>
          </a:p>
        </p:txBody>
      </p:sp>
      <p:sp>
        <p:nvSpPr>
          <p:cNvPr name="AutoShape 13" id="13"/>
          <p:cNvSpPr/>
          <p:nvPr/>
        </p:nvSpPr>
        <p:spPr>
          <a:xfrm rot="0" flipH="false" flipV="false">
            <a:off x="965200" y="5080000"/>
            <a:ext cx="5461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DATE</a:t>
            </a:r>
            <a:endParaRPr lang="en-US" sz="1100"/>
          </a:p>
        </p:txBody>
      </p:sp>
      <p:sp>
        <p:nvSpPr>
          <p:cNvPr name="AutoShape 14" id="14"/>
          <p:cNvSpPr/>
          <p:nvPr/>
        </p:nvSpPr>
        <p:spPr>
          <a:xfrm rot="0" flipH="false" flipV="false">
            <a:off x="965200" y="5334000"/>
            <a:ext cx="2108200" cy="292100"/>
          </a:xfrm>
          <a:prstGeom prst="roundRect">
            <a:avLst>
              <a:gd name="adj" fmla="val 0"/>
            </a:avLst>
          </a:prstGeom>
          <a:noFill/>
          <a:ln w="25400" cmpd="sng" cap="flat">
            <a:noFill/>
            <a:prstDash val="solid"/>
            <a:round/>
          </a:ln>
        </p:spPr>
        <p:txBody>
          <a:bodyPr anchor="ctr" rtlCol="false" anchorCtr="false" vert="horz" wrap="square" lIns="381" rIns="381" tIns="381" bIns="381"/>
          <a:lstStyle/>
          <a:p>
            <a:pPr algn="l" indent="0">
              <a:lnSpc>
                <a:spcPct val="100000"/>
              </a:lnSpc>
              <a:defRPr/>
            </a:pPr>
            <a:r>
              <a:rPr lang="en-US" b="false" i="false" strike="noStrike" u="none" sz="1100">
                <a:solidFill>
                  <a:srgbClr val="000000"/>
                </a:solidFill>
                <a:latin typeface="Aptos"/>
                <a:ea typeface="Aptos"/>
                <a:cs typeface="Aptos"/>
                <a:sym typeface="Aptos"/>
              </a:rPr>
              <a:t>2026-04-19</a:t>
            </a:r>
            <a:endParaRPr lang="en-US" sz="1100"/>
          </a:p>
        </p:txBody>
      </p:sp>
      <p:sp>
        <p:nvSpPr>
          <p:cNvPr name="AutoShape 15" id="15"/>
          <p:cNvSpPr/>
          <p:nvPr/>
        </p:nvSpPr>
        <p:spPr>
          <a:xfrm rot="0" flipH="false" flipV="false">
            <a:off x="3403600" y="5080000"/>
            <a:ext cx="7366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TAGLINE</a:t>
            </a:r>
            <a:endParaRPr lang="en-US" sz="1100"/>
          </a:p>
        </p:txBody>
      </p:sp>
      <p:sp>
        <p:nvSpPr>
          <p:cNvPr name="AutoShape 16" id="16"/>
          <p:cNvSpPr/>
          <p:nvPr/>
        </p:nvSpPr>
        <p:spPr>
          <a:xfrm rot="0" flipH="false" flipV="false">
            <a:off x="3403600" y="5334000"/>
            <a:ext cx="2159000" cy="508000"/>
          </a:xfrm>
          <a:prstGeom prst="roundRect">
            <a:avLst>
              <a:gd name="adj" fmla="val 0"/>
            </a:avLst>
          </a:prstGeom>
          <a:noFill/>
          <a:ln w="25400" cmpd="sng" cap="flat">
            <a:noFill/>
            <a:prstDash val="solid"/>
            <a:round/>
          </a:ln>
        </p:spPr>
        <p:txBody>
          <a:bodyPr anchor="ctr" rtlCol="false" anchorCtr="false" vert="horz" wrap="square" lIns="381" rIns="381" tIns="381" bIns="381"/>
          <a:lstStyle/>
          <a:p>
            <a:pPr algn="l" indent="0">
              <a:lnSpc>
                <a:spcPct val="100000"/>
              </a:lnSpc>
              <a:defRPr/>
            </a:pPr>
            <a:r>
              <a:rPr lang="en-US" b="false" i="false" strike="noStrike" u="none" sz="1000">
                <a:solidFill>
                  <a:srgbClr val="697386"/>
                </a:solidFill>
                <a:latin typeface="Aptos"/>
                <a:ea typeface="Aptos"/>
                <a:cs typeface="Aptos"/>
                <a:sym typeface="Aptos"/>
              </a:rPr>
              <a:t>A machine learning project to predict facial keypoints accurately.</a:t>
            </a:r>
            <a:endParaRPr lang="en-US" sz="1100"/>
          </a:p>
        </p:txBody>
      </p:sp>
      <p:sp>
        <p:nvSpPr>
          <p:cNvPr name="AutoShape 17" id="17"/>
          <p:cNvSpPr/>
          <p:nvPr/>
        </p:nvSpPr>
        <p:spPr>
          <a:xfrm rot="0" flipH="false" flipV="false">
            <a:off x="10121900" y="5461000"/>
            <a:ext cx="14224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700">
                <a:solidFill>
                  <a:srgbClr val="FFFFFF"/>
                </a:solidFill>
                <a:latin typeface="Play"/>
                <a:ea typeface="Play"/>
                <a:cs typeface="Play"/>
                <a:sym typeface="Play"/>
              </a:rPr>
              <a:t>CITYU-DG</a:t>
            </a:r>
            <a:endParaRPr lang="en-US" sz="1100"/>
          </a:p>
        </p:txBody>
      </p:sp>
      <p:sp>
        <p:nvSpPr>
          <p:cNvPr name="AutoShape 18" id="18"/>
          <p:cNvSpPr/>
          <p:nvPr/>
        </p:nvSpPr>
        <p:spPr>
          <a:xfrm rot="0" flipH="false" flipV="false">
            <a:off x="9982200" y="5740400"/>
            <a:ext cx="1689100" cy="177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100">
                <a:solidFill>
                  <a:srgbClr val="D5DBE7"/>
                </a:solidFill>
                <a:latin typeface="Aptos"/>
                <a:ea typeface="Aptos"/>
                <a:cs typeface="Aptos"/>
                <a:sym typeface="Aptos"/>
              </a:rPr>
              <a:t>Final Presentation</a:t>
            </a:r>
            <a:endParaRPr lang="en-US" sz="1100"/>
          </a:p>
        </p:txBody>
      </p:sp>
      <p:sp>
        <p:nvSpPr>
          <p:cNvPr name="AutoShape 19" id="19"/>
          <p:cNvSpPr/>
          <p:nvPr/>
        </p:nvSpPr>
        <p:spPr>
          <a:xfrm rot="0" flipH="false" flipV="false">
            <a:off x="10236200" y="5969000"/>
            <a:ext cx="1143000" cy="177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100">
                <a:solidFill>
                  <a:srgbClr val="D5DBE7"/>
                </a:solidFill>
                <a:latin typeface="Aptos"/>
                <a:ea typeface="Aptos"/>
                <a:cs typeface="Aptos"/>
                <a:sym typeface="Aptos"/>
              </a:rPr>
              <a:t>Template</a:t>
            </a:r>
            <a:endParaRPr lang="en-US" sz="1100"/>
          </a:p>
        </p:txBody>
      </p:sp>
      <p:sp>
        <p:nvSpPr>
          <p:cNvPr name="AutoShape 20" id="20"/>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01</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FINAL PRESENTATION TEMPLATE</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Recommended Storyline</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Replace all gray guide text before submission</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USE AS ROADMAP</a:t>
            </a:r>
            <a:endParaRPr lang="en-US" sz="1100"/>
          </a:p>
        </p:txBody>
      </p:sp>
      <p:cxnSp>
        <p:nvCxnSpPr>
          <p:cNvPr name="Connector 11" id="11"/>
          <p:cNvCxnSpPr/>
          <p:nvPr/>
        </p:nvCxnSpPr>
        <p:spPr>
          <a:xfrm rot="1" flipH="false" flipV="false">
            <a:off x="4495800" y="3022600"/>
            <a:ext cx="12319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cxnSp>
        <p:nvCxnSpPr>
          <p:cNvPr name="Connector 12" id="12"/>
          <p:cNvCxnSpPr/>
          <p:nvPr/>
        </p:nvCxnSpPr>
        <p:spPr>
          <a:xfrm rot="1" flipH="false" flipV="false">
            <a:off x="6362700" y="3022600"/>
            <a:ext cx="12446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cxnSp>
        <p:nvCxnSpPr>
          <p:cNvPr name="Connector 13" id="13"/>
          <p:cNvCxnSpPr/>
          <p:nvPr/>
        </p:nvCxnSpPr>
        <p:spPr>
          <a:xfrm rot="1" flipH="false" flipV="false">
            <a:off x="8242300" y="3022600"/>
            <a:ext cx="12319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cxnSp>
        <p:nvCxnSpPr>
          <p:cNvPr name="Connector 14" id="14"/>
          <p:cNvCxnSpPr/>
          <p:nvPr/>
        </p:nvCxnSpPr>
        <p:spPr>
          <a:xfrm rot="1" flipH="false" flipV="false">
            <a:off x="10121900" y="3022600"/>
            <a:ext cx="12319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cxnSp>
        <p:nvCxnSpPr>
          <p:cNvPr name="Connector 15" id="15"/>
          <p:cNvCxnSpPr/>
          <p:nvPr/>
        </p:nvCxnSpPr>
        <p:spPr>
          <a:xfrm rot="1" flipH="false" flipV="false">
            <a:off x="2197100" y="3022600"/>
            <a:ext cx="12446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cxnSp>
        <p:nvCxnSpPr>
          <p:cNvPr name="Connector 16" id="16"/>
          <p:cNvCxnSpPr/>
          <p:nvPr/>
        </p:nvCxnSpPr>
        <p:spPr>
          <a:xfrm rot="1" flipH="false" flipV="false">
            <a:off x="4076700" y="3022600"/>
            <a:ext cx="1231965"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17" id="17"/>
          <p:cNvSpPr/>
          <p:nvPr/>
        </p:nvSpPr>
        <p:spPr>
          <a:xfrm rot="0" flipH="false" flipV="false">
            <a:off x="1549400" y="2565400"/>
            <a:ext cx="685800" cy="685800"/>
          </a:xfrm>
          <a:prstGeom prst="ellipse">
            <a:avLst/>
          </a:prstGeom>
          <a:solidFill>
            <a:srgbClr val="B4343A">
              <a:alpha val="100000"/>
            </a:srgbClr>
          </a:solidFill>
          <a:ln w="12700" cmpd="sng" cap="flat">
            <a:solidFill>
              <a:srgbClr val="B4343A">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549400" y="2755900"/>
            <a:ext cx="685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FFFFFF"/>
                </a:solidFill>
                <a:latin typeface="Aptos"/>
                <a:ea typeface="Aptos"/>
                <a:cs typeface="Aptos"/>
                <a:sym typeface="Aptos"/>
              </a:rPr>
              <a:t>01</a:t>
            </a:r>
            <a:endParaRPr lang="en-US" sz="1100"/>
          </a:p>
        </p:txBody>
      </p:sp>
      <p:sp>
        <p:nvSpPr>
          <p:cNvPr name="AutoShape 19" id="19"/>
          <p:cNvSpPr/>
          <p:nvPr/>
        </p:nvSpPr>
        <p:spPr>
          <a:xfrm rot="0" flipH="false" flipV="false">
            <a:off x="1143000" y="3454400"/>
            <a:ext cx="1778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300">
                <a:solidFill>
                  <a:srgbClr val="16253F"/>
                </a:solidFill>
                <a:latin typeface="Aptos"/>
                <a:ea typeface="Aptos"/>
                <a:cs typeface="Aptos"/>
                <a:sym typeface="Aptos"/>
              </a:rPr>
              <a:t>Task &amp; metric</a:t>
            </a:r>
            <a:endParaRPr lang="en-US" sz="1100"/>
          </a:p>
        </p:txBody>
      </p:sp>
      <p:sp>
        <p:nvSpPr>
          <p:cNvPr name="AutoShape 20" id="20"/>
          <p:cNvSpPr/>
          <p:nvPr/>
        </p:nvSpPr>
        <p:spPr>
          <a:xfrm rot="0" flipH="false" flipV="false">
            <a:off x="1143000" y="3937000"/>
            <a:ext cx="177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100">
                <a:solidFill>
                  <a:srgbClr val="697386"/>
                </a:solidFill>
                <a:latin typeface="Aptos"/>
                <a:ea typeface="Aptos"/>
                <a:cs typeface="Aptos"/>
                <a:sym typeface="Aptos"/>
              </a:rPr>
              <a:t>What is the competition?</a:t>
            </a:r>
            <a:r>
              <a:rPr lang="en-US" b="false" i="false" strike="noStrike" u="none" sz="1100">
                <a:solidFill>
                  <a:srgbClr val="697386"/>
                </a:solidFill>
                <a:latin typeface="Aptos"/>
                <a:ea typeface="Aptos"/>
                <a:cs typeface="Aptos"/>
                <a:sym typeface="Aptos"/>
              </a:rPr>
              <a:t/>
            </a:r>
            <a:br>
              <a:rPr lang="en-US" b="false" i="false" strike="noStrike" u="none" sz="1100">
                <a:solidFill>
                  <a:srgbClr val="697386"/>
                </a:solidFill>
                <a:latin typeface="Aptos"/>
                <a:ea typeface="Aptos"/>
                <a:cs typeface="Aptos"/>
                <a:sym typeface="Aptos"/>
              </a:rPr>
            </a:br>
            <a:r>
              <a:rPr lang="en-US" b="false" i="false" strike="noStrike" u="none" sz="1100">
                <a:solidFill>
                  <a:srgbClr val="697386"/>
                </a:solidFill>
                <a:latin typeface="Aptos"/>
                <a:ea typeface="Aptos"/>
                <a:cs typeface="Aptos"/>
                <a:sym typeface="Aptos"/>
              </a:rPr>
              <a:t>What is the exact prediction target and evaluation metric?</a:t>
            </a:r>
            <a:endParaRPr lang="en-US" sz="1100"/>
          </a:p>
        </p:txBody>
      </p:sp>
      <p:sp>
        <p:nvSpPr>
          <p:cNvPr name="AutoShape 21" id="21"/>
          <p:cNvSpPr/>
          <p:nvPr/>
        </p:nvSpPr>
        <p:spPr>
          <a:xfrm rot="0" flipH="false" flipV="false">
            <a:off x="3429000" y="2565400"/>
            <a:ext cx="685800" cy="685800"/>
          </a:xfrm>
          <a:prstGeom prst="ellipse">
            <a:avLst/>
          </a:prstGeom>
          <a:solidFill>
            <a:srgbClr val="FFFCF7">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3429000" y="2755900"/>
            <a:ext cx="685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02</a:t>
            </a:r>
            <a:endParaRPr lang="en-US" sz="1100"/>
          </a:p>
        </p:txBody>
      </p:sp>
      <p:sp>
        <p:nvSpPr>
          <p:cNvPr name="AutoShape 23" id="23"/>
          <p:cNvSpPr/>
          <p:nvPr/>
        </p:nvSpPr>
        <p:spPr>
          <a:xfrm rot="0" flipH="false" flipV="false">
            <a:off x="3009900" y="3454400"/>
            <a:ext cx="1778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300">
                <a:solidFill>
                  <a:srgbClr val="16253F"/>
                </a:solidFill>
                <a:latin typeface="Aptos"/>
                <a:ea typeface="Aptos"/>
                <a:cs typeface="Aptos"/>
                <a:sym typeface="Aptos"/>
              </a:rPr>
              <a:t>Data &amp; challenges</a:t>
            </a:r>
            <a:endParaRPr lang="en-US" sz="1100"/>
          </a:p>
        </p:txBody>
      </p:sp>
      <p:sp>
        <p:nvSpPr>
          <p:cNvPr name="AutoShape 24" id="24"/>
          <p:cNvSpPr/>
          <p:nvPr/>
        </p:nvSpPr>
        <p:spPr>
          <a:xfrm rot="0" flipH="false" flipV="false">
            <a:off x="3009900" y="3937000"/>
            <a:ext cx="177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100">
                <a:solidFill>
                  <a:srgbClr val="697386"/>
                </a:solidFill>
                <a:latin typeface="Aptos"/>
                <a:ea typeface="Aptos"/>
                <a:cs typeface="Aptos"/>
                <a:sym typeface="Aptos"/>
              </a:rPr>
              <a:t>What data do you have,</a:t>
            </a:r>
            <a:r>
              <a:rPr lang="en-US" b="false" i="false" strike="noStrike" u="none" sz="1100">
                <a:solidFill>
                  <a:srgbClr val="697386"/>
                </a:solidFill>
                <a:latin typeface="Aptos"/>
                <a:ea typeface="Aptos"/>
                <a:cs typeface="Aptos"/>
                <a:sym typeface="Aptos"/>
              </a:rPr>
              <a:t/>
            </a:r>
            <a:br>
              <a:rPr lang="en-US" b="false" i="false" strike="noStrike" u="none" sz="1100">
                <a:solidFill>
                  <a:srgbClr val="697386"/>
                </a:solidFill>
                <a:latin typeface="Aptos"/>
                <a:ea typeface="Aptos"/>
                <a:cs typeface="Aptos"/>
                <a:sym typeface="Aptos"/>
              </a:rPr>
            </a:br>
            <a:r>
              <a:rPr lang="en-US" b="false" i="false" strike="noStrike" u="none" sz="1100">
                <a:solidFill>
                  <a:srgbClr val="697386"/>
                </a:solidFill>
                <a:latin typeface="Aptos"/>
                <a:ea typeface="Aptos"/>
                <a:cs typeface="Aptos"/>
                <a:sym typeface="Aptos"/>
              </a:rPr>
              <a:t>and what makes the task difficult?</a:t>
            </a:r>
            <a:endParaRPr lang="en-US" sz="1100"/>
          </a:p>
        </p:txBody>
      </p:sp>
      <p:sp>
        <p:nvSpPr>
          <p:cNvPr name="AutoShape 25" id="25"/>
          <p:cNvSpPr/>
          <p:nvPr/>
        </p:nvSpPr>
        <p:spPr>
          <a:xfrm rot="0" flipH="false" flipV="false">
            <a:off x="5715000" y="2565400"/>
            <a:ext cx="685800" cy="685800"/>
          </a:xfrm>
          <a:prstGeom prst="ellipse">
            <a:avLst/>
          </a:prstGeom>
          <a:solidFill>
            <a:srgbClr val="FFFCF7">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715000" y="2755900"/>
            <a:ext cx="685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03</a:t>
            </a:r>
            <a:endParaRPr lang="en-US" sz="1100"/>
          </a:p>
        </p:txBody>
      </p:sp>
      <p:sp>
        <p:nvSpPr>
          <p:cNvPr name="AutoShape 27" id="27"/>
          <p:cNvSpPr/>
          <p:nvPr/>
        </p:nvSpPr>
        <p:spPr>
          <a:xfrm rot="0" flipH="false" flipV="false">
            <a:off x="5295900" y="3454400"/>
            <a:ext cx="1778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300">
                <a:solidFill>
                  <a:srgbClr val="16253F"/>
                </a:solidFill>
                <a:latin typeface="Aptos"/>
                <a:ea typeface="Aptos"/>
                <a:cs typeface="Aptos"/>
                <a:sym typeface="Aptos"/>
              </a:rPr>
              <a:t>Baseline</a:t>
            </a:r>
            <a:endParaRPr lang="en-US" sz="1100"/>
          </a:p>
        </p:txBody>
      </p:sp>
      <p:sp>
        <p:nvSpPr>
          <p:cNvPr name="AutoShape 28" id="28"/>
          <p:cNvSpPr/>
          <p:nvPr/>
        </p:nvSpPr>
        <p:spPr>
          <a:xfrm rot="0" flipH="false" flipV="false">
            <a:off x="5295900" y="3937000"/>
            <a:ext cx="177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100">
                <a:solidFill>
                  <a:srgbClr val="697386"/>
                </a:solidFill>
                <a:latin typeface="Aptos"/>
                <a:ea typeface="Aptos"/>
                <a:cs typeface="Aptos"/>
                <a:sym typeface="Aptos"/>
              </a:rPr>
              <a:t>Start from a reproducible model before improvements.</a:t>
            </a:r>
            <a:endParaRPr lang="en-US" sz="1100"/>
          </a:p>
        </p:txBody>
      </p:sp>
      <p:sp>
        <p:nvSpPr>
          <p:cNvPr name="AutoShape 29" id="29"/>
          <p:cNvSpPr/>
          <p:nvPr/>
        </p:nvSpPr>
        <p:spPr>
          <a:xfrm rot="0" flipH="false" flipV="false">
            <a:off x="7594600" y="2565400"/>
            <a:ext cx="685800" cy="685800"/>
          </a:xfrm>
          <a:prstGeom prst="ellipse">
            <a:avLst/>
          </a:prstGeom>
          <a:solidFill>
            <a:srgbClr val="FFFCF7">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7594600" y="2755900"/>
            <a:ext cx="685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04</a:t>
            </a:r>
            <a:endParaRPr lang="en-US" sz="1100"/>
          </a:p>
        </p:txBody>
      </p:sp>
      <p:sp>
        <p:nvSpPr>
          <p:cNvPr name="AutoShape 31" id="31"/>
          <p:cNvSpPr/>
          <p:nvPr/>
        </p:nvSpPr>
        <p:spPr>
          <a:xfrm rot="0" flipH="false" flipV="false">
            <a:off x="7175500" y="3454400"/>
            <a:ext cx="1778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300">
                <a:solidFill>
                  <a:srgbClr val="16253F"/>
                </a:solidFill>
                <a:latin typeface="Aptos"/>
                <a:ea typeface="Aptos"/>
                <a:cs typeface="Aptos"/>
                <a:sym typeface="Aptos"/>
              </a:rPr>
              <a:t>Improvements</a:t>
            </a:r>
            <a:endParaRPr lang="en-US" sz="1100"/>
          </a:p>
        </p:txBody>
      </p:sp>
      <p:sp>
        <p:nvSpPr>
          <p:cNvPr name="AutoShape 32" id="32"/>
          <p:cNvSpPr/>
          <p:nvPr/>
        </p:nvSpPr>
        <p:spPr>
          <a:xfrm rot="0" flipH="false" flipV="false">
            <a:off x="7175500" y="3937000"/>
            <a:ext cx="177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100">
                <a:solidFill>
                  <a:srgbClr val="697386"/>
                </a:solidFill>
                <a:latin typeface="Aptos"/>
                <a:ea typeface="Aptos"/>
                <a:cs typeface="Aptos"/>
                <a:sym typeface="Aptos"/>
              </a:rPr>
              <a:t>Show the logic behind each major change and its effect.</a:t>
            </a:r>
            <a:endParaRPr lang="en-US" sz="1100"/>
          </a:p>
        </p:txBody>
      </p:sp>
      <p:sp>
        <p:nvSpPr>
          <p:cNvPr name="AutoShape 33" id="33"/>
          <p:cNvSpPr/>
          <p:nvPr/>
        </p:nvSpPr>
        <p:spPr>
          <a:xfrm rot="0" flipH="false" flipV="false">
            <a:off x="9474200" y="2565400"/>
            <a:ext cx="685800" cy="685800"/>
          </a:xfrm>
          <a:prstGeom prst="ellipse">
            <a:avLst/>
          </a:prstGeom>
          <a:solidFill>
            <a:srgbClr val="FFFCF7">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9474200" y="2755900"/>
            <a:ext cx="685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05</a:t>
            </a:r>
            <a:endParaRPr lang="en-US" sz="1100"/>
          </a:p>
        </p:txBody>
      </p:sp>
      <p:sp>
        <p:nvSpPr>
          <p:cNvPr name="AutoShape 35" id="35"/>
          <p:cNvSpPr/>
          <p:nvPr/>
        </p:nvSpPr>
        <p:spPr>
          <a:xfrm rot="0" flipH="false" flipV="false">
            <a:off x="9055100" y="3454400"/>
            <a:ext cx="1778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300">
                <a:solidFill>
                  <a:srgbClr val="16253F"/>
                </a:solidFill>
                <a:latin typeface="Aptos"/>
                <a:ea typeface="Aptos"/>
                <a:cs typeface="Aptos"/>
                <a:sym typeface="Aptos"/>
              </a:rPr>
              <a:t>Results &amp; reflection</a:t>
            </a:r>
            <a:endParaRPr lang="en-US" sz="1100"/>
          </a:p>
        </p:txBody>
      </p:sp>
      <p:sp>
        <p:nvSpPr>
          <p:cNvPr name="AutoShape 36" id="36"/>
          <p:cNvSpPr/>
          <p:nvPr/>
        </p:nvSpPr>
        <p:spPr>
          <a:xfrm rot="0" flipH="false" flipV="false">
            <a:off x="9055100" y="3937000"/>
            <a:ext cx="177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100">
                <a:solidFill>
                  <a:srgbClr val="697386"/>
                </a:solidFill>
                <a:latin typeface="Aptos"/>
                <a:ea typeface="Aptos"/>
                <a:cs typeface="Aptos"/>
                <a:sym typeface="Aptos"/>
              </a:rPr>
              <a:t>Final score, Top-5 target,</a:t>
            </a:r>
            <a:r>
              <a:rPr lang="en-US" b="false" i="false" strike="noStrike" u="none" sz="1100">
                <a:solidFill>
                  <a:srgbClr val="697386"/>
                </a:solidFill>
                <a:latin typeface="Aptos"/>
                <a:ea typeface="Aptos"/>
                <a:cs typeface="Aptos"/>
                <a:sym typeface="Aptos"/>
              </a:rPr>
              <a:t/>
            </a:r>
            <a:br>
              <a:rPr lang="en-US" b="false" i="false" strike="noStrike" u="none" sz="1100">
                <a:solidFill>
                  <a:srgbClr val="697386"/>
                </a:solidFill>
                <a:latin typeface="Aptos"/>
                <a:ea typeface="Aptos"/>
                <a:cs typeface="Aptos"/>
                <a:sym typeface="Aptos"/>
              </a:rPr>
            </a:br>
            <a:r>
              <a:rPr lang="en-US" b="false" i="false" strike="noStrike" u="none" sz="1100">
                <a:solidFill>
                  <a:srgbClr val="697386"/>
                </a:solidFill>
                <a:latin typeface="Aptos"/>
                <a:ea typeface="Aptos"/>
                <a:cs typeface="Aptos"/>
                <a:sym typeface="Aptos"/>
              </a:rPr>
              <a:t>what worked, what remains.</a:t>
            </a:r>
            <a:endParaRPr lang="en-US" sz="1100"/>
          </a:p>
        </p:txBody>
      </p:sp>
      <p:sp>
        <p:nvSpPr>
          <p:cNvPr name="AutoShape 37" id="37"/>
          <p:cNvSpPr/>
          <p:nvPr/>
        </p:nvSpPr>
        <p:spPr>
          <a:xfrm rot="0" flipH="false" flipV="false">
            <a:off x="660400" y="1143000"/>
            <a:ext cx="4978400" cy="838200"/>
          </a:xfrm>
          <a:prstGeom prst="roundRect">
            <a:avLst>
              <a:gd name="adj" fmla="val 9090"/>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838200" y="1358900"/>
            <a:ext cx="11938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COURSE REMINDER</a:t>
            </a:r>
            <a:endParaRPr lang="en-US" sz="1100"/>
          </a:p>
        </p:txBody>
      </p:sp>
      <p:sp>
        <p:nvSpPr>
          <p:cNvPr name="AutoShape 39" id="39"/>
          <p:cNvSpPr/>
          <p:nvPr/>
        </p:nvSpPr>
        <p:spPr>
          <a:xfrm rot="0" flipH="false" flipV="false">
            <a:off x="838200" y="1574800"/>
            <a:ext cx="4572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97386"/>
                </a:solidFill>
                <a:latin typeface="Aptos"/>
                <a:ea typeface="Aptos"/>
                <a:cs typeface="Aptos"/>
                <a:sym typeface="Aptos"/>
              </a:rPr>
              <a:t>Presentation should reflect the complete modeling pipeline: data understanding, validation design, baseline, model improvement, result analysis, and summary.</a:t>
            </a:r>
            <a:endParaRPr lang="en-US" sz="1100"/>
          </a:p>
        </p:txBody>
      </p:sp>
      <p:sp>
        <p:nvSpPr>
          <p:cNvPr name="AutoShape 40" id="40"/>
          <p:cNvSpPr/>
          <p:nvPr/>
        </p:nvSpPr>
        <p:spPr>
          <a:xfrm rot="0" flipH="false" flipV="false">
            <a:off x="5880100" y="1143000"/>
            <a:ext cx="5435600" cy="838200"/>
          </a:xfrm>
          <a:prstGeom prst="roundRect">
            <a:avLst>
              <a:gd name="adj" fmla="val 9090"/>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6083300" y="1358900"/>
            <a:ext cx="8255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EDITING TIP</a:t>
            </a:r>
            <a:endParaRPr lang="en-US" sz="1100"/>
          </a:p>
        </p:txBody>
      </p:sp>
      <p:sp>
        <p:nvSpPr>
          <p:cNvPr name="AutoShape 42" id="42"/>
          <p:cNvSpPr/>
          <p:nvPr/>
        </p:nvSpPr>
        <p:spPr>
          <a:xfrm rot="0" flipH="false" flipV="false">
            <a:off x="6083300" y="1574800"/>
            <a:ext cx="49403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97386"/>
                </a:solidFill>
                <a:latin typeface="Aptos"/>
                <a:ea typeface="Aptos"/>
                <a:cs typeface="Aptos"/>
                <a:sym typeface="Aptos"/>
              </a:rPr>
              <a:t>Delete this slide in the final version if you do not want to show the roadmap. Duplicate section slides when you need more space.</a:t>
            </a:r>
            <a:endParaRPr lang="en-US" sz="1100"/>
          </a:p>
        </p:txBody>
      </p:sp>
      <p:sp>
        <p:nvSpPr>
          <p:cNvPr name="AutoShape 43" id="43"/>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02</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SDSC8007 • MINI PROJECT</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1. Task Description &amp; Metric</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Facial Keypoints Regression</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TASK OVERVIEW</a:t>
            </a:r>
            <a:endParaRPr lang="en-US" sz="1100"/>
          </a:p>
        </p:txBody>
      </p:sp>
      <p:sp>
        <p:nvSpPr>
          <p:cNvPr name="AutoShape 11" id="11"/>
          <p:cNvSpPr/>
          <p:nvPr/>
        </p:nvSpPr>
        <p:spPr>
          <a:xfrm rot="0" flipH="false" flipV="false">
            <a:off x="685800" y="1231900"/>
            <a:ext cx="3022600" cy="1828800"/>
          </a:xfrm>
          <a:prstGeom prst="roundRect">
            <a:avLst>
              <a:gd name="adj" fmla="val 4166"/>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01700" y="1460500"/>
            <a:ext cx="13716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COMPETITION SNAPSHOT</a:t>
            </a:r>
            <a:endParaRPr lang="en-US" sz="1100"/>
          </a:p>
        </p:txBody>
      </p:sp>
      <p:sp>
        <p:nvSpPr>
          <p:cNvPr name="AutoShape 13" id="13"/>
          <p:cNvSpPr/>
          <p:nvPr/>
        </p:nvSpPr>
        <p:spPr>
          <a:xfrm rot="0" flipH="false" flipV="false">
            <a:off x="901700" y="1739900"/>
            <a:ext cx="2514600" cy="1143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200">
                <a:solidFill>
                  <a:srgbClr val="697386"/>
                </a:solidFill>
                <a:latin typeface="Aptos"/>
                <a:ea typeface="Aptos"/>
                <a:cs typeface="Aptos"/>
                <a:sym typeface="Aptos"/>
              </a:rPr>
              <a:t>Name:</a:t>
            </a:r>
            <a:r>
              <a:rPr lang="en-US" b="false" i="false" strike="noStrike" u="none" sz="1200">
                <a:solidFill>
                  <a:srgbClr val="3C3C3C"/>
                </a:solidFill>
                <a:latin typeface="Aptos"/>
                <a:ea typeface="Aptos"/>
                <a:cs typeface="Aptos"/>
                <a:sym typeface="Aptos"/>
              </a:rPr>
              <a:t>Facial Keypoints Regression</a:t>
            </a:r>
            <a:r>
              <a:rPr lang="en-US" b="false" i="false" strike="noStrike" u="none" sz="1200">
                <a:solidFill>
                  <a:srgbClr val="1F2329"/>
                </a:solidFill>
                <a:latin typeface="Aptos"/>
                <a:ea typeface="Aptos"/>
                <a:cs typeface="Aptos"/>
                <a:sym typeface="Aptos"/>
              </a:rPr>
              <a:t/>
            </a:r>
            <a:endParaRPr lang="en-US" sz="1100"/>
          </a:p>
          <a:p>
            <a:pPr algn="l" indent="0">
              <a:lnSpc>
                <a:spcPct val="91666"/>
              </a:lnSpc>
            </a:pPr>
            <a:r>
              <a:rPr lang="en-US" b="true" i="false" strike="noStrike" u="none" sz="1200">
                <a:solidFill>
                  <a:srgbClr val="697386"/>
                </a:solidFill>
                <a:latin typeface="Aptos"/>
                <a:ea typeface="Aptos"/>
                <a:cs typeface="Aptos"/>
                <a:sym typeface="Aptos"/>
              </a:rPr>
              <a:t>Domain:</a:t>
            </a:r>
            <a:r>
              <a:rPr lang="en-US" b="false" i="false" strike="noStrike" u="none" sz="1200">
                <a:solidFill>
                  <a:srgbClr val="3C3C3C"/>
                </a:solidFill>
                <a:latin typeface="Aptos"/>
                <a:ea typeface="Aptos"/>
                <a:cs typeface="Aptos"/>
                <a:sym typeface="Aptos"/>
              </a:rPr>
              <a:t>Kaggle / Mini Project</a:t>
            </a:r>
            <a:r>
              <a:rPr lang="en-US" b="false" i="false" strike="noStrike" u="none" sz="1200">
                <a:solidFill>
                  <a:srgbClr val="1F2329"/>
                </a:solidFill>
                <a:latin typeface="Aptos"/>
                <a:ea typeface="Aptos"/>
                <a:cs typeface="Aptos"/>
                <a:sym typeface="Aptos"/>
              </a:rPr>
              <a:t/>
            </a:r>
          </a:p>
          <a:p>
            <a:pPr algn="l" indent="0">
              <a:lnSpc>
                <a:spcPct val="91666"/>
              </a:lnSpc>
            </a:pPr>
            <a:r>
              <a:rPr lang="en-US" b="true" i="false" strike="noStrike" u="none" sz="1200">
                <a:solidFill>
                  <a:srgbClr val="697386"/>
                </a:solidFill>
                <a:latin typeface="Aptos"/>
                <a:ea typeface="Aptos"/>
                <a:cs typeface="Aptos"/>
                <a:sym typeface="Aptos"/>
              </a:rPr>
              <a:t>Impact:</a:t>
            </a:r>
            <a:r>
              <a:rPr lang="en-US" b="false" i="false" strike="noStrike" u="none" sz="1200">
                <a:solidFill>
                  <a:srgbClr val="3C3C3C"/>
                </a:solidFill>
                <a:latin typeface="Aptos"/>
                <a:ea typeface="Aptos"/>
                <a:cs typeface="Aptos"/>
                <a:sym typeface="Aptos"/>
              </a:rPr>
              <a:t>Fundamental for face recognition, emotion detection &amp; AR.</a:t>
            </a:r>
          </a:p>
        </p:txBody>
      </p:sp>
      <p:sp>
        <p:nvSpPr>
          <p:cNvPr name="AutoShape 14" id="14"/>
          <p:cNvSpPr/>
          <p:nvPr/>
        </p:nvSpPr>
        <p:spPr>
          <a:xfrm rot="0" flipH="false" flipV="false">
            <a:off x="685800" y="3276600"/>
            <a:ext cx="3022600" cy="2425700"/>
          </a:xfrm>
          <a:prstGeom prst="roundRect">
            <a:avLst>
              <a:gd name="adj" fmla="val 314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01700" y="3505200"/>
            <a:ext cx="1282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PREDICTION SETUP</a:t>
            </a:r>
            <a:endParaRPr lang="en-US" sz="1100"/>
          </a:p>
        </p:txBody>
      </p:sp>
      <p:sp>
        <p:nvSpPr>
          <p:cNvPr name="AutoShape 16" id="16"/>
          <p:cNvSpPr/>
          <p:nvPr/>
        </p:nvSpPr>
        <p:spPr>
          <a:xfrm rot="0" flipH="false" flipV="false">
            <a:off x="901700" y="3771900"/>
            <a:ext cx="2489200" cy="1524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100">
                <a:solidFill>
                  <a:srgbClr val="697386"/>
                </a:solidFill>
                <a:latin typeface="Aptos"/>
                <a:ea typeface="Aptos"/>
                <a:cs typeface="Aptos"/>
                <a:sym typeface="Aptos"/>
              </a:rPr>
              <a:t>• Type:</a:t>
            </a:r>
            <a:r>
              <a:rPr lang="en-US" b="false" i="false" strike="noStrike" u="none" sz="1100">
                <a:solidFill>
                  <a:srgbClr val="3C3C3C"/>
                </a:solidFill>
                <a:latin typeface="Aptos"/>
                <a:ea typeface="Aptos"/>
                <a:cs typeface="Aptos"/>
                <a:sym typeface="Aptos"/>
              </a:rPr>
              <a:t>Regression (predict continuous coordinates)</a:t>
            </a:r>
            <a:r>
              <a:rPr lang="en-US" b="false" i="false" strike="noStrike" u="none" sz="1100">
                <a:solidFill>
                  <a:srgbClr val="1F2329"/>
                </a:solidFill>
                <a:latin typeface="Aptos"/>
                <a:ea typeface="Aptos"/>
                <a:cs typeface="Aptos"/>
                <a:sym typeface="Aptos"/>
              </a:rPr>
              <a:t/>
            </a:r>
            <a:endParaRPr lang="en-US" sz="1100"/>
          </a:p>
          <a:p>
            <a:pPr algn="l" indent="0">
              <a:lnSpc>
                <a:spcPct val="108333"/>
              </a:lnSpc>
            </a:pPr>
            <a:r>
              <a:rPr lang="en-US" b="true" i="false" strike="noStrike" u="none" sz="1100">
                <a:solidFill>
                  <a:srgbClr val="697386"/>
                </a:solidFill>
                <a:latin typeface="Aptos"/>
                <a:ea typeface="Aptos"/>
                <a:cs typeface="Aptos"/>
                <a:sym typeface="Aptos"/>
              </a:rPr>
              <a:t>• Input:</a:t>
            </a:r>
            <a:r>
              <a:rPr lang="en-US" b="false" i="false" strike="noStrike" u="none" sz="1100">
                <a:solidFill>
                  <a:srgbClr val="3C3C3C"/>
                </a:solidFill>
                <a:latin typeface="Aptos"/>
                <a:ea typeface="Aptos"/>
                <a:cs typeface="Aptos"/>
                <a:sym typeface="Aptos"/>
              </a:rPr>
              <a:t>2D Grayscale Facial Images</a:t>
            </a:r>
            <a:r>
              <a:rPr lang="en-US" b="false" i="false" strike="noStrike" u="none" sz="1100">
                <a:solidFill>
                  <a:srgbClr val="1F2329"/>
                </a:solidFill>
                <a:latin typeface="Aptos"/>
                <a:ea typeface="Aptos"/>
                <a:cs typeface="Aptos"/>
                <a:sym typeface="Aptos"/>
              </a:rPr>
              <a:t/>
            </a:r>
          </a:p>
          <a:p>
            <a:pPr algn="l" indent="0">
              <a:lnSpc>
                <a:spcPct val="108333"/>
              </a:lnSpc>
            </a:pPr>
            <a:r>
              <a:rPr lang="en-US" b="true" i="false" strike="noStrike" u="none" sz="1100">
                <a:solidFill>
                  <a:srgbClr val="697386"/>
                </a:solidFill>
                <a:latin typeface="Aptos"/>
                <a:ea typeface="Aptos"/>
                <a:cs typeface="Aptos"/>
                <a:sym typeface="Aptos"/>
              </a:rPr>
              <a:t>• Output:</a:t>
            </a:r>
            <a:r>
              <a:rPr lang="en-US" b="false" i="false" strike="noStrike" u="none" sz="1100">
                <a:solidFill>
                  <a:srgbClr val="3C3C3C"/>
                </a:solidFill>
                <a:latin typeface="Aptos"/>
                <a:ea typeface="Aptos"/>
                <a:cs typeface="Aptos"/>
                <a:sym typeface="Aptos"/>
              </a:rPr>
              <a:t>The (x, y) coordinates of 15 distinct facial keypoints.</a:t>
            </a:r>
          </a:p>
        </p:txBody>
      </p:sp>
      <p:sp>
        <p:nvSpPr>
          <p:cNvPr name="AutoShape 17" id="17"/>
          <p:cNvSpPr/>
          <p:nvPr/>
        </p:nvSpPr>
        <p:spPr>
          <a:xfrm rot="0" flipH="false" flipV="false">
            <a:off x="3975100" y="1231900"/>
            <a:ext cx="3975100" cy="4483100"/>
          </a:xfrm>
          <a:prstGeom prst="roundRect">
            <a:avLst>
              <a:gd name="adj" fmla="val 1916"/>
            </a:avLst>
          </a:prstGeom>
          <a:solidFill>
            <a:srgbClr val="FFFFFF">
              <a:alpha val="78000"/>
            </a:srgbClr>
          </a:solidFill>
          <a:ln w="12700" cmpd="sng" cap="flat">
            <a:solidFill>
              <a:srgbClr val="B8BDC7">
                <a:alpha val="100000"/>
              </a:srgbClr>
            </a:solidFill>
            <a:prstDash val="dash"/>
            <a:miter lim="10000000"/>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140200" y="1397000"/>
            <a:ext cx="36449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16253F"/>
                </a:solidFill>
                <a:latin typeface="Aptos"/>
                <a:ea typeface="Aptos"/>
                <a:cs typeface="Aptos"/>
                <a:sym typeface="Aptos"/>
              </a:rPr>
              <a:t>Task Visualization Concept</a:t>
            </a:r>
            <a:endParaRPr lang="en-US" sz="1100"/>
          </a:p>
        </p:txBody>
      </p:sp>
      <p:sp>
        <p:nvSpPr>
          <p:cNvPr name="AutoShape 19" id="19"/>
          <p:cNvSpPr/>
          <p:nvPr/>
        </p:nvSpPr>
        <p:spPr>
          <a:xfrm rot="0" flipH="false" flipV="false">
            <a:off x="4140200" y="1778000"/>
            <a:ext cx="3644900" cy="355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505050"/>
                </a:solidFill>
                <a:latin typeface="Aptos"/>
                <a:ea typeface="Aptos"/>
                <a:cs typeface="Aptos"/>
                <a:sym typeface="Aptos"/>
              </a:rPr>
              <a:t>Imagine a grayscale portrait of a human face.</a:t>
            </a:r>
            <a:endParaRPr lang="en-US" sz="1100"/>
          </a:p>
          <a:p>
            <a:pPr algn="ctr" indent="0">
              <a:lnSpc>
                <a:spcPct val="125000"/>
              </a:lnSpc>
            </a:pPr>
            <a:r>
              <a:rPr lang="en-US" b="false" i="false" strike="noStrike" u="none" sz="1200">
                <a:solidFill>
                  <a:srgbClr val="505050"/>
                </a:solidFill>
                <a:latin typeface="Aptos"/>
                <a:ea typeface="Aptos"/>
                <a:cs typeface="Aptos"/>
                <a:sym typeface="Aptos"/>
              </a:rPr>
              <a:t>Our model analyzes the pixel data to pinpoint 15 critical landmarks:</a:t>
            </a:r>
          </a:p>
          <a:p>
            <a:pPr algn="ctr" indent="0">
              <a:lnSpc>
                <a:spcPct val="125000"/>
              </a:lnSpc>
            </a:pPr>
            <a:r>
              <a:rPr lang="en-US" b="false" i="false" strike="noStrike" u="none" sz="1200">
                <a:solidFill>
                  <a:srgbClr val="505050"/>
                </a:solidFill>
                <a:latin typeface="Aptos"/>
                <a:ea typeface="Aptos"/>
                <a:cs typeface="Aptos"/>
                <a:sym typeface="Aptos"/>
              </a:rPr>
              <a:t>• Eyes (inner/outer corners)</a:t>
            </a:r>
            <a:br>
              <a:rPr lang="en-US" b="false" i="false" strike="noStrike" u="none" sz="1200">
                <a:solidFill>
                  <a:srgbClr val="505050"/>
                </a:solidFill>
                <a:latin typeface="Aptos"/>
                <a:ea typeface="Aptos"/>
                <a:cs typeface="Aptos"/>
                <a:sym typeface="Aptos"/>
              </a:rPr>
            </a:br>
            <a:r>
              <a:rPr lang="en-US" b="false" i="false" strike="noStrike" u="none" sz="1200">
                <a:solidFill>
                  <a:srgbClr val="505050"/>
                </a:solidFill>
                <a:latin typeface="Aptos"/>
                <a:ea typeface="Aptos"/>
                <a:cs typeface="Aptos"/>
                <a:sym typeface="Aptos"/>
              </a:rPr>
              <a:t>• Nose (tip &amp; bridge)</a:t>
            </a:r>
            <a:br>
              <a:rPr lang="en-US" b="false" i="false" strike="noStrike" u="none" sz="1200">
                <a:solidFill>
                  <a:srgbClr val="505050"/>
                </a:solidFill>
                <a:latin typeface="Aptos"/>
                <a:ea typeface="Aptos"/>
                <a:cs typeface="Aptos"/>
                <a:sym typeface="Aptos"/>
              </a:rPr>
            </a:br>
            <a:r>
              <a:rPr lang="en-US" b="false" i="false" strike="noStrike" u="none" sz="1200">
                <a:solidFill>
                  <a:srgbClr val="505050"/>
                </a:solidFill>
                <a:latin typeface="Aptos"/>
                <a:ea typeface="Aptos"/>
                <a:cs typeface="Aptos"/>
                <a:sym typeface="Aptos"/>
              </a:rPr>
              <a:t>• Mouth (corners, upper/lower lips)</a:t>
            </a:r>
            <a:br>
              <a:rPr lang="en-US" b="false" i="false" strike="noStrike" u="none" sz="1200">
                <a:solidFill>
                  <a:srgbClr val="505050"/>
                </a:solidFill>
                <a:latin typeface="Aptos"/>
                <a:ea typeface="Aptos"/>
                <a:cs typeface="Aptos"/>
                <a:sym typeface="Aptos"/>
              </a:rPr>
            </a:br>
            <a:r>
              <a:rPr lang="en-US" b="false" i="false" strike="noStrike" u="none" sz="1200">
                <a:solidFill>
                  <a:srgbClr val="505050"/>
                </a:solidFill>
                <a:latin typeface="Aptos"/>
                <a:ea typeface="Aptos"/>
                <a:cs typeface="Aptos"/>
                <a:sym typeface="Aptos"/>
              </a:rPr>
              <a:t>• Jawline &amp; Eyebrows</a:t>
            </a:r>
          </a:p>
          <a:p>
            <a:pPr algn="ctr" indent="0">
              <a:lnSpc>
                <a:spcPct val="125000"/>
              </a:lnSpc>
            </a:pPr>
            <a:r>
              <a:rPr lang="en-US" b="false" i="false" strike="noStrike" u="none" sz="1200">
                <a:solidFill>
                  <a:srgbClr val="505050"/>
                </a:solidFill>
                <a:latin typeface="Aptos"/>
                <a:ea typeface="Aptos"/>
                <a:cs typeface="Aptos"/>
                <a:sym typeface="Aptos"/>
              </a:rPr>
              <a:t>Output: 30 numbers (15 pairs of x, y).</a:t>
            </a:r>
          </a:p>
        </p:txBody>
      </p:sp>
      <p:sp>
        <p:nvSpPr>
          <p:cNvPr name="AutoShape 20" id="20"/>
          <p:cNvSpPr/>
          <p:nvPr/>
        </p:nvSpPr>
        <p:spPr>
          <a:xfrm rot="0" flipH="false" flipV="false">
            <a:off x="8229600" y="1231900"/>
            <a:ext cx="3251200" cy="2006600"/>
          </a:xfrm>
          <a:prstGeom prst="roundRect">
            <a:avLst>
              <a:gd name="adj" fmla="val 3797"/>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445500" y="1460500"/>
            <a:ext cx="10033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OFFICIAL METRIC</a:t>
            </a:r>
            <a:endParaRPr lang="en-US" sz="1100"/>
          </a:p>
        </p:txBody>
      </p:sp>
      <p:sp>
        <p:nvSpPr>
          <p:cNvPr name="AutoShape 22" id="22"/>
          <p:cNvSpPr/>
          <p:nvPr/>
        </p:nvSpPr>
        <p:spPr>
          <a:xfrm rot="0" flipH="false" flipV="false">
            <a:off x="8445500" y="1778000"/>
            <a:ext cx="2794000" cy="1270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697386"/>
                </a:solidFill>
                <a:latin typeface="Aptos"/>
                <a:ea typeface="Aptos"/>
                <a:cs typeface="Aptos"/>
                <a:sym typeface="Aptos"/>
              </a:rPr>
              <a:t>Name:</a:t>
            </a:r>
            <a:r>
              <a:rPr lang="en-US" b="false" i="false" strike="noStrike" u="none" sz="1100">
                <a:solidFill>
                  <a:srgbClr val="3C3C3C"/>
                </a:solidFill>
                <a:latin typeface="Aptos"/>
                <a:ea typeface="Aptos"/>
                <a:cs typeface="Aptos"/>
                <a:sym typeface="Aptos"/>
              </a:rPr>
              <a:t>Mean Squared Error (MSE)</a:t>
            </a:r>
            <a:r>
              <a:rPr lang="en-US" b="false" i="false" strike="noStrike" u="none" sz="1100">
                <a:solidFill>
                  <a:srgbClr val="1F2329"/>
                </a:solidFill>
                <a:latin typeface="Aptos"/>
                <a:ea typeface="Aptos"/>
                <a:cs typeface="Aptos"/>
                <a:sym typeface="Aptos"/>
              </a:rPr>
              <a:t/>
            </a:r>
            <a:endParaRPr lang="en-US" sz="1100"/>
          </a:p>
          <a:p>
            <a:pPr algn="l" indent="0">
              <a:lnSpc>
                <a:spcPct val="100000"/>
              </a:lnSpc>
            </a:pPr>
            <a:r>
              <a:rPr lang="en-US" b="true" i="false" strike="noStrike" u="none" sz="1100">
                <a:solidFill>
                  <a:srgbClr val="697386"/>
                </a:solidFill>
                <a:latin typeface="Aptos"/>
                <a:ea typeface="Aptos"/>
                <a:cs typeface="Aptos"/>
                <a:sym typeface="Aptos"/>
              </a:rPr>
              <a:t>Interpretation:</a:t>
            </a:r>
            <a:r>
              <a:rPr lang="en-US" b="false" i="false" strike="noStrike" u="none" sz="1100">
                <a:solidFill>
                  <a:srgbClr val="3C3C3C"/>
                </a:solidFill>
                <a:latin typeface="Aptos"/>
                <a:ea typeface="Aptos"/>
                <a:cs typeface="Aptos"/>
                <a:sym typeface="Aptos"/>
              </a:rPr>
              <a:t>Lower = Better (more accurate predictions).</a:t>
            </a:r>
            <a:r>
              <a:rPr lang="en-US" b="false" i="false" strike="noStrike" u="none" sz="1100">
                <a:solidFill>
                  <a:srgbClr val="1F2329"/>
                </a:solidFill>
                <a:latin typeface="Aptos"/>
                <a:ea typeface="Aptos"/>
                <a:cs typeface="Aptos"/>
                <a:sym typeface="Aptos"/>
              </a:rPr>
              <a:t/>
            </a:r>
          </a:p>
          <a:p>
            <a:pPr algn="l" indent="0">
              <a:lnSpc>
                <a:spcPct val="100000"/>
              </a:lnSpc>
            </a:pPr>
            <a:r>
              <a:rPr lang="en-US" b="true" i="false" strike="noStrike" u="none" sz="1100">
                <a:solidFill>
                  <a:srgbClr val="697386"/>
                </a:solidFill>
                <a:latin typeface="Aptos"/>
                <a:ea typeface="Aptos"/>
                <a:cs typeface="Aptos"/>
                <a:sym typeface="Aptos"/>
              </a:rPr>
              <a:t>Fit:</a:t>
            </a:r>
            <a:r>
              <a:rPr lang="en-US" b="false" i="false" strike="noStrike" u="none" sz="1100">
                <a:solidFill>
                  <a:srgbClr val="3C3C3C"/>
                </a:solidFill>
                <a:latin typeface="Aptos"/>
                <a:ea typeface="Aptos"/>
                <a:cs typeface="Aptos"/>
                <a:sym typeface="Aptos"/>
              </a:rPr>
              <a:t>Standard for regression; measures average squared difference between predicted/true values.</a:t>
            </a:r>
          </a:p>
        </p:txBody>
      </p:sp>
      <p:sp>
        <p:nvSpPr>
          <p:cNvPr name="AutoShape 23" id="23"/>
          <p:cNvSpPr/>
          <p:nvPr/>
        </p:nvSpPr>
        <p:spPr>
          <a:xfrm rot="0" flipH="false" flipV="false">
            <a:off x="8229600" y="3492500"/>
            <a:ext cx="3251200" cy="2222500"/>
          </a:xfrm>
          <a:prstGeom prst="roundRect">
            <a:avLst>
              <a:gd name="adj" fmla="val 3428"/>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445500" y="3733800"/>
            <a:ext cx="7366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YOUR GOAL</a:t>
            </a:r>
            <a:endParaRPr lang="en-US" sz="1100"/>
          </a:p>
        </p:txBody>
      </p:sp>
      <p:sp>
        <p:nvSpPr>
          <p:cNvPr name="AutoShape 25" id="25"/>
          <p:cNvSpPr/>
          <p:nvPr/>
        </p:nvSpPr>
        <p:spPr>
          <a:xfrm rot="0" flipH="false" flipV="false">
            <a:off x="8445500" y="4064000"/>
            <a:ext cx="2794000" cy="1397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3C3C3C"/>
                </a:solidFill>
                <a:latin typeface="Aptos"/>
                <a:ea typeface="Aptos"/>
                <a:cs typeface="Aptos"/>
                <a:sym typeface="Aptos"/>
              </a:rPr>
              <a:t>Build a robust machine learning model to accurately predict the (x,y) coordinates of 15 facial keypoints for unseen grayscale face images, with the aim of minimizing the Mean Squared Error (MSE) on the test set.</a:t>
            </a:r>
            <a:endParaRPr lang="en-US" sz="1100"/>
          </a:p>
        </p:txBody>
      </p:sp>
      <p:sp>
        <p:nvSpPr>
          <p:cNvPr name="AutoShape 26" id="26"/>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01</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SDSC8007 • MINI PROJECT</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2. Data Analysis &amp; Challenges</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Data Analysis • Key Findings &amp; Obstacles</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KEY INSIGHTS</a:t>
            </a:r>
            <a:endParaRPr lang="en-US" sz="1100"/>
          </a:p>
        </p:txBody>
      </p:sp>
      <p:sp>
        <p:nvSpPr>
          <p:cNvPr name="AutoShape 11" id="11"/>
          <p:cNvSpPr/>
          <p:nvPr/>
        </p:nvSpPr>
        <p:spPr>
          <a:xfrm rot="0" flipH="false" flipV="false">
            <a:off x="698500" y="1257300"/>
            <a:ext cx="4889500" cy="3606800"/>
          </a:xfrm>
          <a:prstGeom prst="roundRect">
            <a:avLst>
              <a:gd name="adj" fmla="val 2112"/>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63600" y="1422400"/>
            <a:ext cx="45593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6253F"/>
                </a:solidFill>
                <a:latin typeface="Aptos"/>
                <a:ea typeface="Aptos"/>
                <a:cs typeface="Aptos"/>
                <a:sym typeface="Aptos"/>
              </a:rPr>
              <a:t>DATASET SNAPSHOT</a:t>
            </a:r>
            <a:endParaRPr lang="en-US" sz="1100"/>
          </a:p>
        </p:txBody>
      </p:sp>
      <p:sp>
        <p:nvSpPr>
          <p:cNvPr name="AutoShape 13" id="13"/>
          <p:cNvSpPr/>
          <p:nvPr/>
        </p:nvSpPr>
        <p:spPr>
          <a:xfrm rot="0" flipH="false" flipV="false">
            <a:off x="863600" y="1968500"/>
            <a:ext cx="4559300" cy="2794000"/>
          </a:xfrm>
          <a:prstGeom prst="roundRect">
            <a:avLst>
              <a:gd name="adj" fmla="val 0"/>
            </a:avLst>
          </a:prstGeom>
          <a:noFill/>
          <a:ln w="25400" cmpd="sng" cap="flat">
            <a:noFill/>
            <a:prstDash val="solid"/>
            <a:round/>
          </a:ln>
        </p:spPr>
        <p:txBody>
          <a:bodyPr anchor="t" rtlCol="false" anchorCtr="false" vert="horz" wrap="square" lIns="63500" rIns="63500" tIns="63500" bIns="63500"/>
          <a:lstStyle/>
          <a:p>
            <a:pPr algn="l" indent="0">
              <a:lnSpc>
                <a:spcPct val="116666"/>
              </a:lnSpc>
              <a:defRPr/>
            </a:pPr>
            <a:r>
              <a:rPr lang="en-US" b="true" i="false" strike="noStrike" u="none" sz="1300">
                <a:solidFill>
                  <a:srgbClr val="B4343A"/>
                </a:solidFill>
                <a:latin typeface="Noto Sans SC"/>
                <a:ea typeface="Noto Sans SC"/>
                <a:cs typeface="Noto Sans SC"/>
                <a:sym typeface="Noto Sans SC"/>
              </a:rPr>
              <a:t>• Scale:</a:t>
            </a:r>
            <a:r>
              <a:rPr lang="en-US" b="false" i="false" strike="noStrike" u="none" sz="1300">
                <a:solidFill>
                  <a:srgbClr val="3C3C3C"/>
                </a:solidFill>
                <a:latin typeface="Noto Sans SC"/>
                <a:ea typeface="Noto Sans SC"/>
                <a:cs typeface="Noto Sans SC"/>
                <a:sym typeface="Noto Sans SC"/>
              </a:rPr>
              <a:t>~7,000 labeled images for training, unlabeled test set.</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B4343A"/>
                </a:solidFill>
                <a:latin typeface="Noto Sans SC"/>
                <a:ea typeface="Noto Sans SC"/>
                <a:cs typeface="Noto Sans SC"/>
                <a:sym typeface="Noto Sans SC"/>
              </a:rPr>
              <a:t>• Resolution:</a:t>
            </a:r>
            <a:r>
              <a:rPr lang="en-US" b="false" i="false" strike="noStrike" u="none" sz="1300">
                <a:solidFill>
                  <a:srgbClr val="3C3C3C"/>
                </a:solidFill>
                <a:latin typeface="Noto Sans SC"/>
                <a:ea typeface="Noto Sans SC"/>
                <a:cs typeface="Noto Sans SC"/>
                <a:sym typeface="Noto Sans SC"/>
              </a:rPr>
              <a:t>96x96 pixels (grayscale), resulting in 9216-dimensional feature vectors.</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B4343A"/>
                </a:solidFill>
                <a:latin typeface="Noto Sans SC"/>
                <a:ea typeface="Noto Sans SC"/>
                <a:cs typeface="Noto Sans SC"/>
                <a:sym typeface="Noto Sans SC"/>
              </a:rPr>
              <a:t>• Key Task:</a:t>
            </a:r>
            <a:r>
              <a:rPr lang="en-US" b="false" i="false" strike="noStrike" u="none" sz="1300">
                <a:solidFill>
                  <a:srgbClr val="3C3C3C"/>
                </a:solidFill>
                <a:latin typeface="Noto Sans SC"/>
                <a:ea typeface="Noto Sans SC"/>
                <a:cs typeface="Noto Sans SC"/>
                <a:sym typeface="Noto Sans SC"/>
              </a:rPr>
              <a:t>Localize facial keypoints (e.g., eyes, nose, mouth) from the 2D images.</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B4343A"/>
                </a:solidFill>
                <a:latin typeface="Noto Sans SC"/>
                <a:ea typeface="Noto Sans SC"/>
                <a:cs typeface="Noto Sans SC"/>
                <a:sym typeface="Noto Sans SC"/>
              </a:rPr>
              <a:t>• Input Space:</a:t>
            </a:r>
            <a:r>
              <a:rPr lang="en-US" b="false" i="false" strike="noStrike" u="none" sz="1300">
                <a:solidFill>
                  <a:srgbClr val="3C3C3C"/>
                </a:solidFill>
                <a:latin typeface="Noto Sans SC"/>
                <a:ea typeface="Noto Sans SC"/>
                <a:cs typeface="Noto Sans SC"/>
                <a:sym typeface="Noto Sans SC"/>
              </a:rPr>
              <a:t>High dimensionality poses a risk of overfitting simple models.</a:t>
            </a:r>
          </a:p>
        </p:txBody>
      </p:sp>
      <p:sp>
        <p:nvSpPr>
          <p:cNvPr name="AutoShape 14" id="14"/>
          <p:cNvSpPr/>
          <p:nvPr/>
        </p:nvSpPr>
        <p:spPr>
          <a:xfrm rot="0" flipH="false" flipV="false">
            <a:off x="5829300" y="1257300"/>
            <a:ext cx="2463800" cy="1600200"/>
          </a:xfrm>
          <a:prstGeom prst="roundRect">
            <a:avLst>
              <a:gd name="adj" fmla="val 476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981700" y="1397000"/>
            <a:ext cx="2159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PREPROCESSING</a:t>
            </a:r>
            <a:endParaRPr lang="en-US" sz="1100"/>
          </a:p>
        </p:txBody>
      </p:sp>
      <p:sp>
        <p:nvSpPr>
          <p:cNvPr name="AutoShape 16" id="16"/>
          <p:cNvSpPr/>
          <p:nvPr/>
        </p:nvSpPr>
        <p:spPr>
          <a:xfrm rot="0" flipH="false" flipV="false">
            <a:off x="5981700" y="1778000"/>
            <a:ext cx="2159000" cy="1016000"/>
          </a:xfrm>
          <a:prstGeom prst="roundRect">
            <a:avLst>
              <a:gd name="adj" fmla="val 0"/>
            </a:avLst>
          </a:prstGeom>
          <a:noFill/>
          <a:ln w="25400" cmpd="sng" cap="flat">
            <a:noFill/>
            <a:prstDash val="solid"/>
            <a:round/>
          </a:ln>
        </p:spPr>
        <p:txBody>
          <a:bodyPr anchor="t" rtlCol="false" anchorCtr="false" vert="horz" wrap="square" lIns="25400" rIns="25400" tIns="25400" bIns="25400"/>
          <a:lstStyle/>
          <a:p>
            <a:pPr algn="l" indent="0">
              <a:lnSpc>
                <a:spcPct val="108333"/>
              </a:lnSpc>
              <a:defRPr/>
            </a:pPr>
            <a:r>
              <a:rPr lang="en-US" b="false" i="false" strike="noStrike" u="none" sz="1100">
                <a:solidFill>
                  <a:srgbClr val="3C3C3C"/>
                </a:solidFill>
                <a:latin typeface="Noto Sans SC"/>
                <a:ea typeface="Noto Sans SC"/>
                <a:cs typeface="Noto Sans SC"/>
                <a:sym typeface="Noto Sans SC"/>
              </a:rPr>
              <a:t>1. Normalize pixel values to [0, 1] to stabilize training.</a:t>
            </a:r>
            <a:endParaRPr lang="en-US" sz="1100"/>
          </a:p>
          <a:p>
            <a:pPr algn="l" indent="0">
              <a:lnSpc>
                <a:spcPct val="108333"/>
              </a:lnSpc>
            </a:pPr>
            <a:r>
              <a:rPr lang="en-US" b="false" i="false" strike="noStrike" u="none" sz="1100">
                <a:solidFill>
                  <a:srgbClr val="3C3C3C"/>
                </a:solidFill>
                <a:latin typeface="Noto Sans SC"/>
                <a:ea typeface="Noto Sans SC"/>
                <a:cs typeface="Noto Sans SC"/>
                <a:sym typeface="Noto Sans SC"/>
              </a:rPr>
              <a:t>2. Center the images to focus on facial features.</a:t>
            </a:r>
          </a:p>
        </p:txBody>
      </p:sp>
      <p:sp>
        <p:nvSpPr>
          <p:cNvPr name="AutoShape 17" id="17"/>
          <p:cNvSpPr/>
          <p:nvPr/>
        </p:nvSpPr>
        <p:spPr>
          <a:xfrm rot="0" flipH="false" flipV="false">
            <a:off x="8521700" y="1257300"/>
            <a:ext cx="2768600" cy="1600200"/>
          </a:xfrm>
          <a:prstGeom prst="roundRect">
            <a:avLst>
              <a:gd name="adj" fmla="val 476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74100" y="1397000"/>
            <a:ext cx="2413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MAIN CHALLENGES</a:t>
            </a:r>
            <a:endParaRPr lang="en-US" sz="1100"/>
          </a:p>
        </p:txBody>
      </p:sp>
      <p:sp>
        <p:nvSpPr>
          <p:cNvPr name="AutoShape 19" id="19"/>
          <p:cNvSpPr/>
          <p:nvPr/>
        </p:nvSpPr>
        <p:spPr>
          <a:xfrm rot="0" flipH="false" flipV="false">
            <a:off x="8674100" y="1778000"/>
            <a:ext cx="2413000" cy="1016000"/>
          </a:xfrm>
          <a:prstGeom prst="roundRect">
            <a:avLst>
              <a:gd name="adj" fmla="val 0"/>
            </a:avLst>
          </a:prstGeom>
          <a:noFill/>
          <a:ln w="25400" cmpd="sng" cap="flat">
            <a:noFill/>
            <a:prstDash val="solid"/>
            <a:round/>
          </a:ln>
        </p:spPr>
        <p:txBody>
          <a:bodyPr anchor="t" rtlCol="false" anchorCtr="false" vert="horz" wrap="square" lIns="25400" rIns="25400" tIns="25400" bIns="25400"/>
          <a:lstStyle/>
          <a:p>
            <a:pPr algn="l" indent="0">
              <a:lnSpc>
                <a:spcPct val="108333"/>
              </a:lnSpc>
              <a:defRPr/>
            </a:pPr>
            <a:r>
              <a:rPr lang="en-US" b="false" i="false" strike="noStrike" u="none" sz="1100">
                <a:solidFill>
                  <a:srgbClr val="3C3C3C"/>
                </a:solidFill>
                <a:latin typeface="Noto Sans SC"/>
                <a:ea typeface="Noto Sans SC"/>
                <a:cs typeface="Noto Sans SC"/>
                <a:sym typeface="Noto Sans SC"/>
              </a:rPr>
              <a:t>• Missing/Incomplete keypoint labels in some samples.</a:t>
            </a:r>
            <a:endParaRPr lang="en-US" sz="1100"/>
          </a:p>
          <a:p>
            <a:pPr algn="l" indent="0">
              <a:lnSpc>
                <a:spcPct val="108333"/>
              </a:lnSpc>
            </a:pPr>
            <a:r>
              <a:rPr lang="en-US" b="false" i="false" strike="noStrike" u="none" sz="1100">
                <a:solidFill>
                  <a:srgbClr val="3C3C3C"/>
                </a:solidFill>
                <a:latin typeface="Noto Sans SC"/>
                <a:ea typeface="Noto Sans SC"/>
                <a:cs typeface="Noto Sans SC"/>
                <a:sym typeface="Noto Sans SC"/>
              </a:rPr>
              <a:t>• Sparse labels (not all points visible) &amp; potential domain shift.</a:t>
            </a:r>
          </a:p>
        </p:txBody>
      </p:sp>
      <p:sp>
        <p:nvSpPr>
          <p:cNvPr name="AutoShape 20" id="20"/>
          <p:cNvSpPr/>
          <p:nvPr/>
        </p:nvSpPr>
        <p:spPr>
          <a:xfrm rot="0" flipH="false" flipV="false">
            <a:off x="5829300" y="3124200"/>
            <a:ext cx="5461000" cy="1739900"/>
          </a:xfrm>
          <a:prstGeom prst="roundRect">
            <a:avLst>
              <a:gd name="adj" fmla="val 4379"/>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981700" y="3302000"/>
            <a:ext cx="10160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TAKEAWAY</a:t>
            </a:r>
            <a:endParaRPr lang="en-US" sz="1100"/>
          </a:p>
        </p:txBody>
      </p:sp>
      <p:sp>
        <p:nvSpPr>
          <p:cNvPr name="AutoShape 22" id="22"/>
          <p:cNvSpPr/>
          <p:nvPr/>
        </p:nvSpPr>
        <p:spPr>
          <a:xfrm rot="0" flipH="false" flipV="false">
            <a:off x="5981700" y="3683000"/>
            <a:ext cx="4953000" cy="1079500"/>
          </a:xfrm>
          <a:prstGeom prst="roundRect">
            <a:avLst>
              <a:gd name="adj" fmla="val 0"/>
            </a:avLst>
          </a:prstGeom>
          <a:noFill/>
          <a:ln w="25400" cmpd="sng" cap="flat">
            <a:noFill/>
            <a:prstDash val="solid"/>
            <a:round/>
          </a:ln>
        </p:spPr>
        <p:txBody>
          <a:bodyPr anchor="t" rtlCol="false" anchorCtr="false" vert="horz" wrap="square" lIns="25400" rIns="25400" tIns="25400" bIns="25400"/>
          <a:lstStyle/>
          <a:p>
            <a:pPr algn="l" indent="0">
              <a:lnSpc>
                <a:spcPct val="116666"/>
              </a:lnSpc>
              <a:defRPr/>
            </a:pPr>
            <a:r>
              <a:rPr lang="en-US" b="false" i="false" strike="noStrike" u="none" sz="1200">
                <a:solidFill>
                  <a:srgbClr val="3C3C3C"/>
                </a:solidFill>
                <a:latin typeface="Noto Sans SC"/>
                <a:ea typeface="Noto Sans SC"/>
                <a:cs typeface="Noto Sans SC"/>
                <a:sym typeface="Noto Sans SC"/>
              </a:rPr>
              <a:t>Handling missing labels and normalization are critical first steps to ensure data quality. Addressing the high dimensionality (9216 features) is essential to avoid overfitting and improve model efficiency.</a:t>
            </a:r>
            <a:endParaRPr lang="en-US" sz="1100"/>
          </a:p>
        </p:txBody>
      </p:sp>
      <p:sp>
        <p:nvSpPr>
          <p:cNvPr name="AutoShape 23" id="23"/>
          <p:cNvSpPr/>
          <p:nvPr/>
        </p:nvSpPr>
        <p:spPr>
          <a:xfrm rot="0" flipH="false" flipV="false">
            <a:off x="698500" y="5143500"/>
            <a:ext cx="3251200" cy="914400"/>
          </a:xfrm>
          <a:prstGeom prst="roundRect">
            <a:avLst>
              <a:gd name="adj" fmla="val 8333"/>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63600" y="5270500"/>
            <a:ext cx="2921000" cy="6985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ctr" indent="0">
              <a:lnSpc>
                <a:spcPct val="100000"/>
              </a:lnSpc>
              <a:defRPr/>
            </a:pPr>
            <a:r>
              <a:rPr lang="en-US" b="true" i="false" strike="noStrike" u="none" sz="1200">
                <a:solidFill>
                  <a:srgbClr val="16253F"/>
                </a:solidFill>
                <a:latin typeface="Noto Sans SC"/>
                <a:ea typeface="Noto Sans SC"/>
                <a:cs typeface="Noto Sans SC"/>
                <a:sym typeface="Noto Sans SC"/>
              </a:rPr>
              <a:t>High Dimensionality</a:t>
            </a:r>
            <a:r>
              <a:rPr lang="en-US" b="false" i="false" strike="noStrike" u="none" sz="12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697386"/>
                </a:solidFill>
                <a:latin typeface="Noto Sans SC"/>
                <a:ea typeface="Noto Sans SC"/>
                <a:cs typeface="Noto Sans SC"/>
                <a:sym typeface="Noto Sans SC"/>
              </a:rPr>
              <a:t>9216-Dim Vector → Risk of Overfitting</a:t>
            </a:r>
          </a:p>
        </p:txBody>
      </p:sp>
      <p:sp>
        <p:nvSpPr>
          <p:cNvPr name="AutoShape 25" id="25"/>
          <p:cNvSpPr/>
          <p:nvPr/>
        </p:nvSpPr>
        <p:spPr>
          <a:xfrm rot="0" flipH="false" flipV="false">
            <a:off x="4165600" y="5143500"/>
            <a:ext cx="3251200" cy="914400"/>
          </a:xfrm>
          <a:prstGeom prst="roundRect">
            <a:avLst>
              <a:gd name="adj" fmla="val 8333"/>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330700" y="5270500"/>
            <a:ext cx="2921000" cy="6985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ctr" indent="0">
              <a:lnSpc>
                <a:spcPct val="100000"/>
              </a:lnSpc>
              <a:defRPr/>
            </a:pPr>
            <a:r>
              <a:rPr lang="en-US" b="true" i="false" strike="noStrike" u="none" sz="1200">
                <a:solidFill>
                  <a:srgbClr val="16253F"/>
                </a:solidFill>
                <a:latin typeface="Noto Sans SC"/>
                <a:ea typeface="Noto Sans SC"/>
                <a:cs typeface="Noto Sans SC"/>
                <a:sym typeface="Noto Sans SC"/>
              </a:rPr>
              <a:t>Label Issues</a:t>
            </a:r>
            <a:r>
              <a:rPr lang="en-US" b="false" i="false" strike="noStrike" u="none" sz="12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697386"/>
                </a:solidFill>
                <a:latin typeface="Noto Sans SC"/>
                <a:ea typeface="Noto Sans SC"/>
                <a:cs typeface="Noto Sans SC"/>
                <a:sym typeface="Noto Sans SC"/>
              </a:rPr>
              <a:t>Missing Values &amp; Sparse Keypoints</a:t>
            </a:r>
          </a:p>
        </p:txBody>
      </p:sp>
      <p:sp>
        <p:nvSpPr>
          <p:cNvPr name="AutoShape 27" id="27"/>
          <p:cNvSpPr/>
          <p:nvPr/>
        </p:nvSpPr>
        <p:spPr>
          <a:xfrm rot="0" flipH="false" flipV="false">
            <a:off x="7620000" y="5143500"/>
            <a:ext cx="3670300" cy="914400"/>
          </a:xfrm>
          <a:prstGeom prst="roundRect">
            <a:avLst>
              <a:gd name="adj" fmla="val 8333"/>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785100" y="5270500"/>
            <a:ext cx="3340100" cy="6985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ctr" indent="0">
              <a:lnSpc>
                <a:spcPct val="100000"/>
              </a:lnSpc>
              <a:defRPr/>
            </a:pPr>
            <a:r>
              <a:rPr lang="en-US" b="true" i="false" strike="noStrike" u="none" sz="1200">
                <a:solidFill>
                  <a:srgbClr val="16253F"/>
                </a:solidFill>
                <a:latin typeface="Noto Sans SC"/>
                <a:ea typeface="Noto Sans SC"/>
                <a:cs typeface="Noto Sans SC"/>
                <a:sym typeface="Noto Sans SC"/>
              </a:rPr>
              <a:t>Data Quality</a:t>
            </a:r>
            <a:r>
              <a:rPr lang="en-US" b="false" i="false" strike="noStrike" u="none" sz="12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697386"/>
                </a:solidFill>
                <a:latin typeface="Noto Sans SC"/>
                <a:ea typeface="Noto Sans SC"/>
                <a:cs typeface="Noto Sans SC"/>
                <a:sym typeface="Noto Sans SC"/>
              </a:rPr>
              <a:t>Requires Strict Normalization &amp; Centering</a:t>
            </a:r>
          </a:p>
        </p:txBody>
      </p:sp>
      <p:sp>
        <p:nvSpPr>
          <p:cNvPr name="AutoShape 29" id="29"/>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SDSC8007 • MINI PROJECT</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3. Baseline Model</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Baseline: Linear Regression on Raw Pixels</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START SIMPLE</a:t>
            </a:r>
            <a:endParaRPr lang="en-US" sz="1100"/>
          </a:p>
        </p:txBody>
      </p:sp>
      <p:sp>
        <p:nvSpPr>
          <p:cNvPr name="AutoShape 11" id="11"/>
          <p:cNvSpPr/>
          <p:nvPr/>
        </p:nvSpPr>
        <p:spPr>
          <a:xfrm rot="0" flipH="false" flipV="false">
            <a:off x="698500" y="1257300"/>
            <a:ext cx="6400800" cy="4559300"/>
          </a:xfrm>
          <a:prstGeom prst="roundRect">
            <a:avLst>
              <a:gd name="adj" fmla="val 167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1498600"/>
            <a:ext cx="9652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BASELINE PIPELINE</a:t>
            </a:r>
            <a:endParaRPr lang="en-US" sz="1100"/>
          </a:p>
        </p:txBody>
      </p:sp>
      <p:sp>
        <p:nvSpPr>
          <p:cNvPr name="AutoShape 13" id="13"/>
          <p:cNvSpPr/>
          <p:nvPr/>
        </p:nvSpPr>
        <p:spPr>
          <a:xfrm rot="0" flipH="false" flipV="false">
            <a:off x="914400" y="1752600"/>
            <a:ext cx="5842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97386"/>
                </a:solidFill>
                <a:latin typeface="Aptos"/>
                <a:ea typeface="Aptos"/>
                <a:cs typeface="Aptos"/>
                <a:sym typeface="Aptos"/>
              </a:rPr>
              <a:t>A straightforward pipeline to establish a performance benchmark.</a:t>
            </a:r>
            <a:endParaRPr lang="en-US" sz="1100"/>
          </a:p>
        </p:txBody>
      </p:sp>
      <p:sp>
        <p:nvSpPr>
          <p:cNvPr name="AutoShape 14" id="14"/>
          <p:cNvSpPr/>
          <p:nvPr/>
        </p:nvSpPr>
        <p:spPr>
          <a:xfrm rot="0" flipH="false" flipV="false">
            <a:off x="965200" y="2743200"/>
            <a:ext cx="1320800" cy="990600"/>
          </a:xfrm>
          <a:prstGeom prst="roundRect">
            <a:avLst>
              <a:gd name="adj" fmla="val 5128"/>
            </a:avLst>
          </a:prstGeom>
          <a:solidFill>
            <a:srgbClr val="FFFFFF">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28700" y="2921000"/>
            <a:ext cx="11811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Preprocess</a:t>
            </a:r>
            <a:endParaRPr lang="en-US" sz="1100"/>
          </a:p>
        </p:txBody>
      </p:sp>
      <p:sp>
        <p:nvSpPr>
          <p:cNvPr name="AutoShape 16" id="16"/>
          <p:cNvSpPr/>
          <p:nvPr/>
        </p:nvSpPr>
        <p:spPr>
          <a:xfrm rot="0" flipH="false" flipV="false">
            <a:off x="1028700" y="3225800"/>
            <a:ext cx="1181100" cy="431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91666"/>
              </a:lnSpc>
              <a:defRPr/>
            </a:pPr>
            <a:r>
              <a:rPr lang="en-US" b="false" i="false" strike="noStrike" u="none" sz="900">
                <a:solidFill>
                  <a:srgbClr val="525C69"/>
                </a:solidFill>
                <a:latin typeface="Aptos"/>
                <a:ea typeface="Aptos"/>
                <a:cs typeface="Aptos"/>
                <a:sym typeface="Aptos"/>
              </a:rPr>
              <a:t>Normalize pixel values to [0, 1] range</a:t>
            </a:r>
            <a:endParaRPr lang="en-US" sz="1100"/>
          </a:p>
        </p:txBody>
      </p:sp>
      <p:cxnSp>
        <p:nvCxnSpPr>
          <p:cNvPr name="Connector 17" id="17"/>
          <p:cNvCxnSpPr/>
          <p:nvPr/>
        </p:nvCxnSpPr>
        <p:spPr>
          <a:xfrm rot="213" flipH="false" flipV="false">
            <a:off x="2286000" y="3238508"/>
            <a:ext cx="25431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triangle" w="med" len="med"/>
          </a:ln>
        </p:spPr>
      </p:cxnSp>
      <p:sp>
        <p:nvSpPr>
          <p:cNvPr name="AutoShape 18" id="18"/>
          <p:cNvSpPr/>
          <p:nvPr/>
        </p:nvSpPr>
        <p:spPr>
          <a:xfrm rot="0" flipH="false" flipV="false">
            <a:off x="2425700" y="2743200"/>
            <a:ext cx="1320800" cy="990600"/>
          </a:xfrm>
          <a:prstGeom prst="roundRect">
            <a:avLst>
              <a:gd name="adj" fmla="val 5128"/>
            </a:avLst>
          </a:prstGeom>
          <a:solidFill>
            <a:srgbClr val="FFFFFF">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2501900" y="2921000"/>
            <a:ext cx="11811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Input Features</a:t>
            </a:r>
            <a:endParaRPr lang="en-US" sz="1100"/>
          </a:p>
        </p:txBody>
      </p:sp>
      <p:sp>
        <p:nvSpPr>
          <p:cNvPr name="AutoShape 20" id="20"/>
          <p:cNvSpPr/>
          <p:nvPr/>
        </p:nvSpPr>
        <p:spPr>
          <a:xfrm rot="0" flipH="false" flipV="false">
            <a:off x="2501900" y="3225800"/>
            <a:ext cx="1181100" cy="431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91666"/>
              </a:lnSpc>
              <a:defRPr/>
            </a:pPr>
            <a:r>
              <a:rPr lang="en-US" b="false" i="false" strike="noStrike" u="none" sz="900">
                <a:solidFill>
                  <a:srgbClr val="525C69"/>
                </a:solidFill>
                <a:latin typeface="Aptos"/>
                <a:ea typeface="Aptos"/>
                <a:cs typeface="Aptos"/>
                <a:sym typeface="Aptos"/>
              </a:rPr>
              <a:t>Raw flattened vector</a:t>
            </a:r>
            <a:r>
              <a:rPr lang="en-US" b="false" i="false" strike="noStrike" u="none" sz="900">
                <a:solidFill>
                  <a:srgbClr val="525C69"/>
                </a:solidFill>
                <a:latin typeface="Aptos"/>
                <a:ea typeface="Aptos"/>
                <a:cs typeface="Aptos"/>
                <a:sym typeface="Aptos"/>
              </a:rPr>
              <a:t/>
            </a:r>
            <a:br>
              <a:rPr lang="en-US" b="false" i="false" strike="noStrike" u="none" sz="900">
                <a:solidFill>
                  <a:srgbClr val="525C69"/>
                </a:solidFill>
                <a:latin typeface="Aptos"/>
                <a:ea typeface="Aptos"/>
                <a:cs typeface="Aptos"/>
                <a:sym typeface="Aptos"/>
              </a:rPr>
            </a:br>
            <a:r>
              <a:rPr lang="en-US" b="false" i="false" strike="noStrike" u="none" sz="900">
                <a:solidFill>
                  <a:srgbClr val="525C69"/>
                </a:solidFill>
                <a:latin typeface="Aptos"/>
                <a:ea typeface="Aptos"/>
                <a:cs typeface="Aptos"/>
                <a:sym typeface="Aptos"/>
              </a:rPr>
              <a:t>(9216 features)</a:t>
            </a:r>
            <a:endParaRPr lang="en-US" sz="1100"/>
          </a:p>
        </p:txBody>
      </p:sp>
      <p:cxnSp>
        <p:nvCxnSpPr>
          <p:cNvPr name="Connector 21" id="21"/>
          <p:cNvCxnSpPr/>
          <p:nvPr/>
        </p:nvCxnSpPr>
        <p:spPr>
          <a:xfrm rot="213" flipH="false" flipV="false">
            <a:off x="3746500" y="3238508"/>
            <a:ext cx="25431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triangle" w="med" len="med"/>
          </a:ln>
        </p:spPr>
      </p:cxnSp>
      <p:sp>
        <p:nvSpPr>
          <p:cNvPr name="AutoShape 22" id="22"/>
          <p:cNvSpPr/>
          <p:nvPr/>
        </p:nvSpPr>
        <p:spPr>
          <a:xfrm rot="0" flipH="false" flipV="false">
            <a:off x="4165600" y="2743200"/>
            <a:ext cx="1320800" cy="990600"/>
          </a:xfrm>
          <a:prstGeom prst="roundRect">
            <a:avLst>
              <a:gd name="adj" fmla="val 5128"/>
            </a:avLst>
          </a:prstGeom>
          <a:solidFill>
            <a:srgbClr val="EAF0F7">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4229100" y="2921000"/>
            <a:ext cx="11811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Model Type</a:t>
            </a:r>
            <a:endParaRPr lang="en-US" sz="1100"/>
          </a:p>
        </p:txBody>
      </p:sp>
      <p:sp>
        <p:nvSpPr>
          <p:cNvPr name="AutoShape 24" id="24"/>
          <p:cNvSpPr/>
          <p:nvPr/>
        </p:nvSpPr>
        <p:spPr>
          <a:xfrm rot="0" flipH="false" flipV="false">
            <a:off x="4229100" y="3225800"/>
            <a:ext cx="1181100" cy="431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91666"/>
              </a:lnSpc>
              <a:defRPr/>
            </a:pPr>
            <a:r>
              <a:rPr lang="en-US" b="false" i="false" strike="noStrike" u="none" sz="900">
                <a:solidFill>
                  <a:srgbClr val="525C69"/>
                </a:solidFill>
                <a:latin typeface="Aptos"/>
                <a:ea typeface="Aptos"/>
                <a:cs typeface="Aptos"/>
                <a:sym typeface="Aptos"/>
              </a:rPr>
              <a:t>Linear Regression</a:t>
            </a:r>
            <a:r>
              <a:rPr lang="en-US" b="false" i="false" strike="noStrike" u="none" sz="900">
                <a:solidFill>
                  <a:srgbClr val="525C69"/>
                </a:solidFill>
                <a:latin typeface="Aptos"/>
                <a:ea typeface="Aptos"/>
                <a:cs typeface="Aptos"/>
                <a:sym typeface="Aptos"/>
              </a:rPr>
              <a:t/>
            </a:r>
            <a:br>
              <a:rPr lang="en-US" b="false" i="false" strike="noStrike" u="none" sz="900">
                <a:solidFill>
                  <a:srgbClr val="525C69"/>
                </a:solidFill>
                <a:latin typeface="Aptos"/>
                <a:ea typeface="Aptos"/>
                <a:cs typeface="Aptos"/>
                <a:sym typeface="Aptos"/>
              </a:rPr>
            </a:br>
            <a:r>
              <a:rPr lang="en-US" b="false" i="false" strike="noStrike" u="none" sz="900">
                <a:solidFill>
                  <a:srgbClr val="525C69"/>
                </a:solidFill>
                <a:latin typeface="Aptos"/>
                <a:ea typeface="Aptos"/>
                <a:cs typeface="Aptos"/>
                <a:sym typeface="Aptos"/>
              </a:rPr>
              <a:t>(Simple &amp; Interpretable)</a:t>
            </a:r>
            <a:endParaRPr lang="en-US" sz="1100"/>
          </a:p>
        </p:txBody>
      </p:sp>
      <p:cxnSp>
        <p:nvCxnSpPr>
          <p:cNvPr name="Connector 25" id="25"/>
          <p:cNvCxnSpPr/>
          <p:nvPr/>
        </p:nvCxnSpPr>
        <p:spPr>
          <a:xfrm rot="213" flipH="false" flipV="false">
            <a:off x="5486400" y="3238508"/>
            <a:ext cx="25431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triangle" w="med" len="med"/>
          </a:ln>
        </p:spPr>
      </p:cxnSp>
      <p:sp>
        <p:nvSpPr>
          <p:cNvPr name="AutoShape 26" id="26"/>
          <p:cNvSpPr/>
          <p:nvPr/>
        </p:nvSpPr>
        <p:spPr>
          <a:xfrm rot="0" flipH="false" flipV="false">
            <a:off x="5575300" y="2743200"/>
            <a:ext cx="1079500" cy="990600"/>
          </a:xfrm>
          <a:prstGeom prst="roundRect">
            <a:avLst>
              <a:gd name="adj" fmla="val 5128"/>
            </a:avLst>
          </a:prstGeom>
          <a:solidFill>
            <a:srgbClr val="FFFFFF">
              <a:alpha val="100000"/>
            </a:srgbClr>
          </a:solidFill>
          <a:ln w="12700" cmpd="sng" cap="flat">
            <a:solidFill>
              <a:srgbClr val="16253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5651500" y="2921000"/>
            <a:ext cx="9271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100">
                <a:solidFill>
                  <a:srgbClr val="16253F"/>
                </a:solidFill>
                <a:latin typeface="Aptos"/>
                <a:ea typeface="Aptos"/>
                <a:cs typeface="Aptos"/>
                <a:sym typeface="Aptos"/>
              </a:rPr>
              <a:t>Loss &amp; Train</a:t>
            </a:r>
            <a:endParaRPr lang="en-US" sz="1100"/>
          </a:p>
        </p:txBody>
      </p:sp>
      <p:sp>
        <p:nvSpPr>
          <p:cNvPr name="AutoShape 28" id="28"/>
          <p:cNvSpPr/>
          <p:nvPr/>
        </p:nvSpPr>
        <p:spPr>
          <a:xfrm rot="0" flipH="false" flipV="false">
            <a:off x="5651500" y="3225800"/>
            <a:ext cx="927100" cy="431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91666"/>
              </a:lnSpc>
              <a:defRPr/>
            </a:pPr>
            <a:r>
              <a:rPr lang="en-US" b="false" i="false" strike="noStrike" u="none" sz="900">
                <a:solidFill>
                  <a:srgbClr val="525C69"/>
                </a:solidFill>
                <a:latin typeface="Aptos"/>
                <a:ea typeface="Aptos"/>
                <a:cs typeface="Aptos"/>
                <a:sym typeface="Aptos"/>
              </a:rPr>
              <a:t>MSE Loss</a:t>
            </a:r>
            <a:r>
              <a:rPr lang="en-US" b="false" i="false" strike="noStrike" u="none" sz="900">
                <a:solidFill>
                  <a:srgbClr val="525C69"/>
                </a:solidFill>
                <a:latin typeface="Aptos"/>
                <a:ea typeface="Aptos"/>
                <a:cs typeface="Aptos"/>
                <a:sym typeface="Aptos"/>
              </a:rPr>
              <a:t/>
            </a:r>
            <a:br>
              <a:rPr lang="en-US" b="false" i="false" strike="noStrike" u="none" sz="900">
                <a:solidFill>
                  <a:srgbClr val="525C69"/>
                </a:solidFill>
                <a:latin typeface="Aptos"/>
                <a:ea typeface="Aptos"/>
                <a:cs typeface="Aptos"/>
                <a:sym typeface="Aptos"/>
              </a:rPr>
            </a:br>
            <a:r>
              <a:rPr lang="en-US" b="false" i="false" strike="noStrike" u="none" sz="900">
                <a:solidFill>
                  <a:srgbClr val="525C69"/>
                </a:solidFill>
                <a:latin typeface="Aptos"/>
                <a:ea typeface="Aptos"/>
                <a:cs typeface="Aptos"/>
                <a:sym typeface="Aptos"/>
              </a:rPr>
              <a:t>(Standard Solver)</a:t>
            </a:r>
            <a:endParaRPr lang="en-US" sz="1100"/>
          </a:p>
        </p:txBody>
      </p:sp>
      <p:sp>
        <p:nvSpPr>
          <p:cNvPr name="AutoShape 29" id="29"/>
          <p:cNvSpPr/>
          <p:nvPr/>
        </p:nvSpPr>
        <p:spPr>
          <a:xfrm rot="0" flipH="false" flipV="false">
            <a:off x="965200" y="4229100"/>
            <a:ext cx="2794000" cy="1079500"/>
          </a:xfrm>
          <a:prstGeom prst="roundRect">
            <a:avLst>
              <a:gd name="adj" fmla="val 7058"/>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1130300" y="4419600"/>
            <a:ext cx="8636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MODEL SUMMARY</a:t>
            </a:r>
            <a:endParaRPr lang="en-US" sz="1100"/>
          </a:p>
        </p:txBody>
      </p:sp>
      <p:sp>
        <p:nvSpPr>
          <p:cNvPr name="AutoShape 31" id="31"/>
          <p:cNvSpPr/>
          <p:nvPr/>
        </p:nvSpPr>
        <p:spPr>
          <a:xfrm rot="0" flipH="false" flipV="false">
            <a:off x="1130300" y="4699000"/>
            <a:ext cx="241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525C69"/>
                </a:solidFill>
                <a:latin typeface="Aptos"/>
                <a:ea typeface="Aptos"/>
                <a:cs typeface="Aptos"/>
                <a:sym typeface="Aptos"/>
              </a:rPr>
              <a:t>Minimal feature engineering. Focus is on model simplicity to set a benchmark.</a:t>
            </a:r>
            <a:endParaRPr lang="en-US" sz="1100"/>
          </a:p>
        </p:txBody>
      </p:sp>
      <p:sp>
        <p:nvSpPr>
          <p:cNvPr name="AutoShape 32" id="32"/>
          <p:cNvSpPr/>
          <p:nvPr/>
        </p:nvSpPr>
        <p:spPr>
          <a:xfrm rot="0" flipH="false" flipV="false">
            <a:off x="3975100" y="4229100"/>
            <a:ext cx="2794000" cy="1079500"/>
          </a:xfrm>
          <a:prstGeom prst="roundRect">
            <a:avLst>
              <a:gd name="adj" fmla="val 7058"/>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4152900" y="4419600"/>
            <a:ext cx="8636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LEADERBOARD SCORE</a:t>
            </a:r>
            <a:endParaRPr lang="en-US" sz="1100"/>
          </a:p>
        </p:txBody>
      </p:sp>
      <p:sp>
        <p:nvSpPr>
          <p:cNvPr name="AutoShape 34" id="34"/>
          <p:cNvSpPr/>
          <p:nvPr/>
        </p:nvSpPr>
        <p:spPr>
          <a:xfrm rot="0" flipH="false" flipV="false">
            <a:off x="4152900" y="4699000"/>
            <a:ext cx="241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16253F"/>
                </a:solidFill>
                <a:latin typeface="Aptos"/>
                <a:ea typeface="Aptos"/>
                <a:cs typeface="Aptos"/>
                <a:sym typeface="Aptos"/>
              </a:rPr>
              <a:t>3.81958</a:t>
            </a:r>
            <a:r>
              <a:rPr lang="en-US" b="false" i="false" strike="noStrike" u="none" sz="900">
                <a:solidFill>
                  <a:srgbClr val="525C69"/>
                </a:solidFill>
                <a:latin typeface="Aptos"/>
                <a:ea typeface="Aptos"/>
                <a:cs typeface="Aptos"/>
                <a:sym typeface="Aptos"/>
              </a:rPr>
              <a:t>(Public). A benchmark for improvement.</a:t>
            </a:r>
            <a:endParaRPr lang="en-US" sz="1100"/>
          </a:p>
        </p:txBody>
      </p:sp>
      <p:sp>
        <p:nvSpPr>
          <p:cNvPr name="AutoShape 35" id="35"/>
          <p:cNvSpPr/>
          <p:nvPr/>
        </p:nvSpPr>
        <p:spPr>
          <a:xfrm rot="0" flipH="false" flipV="false">
            <a:off x="7353300" y="1257300"/>
            <a:ext cx="3911600" cy="1879600"/>
          </a:xfrm>
          <a:prstGeom prst="roundRect">
            <a:avLst>
              <a:gd name="adj" fmla="val 4054"/>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7594600" y="1498600"/>
            <a:ext cx="10541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WHY THIS BASELINE?</a:t>
            </a:r>
            <a:endParaRPr lang="en-US" sz="1100"/>
          </a:p>
        </p:txBody>
      </p:sp>
      <p:sp>
        <p:nvSpPr>
          <p:cNvPr name="AutoShape 37" id="37"/>
          <p:cNvSpPr/>
          <p:nvPr/>
        </p:nvSpPr>
        <p:spPr>
          <a:xfrm rot="0" flipH="false" flipV="false">
            <a:off x="7594600" y="1841500"/>
            <a:ext cx="3429000" cy="1143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04A58"/>
                </a:solidFill>
                <a:latin typeface="Aptos"/>
                <a:ea typeface="Aptos"/>
                <a:cs typeface="Aptos"/>
                <a:sym typeface="Aptos"/>
              </a:rPr>
              <a:t>Linear regression provides a</a:t>
            </a:r>
            <a:r>
              <a:rPr lang="en-US" b="true" i="false" strike="noStrike" u="none" sz="1100">
                <a:solidFill>
                  <a:srgbClr val="404A58"/>
                </a:solidFill>
                <a:latin typeface="Aptos"/>
                <a:ea typeface="Aptos"/>
                <a:cs typeface="Aptos"/>
                <a:sym typeface="Aptos"/>
              </a:rPr>
              <a:t>simple, interpretable, and fast</a:t>
            </a:r>
            <a:r>
              <a:rPr lang="en-US" b="false" i="false" strike="noStrike" u="none" sz="1100">
                <a:solidFill>
                  <a:srgbClr val="404A58"/>
                </a:solidFill>
                <a:latin typeface="Aptos"/>
                <a:ea typeface="Aptos"/>
                <a:cs typeface="Aptos"/>
                <a:sym typeface="Aptos"/>
              </a:rPr>
              <a:t>starting point. It establishes a lower bound for performance with minimal assumptions about the data, making it easy to measure the value added by more complex models.</a:t>
            </a:r>
            <a:endParaRPr lang="en-US" sz="1100"/>
          </a:p>
        </p:txBody>
      </p:sp>
      <p:sp>
        <p:nvSpPr>
          <p:cNvPr name="AutoShape 38" id="38"/>
          <p:cNvSpPr/>
          <p:nvPr/>
        </p:nvSpPr>
        <p:spPr>
          <a:xfrm rot="0" flipH="false" flipV="false">
            <a:off x="7353300" y="3403600"/>
            <a:ext cx="3911600" cy="2413000"/>
          </a:xfrm>
          <a:prstGeom prst="roundRect">
            <a:avLst>
              <a:gd name="adj" fmla="val 3157"/>
            </a:avLst>
          </a:prstGeom>
          <a:solidFill>
            <a:srgbClr val="F2F5F9">
              <a:alpha val="100000"/>
            </a:srgbClr>
          </a:solidFill>
          <a:ln w="12700" cmpd="sng" cap="flat">
            <a:solidFill>
              <a:srgbClr val="B8BDC7">
                <a:alpha val="100000"/>
              </a:srgbClr>
            </a:solidFill>
            <a:prstDash val="dash"/>
            <a:miter lim="10000000"/>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7518400" y="3568700"/>
            <a:ext cx="35814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16253F"/>
                </a:solidFill>
                <a:latin typeface="Aptos"/>
                <a:ea typeface="Aptos"/>
                <a:cs typeface="Aptos"/>
                <a:sym typeface="Aptos"/>
              </a:rPr>
              <a:t>Interpretation</a:t>
            </a:r>
            <a:endParaRPr lang="en-US" sz="1100"/>
          </a:p>
        </p:txBody>
      </p:sp>
      <p:sp>
        <p:nvSpPr>
          <p:cNvPr name="AutoShape 40" id="40"/>
          <p:cNvSpPr/>
          <p:nvPr/>
        </p:nvSpPr>
        <p:spPr>
          <a:xfrm rot="0" flipH="false" flipV="false">
            <a:off x="7518400" y="3937000"/>
            <a:ext cx="3581400" cy="1651000"/>
          </a:xfrm>
          <a:prstGeom prst="roundRect">
            <a:avLst>
              <a:gd name="adj" fmla="val 0"/>
            </a:avLst>
          </a:prstGeom>
          <a:noFill/>
          <a:ln w="254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100">
                <a:solidFill>
                  <a:srgbClr val="525C69"/>
                </a:solidFill>
                <a:latin typeface="Aptos"/>
                <a:ea typeface="Aptos"/>
                <a:cs typeface="Aptos"/>
                <a:sym typeface="Aptos"/>
              </a:rPr>
              <a:t>The baseline score indicates the difficulty of the task. Any subsequent model must achieve a significantly lower MSE to demonstrate effectiveness. The linear model serves as a sanity check to ensure data loading and pipeline are correct.</a:t>
            </a:r>
            <a:endParaRPr lang="en-US" sz="1100"/>
          </a:p>
        </p:txBody>
      </p:sp>
      <p:sp>
        <p:nvSpPr>
          <p:cNvPr name="AutoShape 41" id="41"/>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03</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FINAL PRESENTATION</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4. Model Improvements</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Model Improvements</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SHOW REASONING</a:t>
            </a:r>
            <a:endParaRPr lang="en-US" sz="1100"/>
          </a:p>
        </p:txBody>
      </p:sp>
      <p:sp>
        <p:nvSpPr>
          <p:cNvPr name="AutoShape 11" id="11"/>
          <p:cNvSpPr/>
          <p:nvPr/>
        </p:nvSpPr>
        <p:spPr>
          <a:xfrm rot="0" flipH="false" flipV="false">
            <a:off x="698500" y="1295400"/>
            <a:ext cx="2743200" cy="4406900"/>
          </a:xfrm>
          <a:prstGeom prst="roundRect">
            <a:avLst>
              <a:gd name="adj" fmla="val 2777"/>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98500" y="1295400"/>
            <a:ext cx="2743200" cy="4699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63600" y="1397000"/>
            <a:ext cx="2413000" cy="317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300">
                <a:solidFill>
                  <a:srgbClr val="FFFFFF"/>
                </a:solidFill>
                <a:latin typeface="Aptos"/>
                <a:ea typeface="Aptos"/>
                <a:cs typeface="Aptos"/>
                <a:sym typeface="Aptos"/>
              </a:rPr>
              <a:t>A: Non-Linear (Random Forest)</a:t>
            </a:r>
            <a:endParaRPr lang="en-US" sz="1100"/>
          </a:p>
        </p:txBody>
      </p:sp>
      <p:sp>
        <p:nvSpPr>
          <p:cNvPr name="AutoShape 14" id="14"/>
          <p:cNvSpPr/>
          <p:nvPr/>
        </p:nvSpPr>
        <p:spPr>
          <a:xfrm rot="0" flipH="false" flipV="false">
            <a:off x="901700" y="1968500"/>
            <a:ext cx="762000" cy="190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HYPOTHESIS</a:t>
            </a:r>
            <a:endParaRPr lang="en-US" sz="1100"/>
          </a:p>
        </p:txBody>
      </p:sp>
      <p:sp>
        <p:nvSpPr>
          <p:cNvPr name="AutoShape 15" id="15"/>
          <p:cNvSpPr/>
          <p:nvPr/>
        </p:nvSpPr>
        <p:spPr>
          <a:xfrm rot="0" flipH="false" flipV="false">
            <a:off x="901700" y="2209800"/>
            <a:ext cx="2336800" cy="571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false" i="false" strike="noStrike" u="none" sz="1100">
                <a:solidFill>
                  <a:srgbClr val="3C3C3C"/>
                </a:solidFill>
                <a:latin typeface="Aptos"/>
                <a:ea typeface="Aptos"/>
                <a:cs typeface="Aptos"/>
                <a:sym typeface="Aptos"/>
              </a:rPr>
              <a:t>Pixel/keypoint relationships are non-linear, which linear models cannot capture.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PROJECT RESULTS &amp; ANALYSIS</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5. Final Results</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Facial Landmark Detection Challenge</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PERFORMANCE REVIEW</a:t>
            </a:r>
            <a:endParaRPr lang="en-US" sz="1100"/>
          </a:p>
        </p:txBody>
      </p:sp>
      <p:sp>
        <p:nvSpPr>
          <p:cNvPr name="AutoShape 11" id="11"/>
          <p:cNvSpPr/>
          <p:nvPr/>
        </p:nvSpPr>
        <p:spPr>
          <a:xfrm rot="0" flipH="false" flipV="false">
            <a:off x="698500" y="1244600"/>
            <a:ext cx="2755900" cy="1993900"/>
          </a:xfrm>
          <a:prstGeom prst="roundRect">
            <a:avLst>
              <a:gd name="adj" fmla="val 382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1422400"/>
            <a:ext cx="1270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B4343A"/>
                </a:solidFill>
                <a:latin typeface="Aptos"/>
                <a:ea typeface="Aptos"/>
                <a:cs typeface="Aptos"/>
                <a:sym typeface="Aptos"/>
              </a:rPr>
              <a:t>FINAL SCORE</a:t>
            </a:r>
            <a:endParaRPr lang="en-US" sz="1100"/>
          </a:p>
        </p:txBody>
      </p:sp>
      <p:sp>
        <p:nvSpPr>
          <p:cNvPr name="AutoShape 13" id="13"/>
          <p:cNvSpPr/>
          <p:nvPr/>
        </p:nvSpPr>
        <p:spPr>
          <a:xfrm rot="0" flipH="false" flipV="false">
            <a:off x="914400" y="1778000"/>
            <a:ext cx="2286000" cy="571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2800">
                <a:solidFill>
                  <a:srgbClr val="16253F"/>
                </a:solidFill>
                <a:latin typeface="Play"/>
                <a:ea typeface="Play"/>
                <a:cs typeface="Play"/>
                <a:sym typeface="Play"/>
              </a:rPr>
              <a:t>3.59529</a:t>
            </a:r>
            <a:endParaRPr lang="en-US" sz="1100"/>
          </a:p>
        </p:txBody>
      </p:sp>
      <p:sp>
        <p:nvSpPr>
          <p:cNvPr name="AutoShape 14" id="14"/>
          <p:cNvSpPr/>
          <p:nvPr/>
        </p:nvSpPr>
        <p:spPr>
          <a:xfrm rot="0" flipH="false" flipV="false">
            <a:off x="914400" y="2413000"/>
            <a:ext cx="2286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97386"/>
                </a:solidFill>
                <a:latin typeface="Aptos"/>
                <a:ea typeface="Aptos"/>
                <a:cs typeface="Aptos"/>
                <a:sym typeface="Aptos"/>
              </a:rPr>
              <a:t>Rank: 85 (out of 200+)</a:t>
            </a:r>
            <a:r>
              <a:rPr lang="en-US" b="false" i="false" strike="noStrike" u="none" sz="1100">
                <a:solidFill>
                  <a:srgbClr val="697386"/>
                </a:solidFill>
                <a:latin typeface="Aptos"/>
                <a:ea typeface="Aptos"/>
                <a:cs typeface="Aptos"/>
                <a:sym typeface="Aptos"/>
              </a:rPr>
              <a:t/>
            </a:r>
            <a:br>
              <a:rPr lang="en-US" b="false" i="false" strike="noStrike" u="none" sz="1100">
                <a:solidFill>
                  <a:srgbClr val="697386"/>
                </a:solidFill>
                <a:latin typeface="Aptos"/>
                <a:ea typeface="Aptos"/>
                <a:cs typeface="Aptos"/>
                <a:sym typeface="Aptos"/>
              </a:rPr>
            </a:br>
            <a:r>
              <a:rPr lang="en-US" b="false" i="false" strike="noStrike" u="none" sz="1100">
                <a:solidFill>
                  <a:srgbClr val="697386"/>
                </a:solidFill>
                <a:latin typeface="Aptos"/>
                <a:ea typeface="Aptos"/>
                <a:cs typeface="Aptos"/>
                <a:sym typeface="Aptos"/>
              </a:rPr>
              <a:t>Metric: Normalized RMSE</a:t>
            </a:r>
            <a:endParaRPr lang="en-US" sz="1100"/>
          </a:p>
        </p:txBody>
      </p:sp>
      <p:sp>
        <p:nvSpPr>
          <p:cNvPr name="AutoShape 15" id="15"/>
          <p:cNvSpPr/>
          <p:nvPr/>
        </p:nvSpPr>
        <p:spPr>
          <a:xfrm rot="0" flipH="false" flipV="false">
            <a:off x="3670300" y="1244600"/>
            <a:ext cx="3822700" cy="1993900"/>
          </a:xfrm>
          <a:prstGeom prst="roundRect">
            <a:avLst>
              <a:gd name="adj" fmla="val 382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911600" y="1422400"/>
            <a:ext cx="1524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B4343A"/>
                </a:solidFill>
                <a:latin typeface="Aptos"/>
                <a:ea typeface="Aptos"/>
                <a:cs typeface="Aptos"/>
                <a:sym typeface="Aptos"/>
              </a:rPr>
              <a:t>TOP-LEVEL TARGET</a:t>
            </a:r>
            <a:endParaRPr lang="en-US" sz="1100"/>
          </a:p>
        </p:txBody>
      </p:sp>
      <p:sp>
        <p:nvSpPr>
          <p:cNvPr name="AutoShape 17" id="17"/>
          <p:cNvSpPr/>
          <p:nvPr/>
        </p:nvSpPr>
        <p:spPr>
          <a:xfrm rot="0" flipH="false" flipV="false">
            <a:off x="3911600" y="1841500"/>
            <a:ext cx="3365500" cy="1206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C3C3C"/>
                </a:solidFill>
                <a:latin typeface="Aptos"/>
                <a:ea typeface="Aptos"/>
                <a:cs typeface="Aptos"/>
                <a:sym typeface="Aptos"/>
              </a:rPr>
              <a:t>Our goal was a top-50 competitive score. The final score of 3.59529 (Rank 85) represents a solid improvement over the baseline model, but still has clear room for growth compared to the competition leaders (Top 1: 1.28).</a:t>
            </a:r>
            <a:endParaRPr lang="en-US" sz="1100"/>
          </a:p>
        </p:txBody>
      </p:sp>
      <p:sp>
        <p:nvSpPr>
          <p:cNvPr name="AutoShape 18" id="18"/>
          <p:cNvSpPr/>
          <p:nvPr/>
        </p:nvSpPr>
        <p:spPr>
          <a:xfrm rot="0" flipH="false" flipV="false">
            <a:off x="7721600" y="1244600"/>
            <a:ext cx="3543300" cy="1993900"/>
          </a:xfrm>
          <a:prstGeom prst="roundRect">
            <a:avLst>
              <a:gd name="adj" fmla="val 3821"/>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950200" y="1422400"/>
            <a:ext cx="1524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B4343A"/>
                </a:solidFill>
                <a:latin typeface="Aptos"/>
                <a:ea typeface="Aptos"/>
                <a:cs typeface="Aptos"/>
                <a:sym typeface="Aptos"/>
              </a:rPr>
              <a:t>KEY TAKEAWAY</a:t>
            </a:r>
            <a:endParaRPr lang="en-US" sz="1100"/>
          </a:p>
        </p:txBody>
      </p:sp>
      <p:sp>
        <p:nvSpPr>
          <p:cNvPr name="AutoShape 20" id="20"/>
          <p:cNvSpPr/>
          <p:nvPr/>
        </p:nvSpPr>
        <p:spPr>
          <a:xfrm rot="0" flipH="false" flipV="false">
            <a:off x="7950200" y="1841500"/>
            <a:ext cx="3111500" cy="1206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C3C3C"/>
                </a:solidFill>
                <a:latin typeface="Aptos"/>
                <a:ea typeface="Aptos"/>
                <a:cs typeface="Aptos"/>
                <a:sym typeface="Aptos"/>
              </a:rPr>
              <a:t>The most critical finding is that using a</a:t>
            </a:r>
            <a:r>
              <a:rPr lang="en-US" b="true" i="false" strike="noStrike" u="none" sz="1100">
                <a:solidFill>
                  <a:srgbClr val="3C3C3C"/>
                </a:solidFill>
                <a:latin typeface="Aptos"/>
                <a:ea typeface="Aptos"/>
                <a:cs typeface="Aptos"/>
                <a:sym typeface="Aptos"/>
              </a:rPr>
              <a:t>Convolutional Neural Network (CNN)</a:t>
            </a:r>
            <a:r>
              <a:rPr lang="en-US" b="false" i="false" strike="noStrike" u="none" sz="1100">
                <a:solidFill>
                  <a:srgbClr val="3C3C3C"/>
                </a:solidFill>
                <a:latin typeface="Aptos"/>
                <a:ea typeface="Aptos"/>
                <a:cs typeface="Aptos"/>
                <a:sym typeface="Aptos"/>
              </a:rPr>
              <a:t>architecture was the decisive factor for achieving the best performance, validating the power of deep learning for this image-based regression task.</a:t>
            </a:r>
            <a:endParaRPr lang="en-US" sz="1100"/>
          </a:p>
        </p:txBody>
      </p:sp>
      <p:sp>
        <p:nvSpPr>
          <p:cNvPr name="AutoShape 21" id="21"/>
          <p:cNvSpPr/>
          <p:nvPr/>
        </p:nvSpPr>
        <p:spPr>
          <a:xfrm rot="0" flipH="false" flipV="false">
            <a:off x="698500" y="3505200"/>
            <a:ext cx="6654800" cy="2197100"/>
          </a:xfrm>
          <a:prstGeom prst="roundRect">
            <a:avLst>
              <a:gd name="adj" fmla="val 3468"/>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63600" y="3632200"/>
            <a:ext cx="63246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6253F"/>
                </a:solidFill>
                <a:latin typeface="Aptos"/>
                <a:ea typeface="Aptos"/>
                <a:cs typeface="Aptos"/>
                <a:sym typeface="Aptos"/>
              </a:rPr>
              <a:t>COMPETITION RANKING &amp; COMPARISON</a:t>
            </a:r>
            <a:endParaRPr lang="en-US" sz="1100"/>
          </a:p>
        </p:txBody>
      </p:sp>
      <p:pic>
        <p:nvPicPr>
          <p:cNvPr name="Picture 23" id="23"/>
          <p:cNvPicPr>
            <a:picLocks noChangeAspect="true"/>
          </p:cNvPicPr>
          <p:nvPr/>
        </p:nvPicPr>
        <p:blipFill>
          <a:blip r:embed="rId2"/>
          <a:srcRect l="14891" r="14891" t="0" b="0"/>
          <a:stretch>
            <a:fillRect/>
          </a:stretch>
        </p:blipFill>
        <p:spPr>
          <a:xfrm rot="0" flipH="false" flipV="false">
            <a:off x="863600" y="4127500"/>
            <a:ext cx="2921000" cy="1397000"/>
          </a:xfrm>
          <a:prstGeom prst="rect">
            <a:avLst/>
          </a:prstGeom>
          <a:noFill/>
          <a:ln w="25400" cmpd="sng" cap="flat">
            <a:noFill/>
            <a:prstDash val="solid"/>
            <a:round/>
          </a:ln>
        </p:spPr>
      </p:pic>
      <p:pic>
        <p:nvPicPr>
          <p:cNvPr name="Picture 24" id="24"/>
          <p:cNvPicPr>
            <a:picLocks noChangeAspect="true"/>
          </p:cNvPicPr>
          <p:nvPr/>
        </p:nvPicPr>
        <p:blipFill>
          <a:blip r:embed="rId3"/>
          <a:srcRect l="3188" r="3188" t="0" b="0"/>
          <a:stretch>
            <a:fillRect/>
          </a:stretch>
        </p:blipFill>
        <p:spPr>
          <a:xfrm rot="0" flipH="false" flipV="false">
            <a:off x="3937000" y="4127500"/>
            <a:ext cx="2921000" cy="1397000"/>
          </a:xfrm>
          <a:prstGeom prst="rect">
            <a:avLst/>
          </a:prstGeom>
          <a:noFill/>
          <a:ln w="25400" cmpd="sng" cap="flat">
            <a:noFill/>
            <a:prstDash val="solid"/>
            <a:round/>
          </a:ln>
        </p:spPr>
      </p:pic>
      <p:sp>
        <p:nvSpPr>
          <p:cNvPr name="AutoShape 25" id="25"/>
          <p:cNvSpPr/>
          <p:nvPr/>
        </p:nvSpPr>
        <p:spPr>
          <a:xfrm rot="0" flipH="false" flipV="false">
            <a:off x="7569200" y="3505200"/>
            <a:ext cx="3695700" cy="2197100"/>
          </a:xfrm>
          <a:prstGeom prst="roundRect">
            <a:avLst>
              <a:gd name="adj" fmla="val 3468"/>
            </a:avLst>
          </a:prstGeom>
          <a:solidFill>
            <a:srgbClr val="FFFFFF">
              <a:alpha val="90000"/>
            </a:srgbClr>
          </a:solidFill>
          <a:ln w="12700" cmpd="sng" cap="flat">
            <a:solidFill>
              <a:srgbClr val="B8BDC7">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734300" y="3632200"/>
            <a:ext cx="33655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6253F"/>
                </a:solidFill>
                <a:latin typeface="Aptos"/>
                <a:ea typeface="Aptos"/>
                <a:cs typeface="Aptos"/>
                <a:sym typeface="Aptos"/>
              </a:rPr>
              <a:t>ERROR ANALYSIS</a:t>
            </a:r>
            <a:endParaRPr lang="en-US" sz="1100"/>
          </a:p>
        </p:txBody>
      </p:sp>
      <p:sp>
        <p:nvSpPr>
          <p:cNvPr name="AutoShape 27" id="27"/>
          <p:cNvSpPr/>
          <p:nvPr/>
        </p:nvSpPr>
        <p:spPr>
          <a:xfrm rot="0" flipH="false" flipV="false">
            <a:off x="7734300" y="4127500"/>
            <a:ext cx="3365500" cy="1397000"/>
          </a:xfrm>
          <a:prstGeom prst="roundRect">
            <a:avLst>
              <a:gd name="adj" fmla="val 0"/>
            </a:avLst>
          </a:prstGeom>
          <a:noFill/>
          <a:ln w="25400" cmpd="sng" cap="flat">
            <a:noFill/>
            <a:prstDash val="solid"/>
            <a:round/>
          </a:ln>
        </p:spPr>
        <p:txBody>
          <a:bodyPr anchor="ctr" rtlCol="false" anchorCtr="false" vert="horz" wrap="square" lIns="0" rIns="0" tIns="63500" bIns="63500"/>
          <a:lstStyle/>
          <a:p>
            <a:pPr algn="just" indent="0">
              <a:lnSpc>
                <a:spcPct val="116666"/>
              </a:lnSpc>
              <a:defRPr/>
            </a:pPr>
            <a:r>
              <a:rPr lang="en-US" b="false" i="false" strike="noStrike" u="none" sz="1100">
                <a:solidFill>
                  <a:srgbClr val="3C3C3C"/>
                </a:solidFill>
                <a:latin typeface="Aptos"/>
                <a:ea typeface="Aptos"/>
                <a:cs typeface="Aptos"/>
                <a:sym typeface="Aptos"/>
              </a:rPr>
              <a:t>Our model's largest prediction errors are concentrated in three specific failure cases:</a:t>
            </a:r>
            <a:r>
              <a:rPr lang="en-US" b="false" i="false" strike="noStrike" u="none" sz="1100">
                <a:solidFill>
                  <a:srgbClr val="3C3C3C"/>
                </a:solidFill>
                <a:latin typeface="Aptos"/>
                <a:ea typeface="Aptos"/>
                <a:cs typeface="Aptos"/>
                <a:sym typeface="Aptos"/>
              </a:rPr>
              <a:t/>
            </a:r>
            <a:br>
              <a:rPr lang="en-US" b="false" i="false" strike="noStrike" u="none" sz="1100">
                <a:solidFill>
                  <a:srgbClr val="3C3C3C"/>
                </a:solidFill>
                <a:latin typeface="Aptos"/>
                <a:ea typeface="Aptos"/>
                <a:cs typeface="Aptos"/>
                <a:sym typeface="Aptos"/>
              </a:rPr>
            </a:br>
            <a:r>
              <a:rPr lang="en-US" b="false" i="false" strike="noStrike" u="none" sz="1100">
                <a:solidFill>
                  <a:srgbClr val="3C3C3C"/>
                </a:solidFill>
                <a:latin typeface="Aptos"/>
                <a:ea typeface="Aptos"/>
                <a:cs typeface="Aptos"/>
                <a:sym typeface="Aptos"/>
              </a:rPr>
              <a:t>1. Faces with heavy occlusion (e.g., by hair or hands).</a:t>
            </a:r>
            <a:r>
              <a:rPr lang="en-US" b="false" i="false" strike="noStrike" u="none" sz="1100">
                <a:solidFill>
                  <a:srgbClr val="3C3C3C"/>
                </a:solidFill>
                <a:latin typeface="Aptos"/>
                <a:ea typeface="Aptos"/>
                <a:cs typeface="Aptos"/>
                <a:sym typeface="Aptos"/>
              </a:rPr>
              <a:t/>
            </a:r>
            <a:br>
              <a:rPr lang="en-US" b="false" i="false" strike="noStrike" u="none" sz="1100">
                <a:solidFill>
                  <a:srgbClr val="3C3C3C"/>
                </a:solidFill>
                <a:latin typeface="Aptos"/>
                <a:ea typeface="Aptos"/>
                <a:cs typeface="Aptos"/>
                <a:sym typeface="Aptos"/>
              </a:rPr>
            </a:br>
            <a:r>
              <a:rPr lang="en-US" b="false" i="false" strike="noStrike" u="none" sz="1100">
                <a:solidFill>
                  <a:srgbClr val="3C3C3C"/>
                </a:solidFill>
                <a:latin typeface="Aptos"/>
                <a:ea typeface="Aptos"/>
                <a:cs typeface="Aptos"/>
                <a:sym typeface="Aptos"/>
              </a:rPr>
              <a:t>2. Extreme head poses (profile or tilted angles).</a:t>
            </a:r>
            <a:r>
              <a:rPr lang="en-US" b="false" i="false" strike="noStrike" u="none" sz="1100">
                <a:solidFill>
                  <a:srgbClr val="3C3C3C"/>
                </a:solidFill>
                <a:latin typeface="Aptos"/>
                <a:ea typeface="Aptos"/>
                <a:cs typeface="Aptos"/>
                <a:sym typeface="Aptos"/>
              </a:rPr>
              <a:t/>
            </a:r>
            <a:br>
              <a:rPr lang="en-US" b="false" i="false" strike="noStrike" u="none" sz="1100">
                <a:solidFill>
                  <a:srgbClr val="3C3C3C"/>
                </a:solidFill>
                <a:latin typeface="Aptos"/>
                <a:ea typeface="Aptos"/>
                <a:cs typeface="Aptos"/>
                <a:sym typeface="Aptos"/>
              </a:rPr>
            </a:br>
            <a:r>
              <a:rPr lang="en-US" b="false" i="false" strike="noStrike" u="none" sz="1100">
                <a:solidFill>
                  <a:srgbClr val="3C3C3C"/>
                </a:solidFill>
                <a:latin typeface="Aptos"/>
                <a:ea typeface="Aptos"/>
                <a:cs typeface="Aptos"/>
                <a:sym typeface="Aptos"/>
              </a:rPr>
              <a:t>3. Low-resolution input images.</a:t>
            </a:r>
            <a:endParaRPr lang="en-US" sz="1100"/>
          </a:p>
        </p:txBody>
      </p:sp>
      <p:sp>
        <p:nvSpPr>
          <p:cNvPr name="AutoShape 28" id="28"/>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07</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FINAL PRESENTATION TEMPLATE</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6. Discussion &amp; Reflection</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Replace all gray guide text before submission</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EXPLAIN THE MODELING JOURNEY</a:t>
            </a:r>
            <a:endParaRPr lang="en-US" sz="1100"/>
          </a:p>
        </p:txBody>
      </p:sp>
      <p:sp>
        <p:nvSpPr>
          <p:cNvPr name="AutoShape 11" id="11"/>
          <p:cNvSpPr/>
          <p:nvPr/>
        </p:nvSpPr>
        <p:spPr>
          <a:xfrm rot="0" flipH="false" flipV="false">
            <a:off x="698500" y="1257300"/>
            <a:ext cx="3530600" cy="2146300"/>
          </a:xfrm>
          <a:prstGeom prst="roundRect">
            <a:avLst>
              <a:gd name="adj" fmla="val 3550"/>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1473200"/>
            <a:ext cx="1270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WHAT WORKED</a:t>
            </a:r>
            <a:endParaRPr lang="en-US" sz="1100"/>
          </a:p>
        </p:txBody>
      </p:sp>
      <p:sp>
        <p:nvSpPr>
          <p:cNvPr name="AutoShape 13" id="13"/>
          <p:cNvSpPr/>
          <p:nvPr/>
        </p:nvSpPr>
        <p:spPr>
          <a:xfrm rot="0" flipH="false" flipV="false">
            <a:off x="914400" y="1841500"/>
            <a:ext cx="3111500" cy="1397000"/>
          </a:xfrm>
          <a:prstGeom prst="roundRect">
            <a:avLst>
              <a:gd name="adj" fmla="val 0"/>
            </a:avLst>
          </a:prstGeom>
          <a:noFill/>
          <a:ln w="25400" cmpd="sng" cap="flat">
            <a:noFill/>
            <a:prstDash val="solid"/>
            <a:round/>
          </a:ln>
        </p:spPr>
        <p:txBody>
          <a:bodyPr anchor="t" rtlCol="false" anchorCtr="false" vert="horz" wrap="square" lIns="25400" rIns="25400" tIns="25400" bIns="25400"/>
          <a:lstStyle/>
          <a:p>
            <a:pPr algn="l" indent="0">
              <a:lnSpc>
                <a:spcPct val="108333"/>
              </a:lnSpc>
              <a:defRPr/>
            </a:pPr>
            <a:r>
              <a:rPr lang="en-US" b="true" i="false" strike="noStrike" u="none" sz="1100">
                <a:solidFill>
                  <a:srgbClr val="434B58"/>
                </a:solidFill>
                <a:latin typeface="Aptos"/>
                <a:ea typeface="Aptos"/>
                <a:cs typeface="Aptos"/>
                <a:sym typeface="Aptos"/>
              </a:rPr>
              <a:t>Method:</a:t>
            </a:r>
            <a:r>
              <a:rPr lang="en-US" b="false" i="false" strike="noStrike" u="none" sz="1100">
                <a:solidFill>
                  <a:srgbClr val="697386"/>
                </a:solidFill>
                <a:latin typeface="Aptos"/>
                <a:ea typeface="Aptos"/>
                <a:cs typeface="Aptos"/>
                <a:sym typeface="Aptos"/>
              </a:rPr>
              <a:t>Switching to a CNN model, which is inherently suited for image data.</a:t>
            </a:r>
            <a:r>
              <a:rPr lang="en-US" b="false" i="false" strike="noStrike" u="none" sz="1100">
                <a:solidFill>
                  <a:srgbClr val="1F2329"/>
                </a:solidFill>
                <a:latin typeface="Aptos"/>
                <a:ea typeface="Aptos"/>
                <a:cs typeface="Aptos"/>
                <a:sym typeface="Aptos"/>
              </a:rPr>
              <a:t/>
            </a:r>
            <a:endParaRPr lang="en-US" sz="1100"/>
          </a:p>
          <a:p>
            <a:pPr algn="l" indent="0">
              <a:lnSpc>
                <a:spcPct val="108333"/>
              </a:lnSpc>
            </a:pPr>
            <a:r>
              <a:rPr lang="en-US" b="true" i="false" strike="noStrike" u="none" sz="1100">
                <a:solidFill>
                  <a:srgbClr val="434B58"/>
                </a:solidFill>
                <a:latin typeface="Aptos"/>
                <a:ea typeface="Aptos"/>
                <a:cs typeface="Aptos"/>
                <a:sym typeface="Aptos"/>
              </a:rPr>
              <a:t>Why:</a:t>
            </a:r>
            <a:r>
              <a:rPr lang="en-US" b="false" i="false" strike="noStrike" u="none" sz="1100">
                <a:solidFill>
                  <a:srgbClr val="697386"/>
                </a:solidFill>
                <a:latin typeface="Aptos"/>
                <a:ea typeface="Aptos"/>
                <a:cs typeface="Aptos"/>
                <a:sym typeface="Aptos"/>
              </a:rPr>
              <a:t>Its hierarchical feature learning captured spatial patterns missed by simpler models.</a:t>
            </a:r>
            <a:r>
              <a:rPr lang="en-US" b="false" i="false" strike="noStrike" u="none" sz="1100">
                <a:solidFill>
                  <a:srgbClr val="1F2329"/>
                </a:solidFill>
                <a:latin typeface="Aptos"/>
                <a:ea typeface="Aptos"/>
                <a:cs typeface="Aptos"/>
                <a:sym typeface="Aptos"/>
              </a:rPr>
              <a:t/>
            </a:r>
          </a:p>
          <a:p>
            <a:pPr algn="l" indent="0">
              <a:lnSpc>
                <a:spcPct val="108333"/>
              </a:lnSpc>
            </a:pPr>
            <a:r>
              <a:rPr lang="en-US" b="true" i="false" strike="noStrike" u="none" sz="1100">
                <a:solidFill>
                  <a:srgbClr val="434B58"/>
                </a:solidFill>
                <a:latin typeface="Aptos"/>
                <a:ea typeface="Aptos"/>
                <a:cs typeface="Aptos"/>
                <a:sym typeface="Aptos"/>
              </a:rPr>
              <a:t>Evidence:</a:t>
            </a:r>
            <a:r>
              <a:rPr lang="en-US" b="false" i="false" strike="noStrike" u="none" sz="1100">
                <a:solidFill>
                  <a:srgbClr val="697386"/>
                </a:solidFill>
                <a:latin typeface="Aptos"/>
                <a:ea typeface="Aptos"/>
                <a:cs typeface="Aptos"/>
                <a:sym typeface="Aptos"/>
              </a:rPr>
              <a:t>Substantial gain in validation and final leaderboard score.</a:t>
            </a:r>
          </a:p>
        </p:txBody>
      </p:sp>
      <p:sp>
        <p:nvSpPr>
          <p:cNvPr name="AutoShape 14" id="14"/>
          <p:cNvSpPr/>
          <p:nvPr/>
        </p:nvSpPr>
        <p:spPr>
          <a:xfrm rot="0" flipH="false" flipV="false">
            <a:off x="4483100" y="1257300"/>
            <a:ext cx="3530600" cy="2146300"/>
          </a:xfrm>
          <a:prstGeom prst="roundRect">
            <a:avLst>
              <a:gd name="adj" fmla="val 3550"/>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99000" y="1473200"/>
            <a:ext cx="1778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WHAT DID NOT WORK</a:t>
            </a:r>
            <a:endParaRPr lang="en-US" sz="1100"/>
          </a:p>
        </p:txBody>
      </p:sp>
      <p:sp>
        <p:nvSpPr>
          <p:cNvPr name="AutoShape 16" id="16"/>
          <p:cNvSpPr/>
          <p:nvPr/>
        </p:nvSpPr>
        <p:spPr>
          <a:xfrm rot="0" flipH="false" flipV="false">
            <a:off x="4699000" y="1841500"/>
            <a:ext cx="3111500" cy="1397000"/>
          </a:xfrm>
          <a:prstGeom prst="roundRect">
            <a:avLst>
              <a:gd name="adj" fmla="val 0"/>
            </a:avLst>
          </a:prstGeom>
          <a:noFill/>
          <a:ln w="25400" cmpd="sng" cap="flat">
            <a:noFill/>
            <a:prstDash val="solid"/>
            <a:round/>
          </a:ln>
        </p:spPr>
        <p:txBody>
          <a:bodyPr anchor="t" rtlCol="false" anchorCtr="false" vert="horz" wrap="square" lIns="25400" rIns="25400" tIns="25400" bIns="25400"/>
          <a:lstStyle/>
          <a:p>
            <a:pPr algn="l" indent="0">
              <a:lnSpc>
                <a:spcPct val="108333"/>
              </a:lnSpc>
              <a:defRPr/>
            </a:pPr>
            <a:r>
              <a:rPr lang="en-US" b="true" i="false" strike="noStrike" u="none" sz="1100">
                <a:solidFill>
                  <a:srgbClr val="434B58"/>
                </a:solidFill>
                <a:latin typeface="Aptos"/>
                <a:ea typeface="Aptos"/>
                <a:cs typeface="Aptos"/>
                <a:sym typeface="Aptos"/>
              </a:rPr>
              <a:t>Failed Attempt:</a:t>
            </a:r>
            <a:r>
              <a:rPr lang="en-US" b="false" i="false" strike="noStrike" u="none" sz="1100">
                <a:solidFill>
                  <a:srgbClr val="697386"/>
                </a:solidFill>
                <a:latin typeface="Aptos"/>
                <a:ea typeface="Aptos"/>
                <a:cs typeface="Aptos"/>
                <a:sym typeface="Aptos"/>
              </a:rPr>
              <a:t>Simple data augmentation (e.g., flipping) yielded no significant improvement.</a:t>
            </a:r>
            <a:r>
              <a:rPr lang="en-US" b="false" i="false" strike="noStrike" u="none" sz="1100">
                <a:solidFill>
                  <a:srgbClr val="1F2329"/>
                </a:solidFill>
                <a:latin typeface="Aptos"/>
                <a:ea typeface="Aptos"/>
                <a:cs typeface="Aptos"/>
                <a:sym typeface="Aptos"/>
              </a:rPr>
              <a:t/>
            </a:r>
            <a:endParaRPr lang="en-US" sz="1100"/>
          </a:p>
          <a:p>
            <a:pPr algn="l" indent="0">
              <a:lnSpc>
                <a:spcPct val="108333"/>
              </a:lnSpc>
            </a:pPr>
            <a:r>
              <a:rPr lang="en-US" b="true" i="false" strike="noStrike" u="none" sz="1100">
                <a:solidFill>
                  <a:srgbClr val="434B58"/>
                </a:solidFill>
                <a:latin typeface="Aptos"/>
                <a:ea typeface="Aptos"/>
                <a:cs typeface="Aptos"/>
                <a:sym typeface="Aptos"/>
              </a:rPr>
              <a:t>Reason:</a:t>
            </a:r>
            <a:r>
              <a:rPr lang="en-US" b="false" i="false" strike="noStrike" u="none" sz="1100">
                <a:solidFill>
                  <a:srgbClr val="697386"/>
                </a:solidFill>
                <a:latin typeface="Aptos"/>
                <a:ea typeface="Aptos"/>
                <a:cs typeface="Aptos"/>
                <a:sym typeface="Aptos"/>
              </a:rPr>
              <a:t>Augmentation was not extensive enough, or the model was already robust to minor variations.</a:t>
            </a:r>
            <a:r>
              <a:rPr lang="en-US" b="false" i="false" strike="noStrike" u="none" sz="1100">
                <a:solidFill>
                  <a:srgbClr val="1F2329"/>
                </a:solidFill>
                <a:latin typeface="Aptos"/>
                <a:ea typeface="Aptos"/>
                <a:cs typeface="Aptos"/>
                <a:sym typeface="Aptos"/>
              </a:rPr>
              <a:t/>
            </a:r>
          </a:p>
          <a:p>
            <a:pPr algn="l" indent="0">
              <a:lnSpc>
                <a:spcPct val="108333"/>
              </a:lnSpc>
            </a:pPr>
            <a:r>
              <a:rPr lang="en-US" b="true" i="false" strike="noStrike" u="none" sz="1100">
                <a:solidFill>
                  <a:srgbClr val="434B58"/>
                </a:solidFill>
                <a:latin typeface="Aptos"/>
                <a:ea typeface="Aptos"/>
                <a:cs typeface="Aptos"/>
                <a:sym typeface="Aptos"/>
              </a:rPr>
              <a:t>Improvement:</a:t>
            </a:r>
            <a:r>
              <a:rPr lang="en-US" b="false" i="false" strike="noStrike" u="none" sz="1100">
                <a:solidFill>
                  <a:srgbClr val="697386"/>
                </a:solidFill>
                <a:latin typeface="Aptos"/>
                <a:ea typeface="Aptos"/>
                <a:cs typeface="Aptos"/>
                <a:sym typeface="Aptos"/>
              </a:rPr>
              <a:t>Try more aggressive techniques like rotation, scaling, and color jitter.</a:t>
            </a:r>
          </a:p>
        </p:txBody>
      </p:sp>
      <p:sp>
        <p:nvSpPr>
          <p:cNvPr name="AutoShape 17" id="17"/>
          <p:cNvSpPr/>
          <p:nvPr/>
        </p:nvSpPr>
        <p:spPr>
          <a:xfrm rot="0" flipH="false" flipV="false">
            <a:off x="8267700" y="1257300"/>
            <a:ext cx="2997200" cy="2146300"/>
          </a:xfrm>
          <a:prstGeom prst="roundRect">
            <a:avLst>
              <a:gd name="adj" fmla="val 3550"/>
            </a:avLst>
          </a:prstGeom>
          <a:solidFill>
            <a:srgbClr val="FFFFFF">
              <a:alpha val="78000"/>
            </a:srgbClr>
          </a:solidFill>
          <a:ln w="12700" cmpd="sng" cap="flat">
            <a:solidFill>
              <a:srgbClr val="B8BDC7">
                <a:alpha val="100000"/>
              </a:srgbClr>
            </a:solidFill>
            <a:prstDash val="dash"/>
            <a:miter lim="10000000"/>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432800" y="1422400"/>
            <a:ext cx="2667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6253F"/>
                </a:solidFill>
                <a:latin typeface="Aptos"/>
                <a:ea typeface="Aptos"/>
                <a:cs typeface="Aptos"/>
                <a:sym typeface="Aptos"/>
              </a:rPr>
              <a:t>KEY INSIGHTS</a:t>
            </a:r>
            <a:endParaRPr lang="en-US" sz="1100"/>
          </a:p>
        </p:txBody>
      </p:sp>
      <p:sp>
        <p:nvSpPr>
          <p:cNvPr name="AutoShape 19" id="19"/>
          <p:cNvSpPr/>
          <p:nvPr/>
        </p:nvSpPr>
        <p:spPr>
          <a:xfrm rot="0" flipH="false" flipV="false">
            <a:off x="8432800" y="1778000"/>
            <a:ext cx="2667000" cy="1549400"/>
          </a:xfrm>
          <a:prstGeom prst="roundRect">
            <a:avLst>
              <a:gd name="adj" fmla="val 0"/>
            </a:avLst>
          </a:prstGeom>
          <a:noFill/>
          <a:ln w="25400" cmpd="sng" cap="flat">
            <a:noFill/>
            <a:prstDash val="solid"/>
            <a:round/>
          </a:ln>
        </p:spPr>
        <p:txBody>
          <a:bodyPr anchor="ctr" rtlCol="false" anchorCtr="false" vert="horz" wrap="square" lIns="63500" rIns="63500" tIns="63500" bIns="63500"/>
          <a:lstStyle/>
          <a:p>
            <a:pPr algn="just" indent="0">
              <a:lnSpc>
                <a:spcPct val="116666"/>
              </a:lnSpc>
              <a:defRPr/>
            </a:pPr>
            <a:r>
              <a:rPr lang="en-US" b="false" i="false" strike="noStrike" u="none" sz="1100">
                <a:solidFill>
                  <a:srgbClr val="697386"/>
                </a:solidFill>
                <a:latin typeface="Aptos"/>
                <a:ea typeface="Aptos"/>
                <a:cs typeface="Aptos"/>
                <a:sym typeface="Aptos"/>
              </a:rPr>
              <a:t>Deep learning models like CNNs are essential for capturing the complexity of image data. Even state-of-the-art models require robust augmentation to handle edge cases.</a:t>
            </a:r>
            <a:endParaRPr lang="en-US" sz="1100"/>
          </a:p>
        </p:txBody>
      </p:sp>
      <p:sp>
        <p:nvSpPr>
          <p:cNvPr name="AutoShape 20" id="20"/>
          <p:cNvSpPr/>
          <p:nvPr/>
        </p:nvSpPr>
        <p:spPr>
          <a:xfrm rot="0" flipH="false" flipV="false">
            <a:off x="698500" y="3670300"/>
            <a:ext cx="10566400" cy="2120900"/>
          </a:xfrm>
          <a:prstGeom prst="roundRect">
            <a:avLst>
              <a:gd name="adj" fmla="val 3592"/>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14400" y="3886200"/>
            <a:ext cx="2032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B4343A"/>
                </a:solidFill>
                <a:latin typeface="Aptos"/>
                <a:ea typeface="Aptos"/>
                <a:cs typeface="Aptos"/>
                <a:sym typeface="Aptos"/>
              </a:rPr>
              <a:t>LIMITATIONS &amp; NEXT STEPS</a:t>
            </a:r>
            <a:endParaRPr lang="en-US" sz="1100"/>
          </a:p>
        </p:txBody>
      </p:sp>
      <p:sp>
        <p:nvSpPr>
          <p:cNvPr name="AutoShape 22" id="22"/>
          <p:cNvSpPr/>
          <p:nvPr/>
        </p:nvSpPr>
        <p:spPr>
          <a:xfrm rot="0" flipH="false" flipV="false">
            <a:off x="914400" y="4254500"/>
            <a:ext cx="9969500" cy="5080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l" indent="0">
              <a:lnSpc>
                <a:spcPct val="108333"/>
              </a:lnSpc>
              <a:defRPr/>
            </a:pPr>
            <a:r>
              <a:rPr lang="en-US" b="false" i="false" strike="noStrike" u="none" sz="1200">
                <a:solidFill>
                  <a:srgbClr val="697386"/>
                </a:solidFill>
                <a:latin typeface="Aptos"/>
                <a:ea typeface="Aptos"/>
                <a:cs typeface="Aptos"/>
                <a:sym typeface="Aptos"/>
              </a:rPr>
              <a:t>Reflecting on the project, while our CNN model showed strong results on standard data, it faces clear challenges with edge cases and architectural simplicity.</a:t>
            </a:r>
            <a:endParaRPr lang="en-US" sz="1100"/>
          </a:p>
        </p:txBody>
      </p:sp>
      <p:sp>
        <p:nvSpPr>
          <p:cNvPr name="AutoShape 23" id="23"/>
          <p:cNvSpPr/>
          <p:nvPr/>
        </p:nvSpPr>
        <p:spPr>
          <a:xfrm rot="0" flipH="false" flipV="false">
            <a:off x="914400" y="4889500"/>
            <a:ext cx="2971800" cy="762000"/>
          </a:xfrm>
          <a:prstGeom prst="roundRect">
            <a:avLst>
              <a:gd name="adj" fmla="val 10000"/>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16000" y="4978400"/>
            <a:ext cx="2794000" cy="6350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l" indent="0">
              <a:lnSpc>
                <a:spcPct val="100000"/>
              </a:lnSpc>
              <a:defRPr/>
            </a:pPr>
            <a:r>
              <a:rPr lang="en-US" b="true" i="false" strike="noStrike" u="none" sz="1100">
                <a:solidFill>
                  <a:srgbClr val="16253F"/>
                </a:solidFill>
                <a:latin typeface="Aptos"/>
                <a:ea typeface="Aptos"/>
                <a:cs typeface="Aptos"/>
                <a:sym typeface="Aptos"/>
              </a:rPr>
              <a:t>LIMITATION 1</a:t>
            </a:r>
            <a:r>
              <a:rPr lang="en-US" b="false" i="false" strike="noStrike" u="none" sz="1100">
                <a:solidFill>
                  <a:srgbClr val="1F2329"/>
                </a:solidFill>
                <a:latin typeface="Aptos"/>
                <a:ea typeface="Aptos"/>
                <a:cs typeface="Aptos"/>
                <a:sym typeface="Aptos"/>
              </a:rPr>
              <a:t/>
            </a:r>
            <a:endParaRPr lang="en-US" sz="1100"/>
          </a:p>
          <a:p>
            <a:pPr algn="l" indent="0">
              <a:lnSpc>
                <a:spcPct val="100000"/>
              </a:lnSpc>
            </a:pPr>
            <a:r>
              <a:rPr lang="en-US" b="false" i="false" strike="noStrike" u="none" sz="1100">
                <a:solidFill>
                  <a:srgbClr val="697386"/>
                </a:solidFill>
                <a:latin typeface="Aptos"/>
                <a:ea typeface="Aptos"/>
                <a:cs typeface="Aptos"/>
                <a:sym typeface="Aptos"/>
              </a:rPr>
              <a:t>Performance degrades on faces with extreme poses or occlusions.</a:t>
            </a:r>
          </a:p>
        </p:txBody>
      </p:sp>
      <p:sp>
        <p:nvSpPr>
          <p:cNvPr name="AutoShape 25" id="25"/>
          <p:cNvSpPr/>
          <p:nvPr/>
        </p:nvSpPr>
        <p:spPr>
          <a:xfrm rot="0" flipH="false" flipV="false">
            <a:off x="4064000" y="4889500"/>
            <a:ext cx="2971800" cy="762000"/>
          </a:xfrm>
          <a:prstGeom prst="roundRect">
            <a:avLst>
              <a:gd name="adj" fmla="val 10000"/>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165600" y="4978400"/>
            <a:ext cx="2794000" cy="6350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l" indent="0">
              <a:lnSpc>
                <a:spcPct val="100000"/>
              </a:lnSpc>
              <a:defRPr/>
            </a:pPr>
            <a:r>
              <a:rPr lang="en-US" b="true" i="false" strike="noStrike" u="none" sz="1100">
                <a:solidFill>
                  <a:srgbClr val="16253F"/>
                </a:solidFill>
                <a:latin typeface="Aptos"/>
                <a:ea typeface="Aptos"/>
                <a:cs typeface="Aptos"/>
                <a:sym typeface="Aptos"/>
              </a:rPr>
              <a:t>LIMITATION 2</a:t>
            </a:r>
            <a:r>
              <a:rPr lang="en-US" b="false" i="false" strike="noStrike" u="none" sz="1100">
                <a:solidFill>
                  <a:srgbClr val="1F2329"/>
                </a:solidFill>
                <a:latin typeface="Aptos"/>
                <a:ea typeface="Aptos"/>
                <a:cs typeface="Aptos"/>
                <a:sym typeface="Aptos"/>
              </a:rPr>
              <a:t/>
            </a:r>
            <a:endParaRPr lang="en-US" sz="1100"/>
          </a:p>
          <a:p>
            <a:pPr algn="l" indent="0">
              <a:lnSpc>
                <a:spcPct val="100000"/>
              </a:lnSpc>
            </a:pPr>
            <a:r>
              <a:rPr lang="en-US" b="false" i="false" strike="noStrike" u="none" sz="1100">
                <a:solidFill>
                  <a:srgbClr val="697386"/>
                </a:solidFill>
                <a:latin typeface="Aptos"/>
                <a:ea typeface="Aptos"/>
                <a:cs typeface="Aptos"/>
                <a:sym typeface="Aptos"/>
              </a:rPr>
              <a:t>The architecture used was relatively simple; more complex ones (e.g., ResNet) may perform better.</a:t>
            </a:r>
          </a:p>
        </p:txBody>
      </p:sp>
      <p:sp>
        <p:nvSpPr>
          <p:cNvPr name="AutoShape 27" id="27"/>
          <p:cNvSpPr/>
          <p:nvPr/>
        </p:nvSpPr>
        <p:spPr>
          <a:xfrm rot="0" flipH="false" flipV="false">
            <a:off x="7200900" y="4889500"/>
            <a:ext cx="2971800" cy="762000"/>
          </a:xfrm>
          <a:prstGeom prst="roundRect">
            <a:avLst>
              <a:gd name="adj" fmla="val 10000"/>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302500" y="4978400"/>
            <a:ext cx="2794000" cy="635000"/>
          </a:xfrm>
          <a:prstGeom prst="roundRect">
            <a:avLst>
              <a:gd name="adj" fmla="val 0"/>
            </a:avLst>
          </a:prstGeom>
          <a:noFill/>
          <a:ln w="25400" cmpd="sng" cap="flat">
            <a:noFill/>
            <a:prstDash val="solid"/>
            <a:round/>
          </a:ln>
        </p:spPr>
        <p:txBody>
          <a:bodyPr anchor="ctr" rtlCol="false" anchorCtr="false" vert="horz" wrap="square" lIns="25400" rIns="25400" tIns="25400" bIns="25400"/>
          <a:lstStyle/>
          <a:p>
            <a:pPr algn="l" indent="0">
              <a:lnSpc>
                <a:spcPct val="100000"/>
              </a:lnSpc>
              <a:defRPr/>
            </a:pPr>
            <a:r>
              <a:rPr lang="en-US" b="true" i="false" strike="noStrike" u="none" sz="1100">
                <a:solidFill>
                  <a:srgbClr val="16253F"/>
                </a:solidFill>
                <a:latin typeface="Aptos"/>
                <a:ea typeface="Aptos"/>
                <a:cs typeface="Aptos"/>
                <a:sym typeface="Aptos"/>
              </a:rPr>
              <a:t>NEXT STEP</a:t>
            </a:r>
            <a:r>
              <a:rPr lang="en-US" b="false" i="false" strike="noStrike" u="none" sz="1100">
                <a:solidFill>
                  <a:srgbClr val="1F2329"/>
                </a:solidFill>
                <a:latin typeface="Aptos"/>
                <a:ea typeface="Aptos"/>
                <a:cs typeface="Aptos"/>
                <a:sym typeface="Aptos"/>
              </a:rPr>
              <a:t/>
            </a:r>
            <a:endParaRPr lang="en-US" sz="1100"/>
          </a:p>
          <a:p>
            <a:pPr algn="l" indent="0">
              <a:lnSpc>
                <a:spcPct val="100000"/>
              </a:lnSpc>
            </a:pPr>
            <a:r>
              <a:rPr lang="en-US" b="false" i="false" strike="noStrike" u="none" sz="1100">
                <a:solidFill>
                  <a:srgbClr val="697386"/>
                </a:solidFill>
                <a:latin typeface="Aptos"/>
                <a:ea typeface="Aptos"/>
                <a:cs typeface="Aptos"/>
                <a:sym typeface="Aptos"/>
              </a:rPr>
              <a:t>Explore state-of-the-art architectures and sophisticated data augmentation.</a:t>
            </a:r>
          </a:p>
        </p:txBody>
      </p:sp>
      <p:sp>
        <p:nvSpPr>
          <p:cNvPr name="AutoShape 29" id="29"/>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08</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65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544300" y="0"/>
            <a:ext cx="647700" cy="10033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25200" y="0"/>
            <a:ext cx="406400" cy="4191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92100"/>
            <a:ext cx="2921000" cy="203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FINAL PRESENTATION TEMPLATE</a:t>
            </a:r>
            <a:endParaRPr lang="en-US" sz="1100"/>
          </a:p>
        </p:txBody>
      </p:sp>
      <p:sp>
        <p:nvSpPr>
          <p:cNvPr name="AutoShape 6" id="6"/>
          <p:cNvSpPr/>
          <p:nvPr/>
        </p:nvSpPr>
        <p:spPr>
          <a:xfrm rot="0" flipH="false" flipV="false">
            <a:off x="508000" y="508000"/>
            <a:ext cx="8089900" cy="4699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600">
                <a:solidFill>
                  <a:srgbClr val="16253F"/>
                </a:solidFill>
                <a:latin typeface="Play"/>
                <a:ea typeface="Play"/>
                <a:cs typeface="Play"/>
                <a:sym typeface="Play"/>
              </a:rPr>
              <a:t>7. AI Usage &amp; Reproducibility</a:t>
            </a:r>
            <a:endParaRPr lang="en-US" sz="1100"/>
          </a:p>
        </p:txBody>
      </p:sp>
      <p:cxnSp>
        <p:nvCxnSpPr>
          <p:cNvPr name="Connector 7" id="7"/>
          <p:cNvCxnSpPr/>
          <p:nvPr/>
        </p:nvCxnSpPr>
        <p:spPr>
          <a:xfrm rot="0" flipH="false" flipV="false">
            <a:off x="508000" y="6438900"/>
            <a:ext cx="11150607" cy="12700"/>
          </a:xfrm>
          <a:prstGeom prst="line">
            <a:avLst/>
          </a:prstGeom>
          <a:solidFill>
            <a:srgbClr val="DEE0E3">
              <a:alpha val="100000"/>
            </a:srgbClr>
          </a:solidFill>
          <a:ln w="12700" cmpd="sng" cap="sq">
            <a:solidFill>
              <a:srgbClr val="D5CCBF">
                <a:alpha val="100000"/>
              </a:srgbClr>
            </a:solidFill>
            <a:prstDash val="solid"/>
            <a:miter lim="10000000"/>
            <a:headEnd type="none" w="med" len="med"/>
            <a:tailEnd type="none" w="med" len="med"/>
          </a:ln>
        </p:spPr>
      </p:cxnSp>
      <p:sp>
        <p:nvSpPr>
          <p:cNvPr name="AutoShape 8" id="8"/>
          <p:cNvSpPr/>
          <p:nvPr/>
        </p:nvSpPr>
        <p:spPr>
          <a:xfrm rot="0" flipH="false" flipV="false">
            <a:off x="533400" y="6477000"/>
            <a:ext cx="64897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900">
                <a:solidFill>
                  <a:srgbClr val="697386"/>
                </a:solidFill>
                <a:latin typeface="Aptos"/>
                <a:ea typeface="Aptos"/>
                <a:cs typeface="Aptos"/>
                <a:sym typeface="Aptos"/>
              </a:rPr>
              <a:t>SDSC8007 • Mini Project • AI Usage &amp; Reproducibility</a:t>
            </a:r>
            <a:endParaRPr lang="en-US" sz="1100"/>
          </a:p>
        </p:txBody>
      </p:sp>
      <p:sp>
        <p:nvSpPr>
          <p:cNvPr name="AutoShape 9" id="9"/>
          <p:cNvSpPr/>
          <p:nvPr/>
        </p:nvSpPr>
        <p:spPr>
          <a:xfrm rot="0" flipH="false" flipV="false">
            <a:off x="9372600" y="292100"/>
            <a:ext cx="1651000" cy="254000"/>
          </a:xfrm>
          <a:prstGeom prst="roundRect">
            <a:avLst>
              <a:gd name="adj" fmla="val 20000"/>
            </a:avLst>
          </a:prstGeom>
          <a:solidFill>
            <a:srgbClr val="FFFCF7">
              <a:alpha val="100000"/>
            </a:srgbClr>
          </a:solidFill>
          <a:ln w="12700" cmpd="sng" cap="flat">
            <a:solidFill>
              <a:srgbClr val="EDE2D3">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448800" y="330200"/>
            <a:ext cx="1498600" cy="12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800">
                <a:solidFill>
                  <a:srgbClr val="697386"/>
                </a:solidFill>
                <a:latin typeface="Aptos"/>
                <a:ea typeface="Aptos"/>
                <a:cs typeface="Aptos"/>
                <a:sym typeface="Aptos"/>
              </a:rPr>
              <a:t>DISCLOSE CLEARLY</a:t>
            </a:r>
            <a:endParaRPr lang="en-US" sz="1100"/>
          </a:p>
        </p:txBody>
      </p:sp>
      <p:sp>
        <p:nvSpPr>
          <p:cNvPr name="AutoShape 11" id="11"/>
          <p:cNvSpPr/>
          <p:nvPr/>
        </p:nvSpPr>
        <p:spPr>
          <a:xfrm rot="0" flipH="false" flipV="false">
            <a:off x="698500" y="1257300"/>
            <a:ext cx="5245100" cy="4521200"/>
          </a:xfrm>
          <a:prstGeom prst="roundRect">
            <a:avLst>
              <a:gd name="adj" fmla="val 1685"/>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1498600"/>
            <a:ext cx="8255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000">
                <a:solidFill>
                  <a:srgbClr val="B4343A"/>
                </a:solidFill>
                <a:latin typeface="Aptos"/>
                <a:ea typeface="Aptos"/>
                <a:cs typeface="Aptos"/>
                <a:sym typeface="Aptos"/>
              </a:rPr>
              <a:t>AI TOOL USAGE</a:t>
            </a:r>
            <a:endParaRPr lang="en-US" sz="1100"/>
          </a:p>
        </p:txBody>
      </p:sp>
      <p:sp>
        <p:nvSpPr>
          <p:cNvPr name="AutoShape 13" id="13"/>
          <p:cNvSpPr/>
          <p:nvPr/>
        </p:nvSpPr>
        <p:spPr>
          <a:xfrm rot="0" flipH="false" flipV="false">
            <a:off x="914400" y="1752600"/>
            <a:ext cx="47117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374151"/>
                </a:solidFill>
                <a:latin typeface="Noto Sans SC"/>
                <a:ea typeface="Noto Sans SC"/>
                <a:cs typeface="Noto Sans SC"/>
                <a:sym typeface="Noto Sans SC"/>
              </a:rPr>
              <a:t>Which AI tools were used, for what purpose, and which core designs were completed independently by the group.</a:t>
            </a:r>
            <a:endParaRPr lang="en-US" sz="1100"/>
          </a:p>
        </p:txBody>
      </p:sp>
      <p:sp>
        <p:nvSpPr>
          <p:cNvPr name="AutoShape 14" id="14"/>
          <p:cNvSpPr/>
          <p:nvPr/>
        </p:nvSpPr>
        <p:spPr>
          <a:xfrm rot="0" flipH="false" flipV="false">
            <a:off x="914400" y="2413000"/>
            <a:ext cx="4660900" cy="571500"/>
          </a:xfrm>
          <a:prstGeom prst="roundRect">
            <a:avLst>
              <a:gd name="adj" fmla="val 13333"/>
            </a:avLst>
          </a:prstGeom>
          <a:solidFill>
            <a:srgbClr val="EAF0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79500" y="2514600"/>
            <a:ext cx="4318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100">
                <a:solidFill>
                  <a:srgbClr val="1F2329"/>
                </a:solidFill>
                <a:latin typeface="Noto Sans SC"/>
                <a:ea typeface="Noto Sans SC"/>
                <a:cs typeface="Noto Sans SC"/>
                <a:sym typeface="Noto Sans SC"/>
              </a:rPr>
              <a:t>Tool:</a:t>
            </a:r>
            <a:r>
              <a:rPr lang="en-US" b="false" i="false" strike="noStrike" u="none" sz="1100">
                <a:solidFill>
                  <a:srgbClr val="374151"/>
                </a:solidFill>
                <a:latin typeface="Noto Sans SC"/>
                <a:ea typeface="Noto Sans SC"/>
                <a:cs typeface="Noto Sans SC"/>
                <a:sym typeface="Noto Sans SC"/>
              </a:rPr>
              <a:t>GitHub Copilot</a:t>
            </a:r>
            <a:endParaRPr lang="en-US" sz="1100"/>
          </a:p>
        </p:txBody>
      </p:sp>
      <p:sp>
        <p:nvSpPr>
          <p:cNvPr name="AutoShape 16" id="16"/>
          <p:cNvSpPr/>
          <p:nvPr/>
        </p:nvSpPr>
        <p:spPr>
          <a:xfrm rot="0" flipH="false" flipV="false">
            <a:off x="914400" y="3111500"/>
            <a:ext cx="4660900" cy="698500"/>
          </a:xfrm>
          <a:prstGeom prst="roundRect">
            <a:avLst>
              <a:gd name="adj" fmla="val 10909"/>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79500" y="3200400"/>
            <a:ext cx="431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100">
                <a:solidFill>
                  <a:srgbClr val="1F2329"/>
                </a:solidFill>
                <a:latin typeface="Noto Sans SC"/>
                <a:ea typeface="Noto Sans SC"/>
                <a:cs typeface="Noto Sans SC"/>
                <a:sym typeface="Noto Sans SC"/>
              </a:rPr>
              <a:t>Purpose:</a:t>
            </a:r>
            <a:r>
              <a:rPr lang="en-US" b="false" i="false" strike="noStrike" u="none" sz="1100">
                <a:solidFill>
                  <a:srgbClr val="374151"/>
                </a:solidFill>
                <a:latin typeface="Noto Sans SC"/>
                <a:ea typeface="Noto Sans SC"/>
                <a:cs typeface="Noto Sans SC"/>
                <a:sym typeface="Noto Sans SC"/>
              </a:rPr>
              <a:t>Used for code autocompletion, debugging assistance, and syntax suggestions, primarily to speed up the coding process for standard tasks.</a:t>
            </a:r>
            <a:endParaRPr lang="en-US" sz="1100"/>
          </a:p>
        </p:txBody>
      </p:sp>
      <p:sp>
        <p:nvSpPr>
          <p:cNvPr name="AutoShape 18" id="18"/>
          <p:cNvSpPr/>
          <p:nvPr/>
        </p:nvSpPr>
        <p:spPr>
          <a:xfrm rot="0" flipH="false" flipV="false">
            <a:off x="914400" y="3937000"/>
            <a:ext cx="4660900" cy="825500"/>
          </a:xfrm>
          <a:prstGeom prst="roundRect">
            <a:avLst>
              <a:gd name="adj" fmla="val 9230"/>
            </a:avLst>
          </a:prstGeom>
          <a:solidFill>
            <a:srgbClr val="FFFFFF">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79500" y="4038600"/>
            <a:ext cx="431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100">
                <a:solidFill>
                  <a:srgbClr val="1F2329"/>
                </a:solidFill>
                <a:latin typeface="Noto Sans SC"/>
                <a:ea typeface="Noto Sans SC"/>
                <a:cs typeface="Noto Sans SC"/>
                <a:sym typeface="Noto Sans SC"/>
              </a:rPr>
              <a:t>Independent Work:</a:t>
            </a:r>
            <a:r>
              <a:rPr lang="en-US" b="false" i="false" strike="noStrike" u="none" sz="1100">
                <a:solidFill>
                  <a:srgbClr val="374151"/>
                </a:solidFill>
                <a:latin typeface="Noto Sans SC"/>
                <a:ea typeface="Noto Sans SC"/>
                <a:cs typeface="Noto Sans SC"/>
                <a:sym typeface="Noto Sans SC"/>
              </a:rPr>
              <a:t>All core model designs (CNN architecture), data preprocessing strategies, and experimental pipeline were designed and implemented independently by the group.</a:t>
            </a:r>
            <a:endParaRPr lang="en-US" sz="1100"/>
          </a:p>
        </p:txBody>
      </p:sp>
      <p:sp>
        <p:nvSpPr>
          <p:cNvPr name="AutoShape 20" id="20"/>
          <p:cNvSpPr/>
          <p:nvPr/>
        </p:nvSpPr>
        <p:spPr>
          <a:xfrm rot="0" flipH="false" flipV="false">
            <a:off x="914400" y="4953000"/>
            <a:ext cx="4660900" cy="635000"/>
          </a:xfrm>
          <a:prstGeom prst="roundRect">
            <a:avLst>
              <a:gd name="adj" fmla="val 12000"/>
            </a:avLst>
          </a:prstGeom>
          <a:solidFill>
            <a:srgbClr val="FFF1F2">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79500" y="5054600"/>
            <a:ext cx="431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100">
                <a:solidFill>
                  <a:srgbClr val="B91C1C"/>
                </a:solidFill>
                <a:latin typeface="Noto Sans SC"/>
                <a:ea typeface="Noto Sans SC"/>
                <a:cs typeface="Noto Sans SC"/>
                <a:sym typeface="Noto Sans SC"/>
              </a:rPr>
              <a:t>Disclosure Note:</a:t>
            </a:r>
            <a:r>
              <a:rPr lang="en-US" b="false" i="false" strike="noStrike" u="none" sz="1100">
                <a:solidFill>
                  <a:srgbClr val="374151"/>
                </a:solidFill>
                <a:latin typeface="Noto Sans SC"/>
                <a:ea typeface="Noto Sans SC"/>
                <a:cs typeface="Noto Sans SC"/>
                <a:sym typeface="Noto Sans SC"/>
              </a:rPr>
              <a:t>AI tools were used as productivity aids and did not contribute to the core intellectual content of the project.</a:t>
            </a:r>
            <a:endParaRPr lang="en-US" sz="1100"/>
          </a:p>
        </p:txBody>
      </p:sp>
      <p:sp>
        <p:nvSpPr>
          <p:cNvPr name="AutoShape 22" id="22"/>
          <p:cNvSpPr/>
          <p:nvPr/>
        </p:nvSpPr>
        <p:spPr>
          <a:xfrm rot="0" flipH="false" flipV="false">
            <a:off x="6197600" y="1257300"/>
            <a:ext cx="5067300" cy="4521200"/>
          </a:xfrm>
          <a:prstGeom prst="roundRect">
            <a:avLst>
              <a:gd name="adj" fmla="val 1685"/>
            </a:avLst>
          </a:prstGeom>
          <a:solidFill>
            <a:srgbClr val="FFFCF7">
              <a:alpha val="100000"/>
            </a:srgbClr>
          </a:solidFill>
          <a:ln w="12700" cmpd="sng" cap="flat">
            <a:solidFill>
              <a:srgbClr val="D5CCBF">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38900" y="1498600"/>
            <a:ext cx="2032000" cy="228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B4343A"/>
                </a:solidFill>
                <a:latin typeface="Aptos"/>
                <a:ea typeface="Aptos"/>
                <a:cs typeface="Aptos"/>
                <a:sym typeface="Aptos"/>
              </a:rPr>
              <a:t>REPRODUCIBILITY CHECKLIST</a:t>
            </a:r>
            <a:endParaRPr lang="en-US" sz="1100"/>
          </a:p>
        </p:txBody>
      </p:sp>
      <p:sp>
        <p:nvSpPr>
          <p:cNvPr name="AutoShape 24" id="24"/>
          <p:cNvSpPr/>
          <p:nvPr/>
        </p:nvSpPr>
        <p:spPr>
          <a:xfrm rot="0" flipH="false" flipV="false">
            <a:off x="6438900" y="2032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769100" y="2006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Random seeds (fixed for reproducibility)</a:t>
            </a:r>
            <a:endParaRPr lang="en-US" sz="1100"/>
          </a:p>
        </p:txBody>
      </p:sp>
      <p:sp>
        <p:nvSpPr>
          <p:cNvPr name="AutoShape 26" id="26"/>
          <p:cNvSpPr/>
          <p:nvPr/>
        </p:nvSpPr>
        <p:spPr>
          <a:xfrm rot="0" flipH="false" flipV="false">
            <a:off x="6438900" y="2667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769100" y="2641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Environment / packages (versions) / hardware specs</a:t>
            </a:r>
            <a:endParaRPr lang="en-US" sz="1100"/>
          </a:p>
        </p:txBody>
      </p:sp>
      <p:sp>
        <p:nvSpPr>
          <p:cNvPr name="AutoShape 28" id="28"/>
          <p:cNvSpPr/>
          <p:nvPr/>
        </p:nvSpPr>
        <p:spPr>
          <a:xfrm rot="0" flipH="false" flipV="false">
            <a:off x="6438900" y="3302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769100" y="3276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Training configuration (batch size, epochs, optimizers)</a:t>
            </a:r>
            <a:endParaRPr lang="en-US" sz="1100"/>
          </a:p>
        </p:txBody>
      </p:sp>
      <p:sp>
        <p:nvSpPr>
          <p:cNvPr name="AutoShape 30" id="30"/>
          <p:cNvSpPr/>
          <p:nvPr/>
        </p:nvSpPr>
        <p:spPr>
          <a:xfrm rot="0" flipH="false" flipV="false">
            <a:off x="6438900" y="3937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769100" y="3911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Access to full code / Jupyter notebook link</a:t>
            </a:r>
            <a:endParaRPr lang="en-US" sz="1100"/>
          </a:p>
        </p:txBody>
      </p:sp>
      <p:sp>
        <p:nvSpPr>
          <p:cNvPr name="AutoShape 32" id="32"/>
          <p:cNvSpPr/>
          <p:nvPr/>
        </p:nvSpPr>
        <p:spPr>
          <a:xfrm rot="0" flipH="false" flipV="false">
            <a:off x="6438900" y="4572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769100" y="4546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Metric computation details (TP/TN/FP/FN logic)</a:t>
            </a:r>
            <a:endParaRPr lang="en-US" sz="1100"/>
          </a:p>
        </p:txBody>
      </p:sp>
      <p:sp>
        <p:nvSpPr>
          <p:cNvPr name="AutoShape 34" id="34"/>
          <p:cNvSpPr/>
          <p:nvPr/>
        </p:nvSpPr>
        <p:spPr>
          <a:xfrm rot="0" flipH="false" flipV="false">
            <a:off x="6438900" y="5207000"/>
            <a:ext cx="203200" cy="203200"/>
          </a:xfrm>
          <a:prstGeom prst="roundRect">
            <a:avLst>
              <a:gd name="adj" fmla="val 12500"/>
            </a:avLst>
          </a:prstGeom>
          <a:solidFill>
            <a:srgbClr val="10B981">
              <a:alpha val="100000"/>
            </a:srgbClr>
          </a:solidFill>
          <a:ln w="12700" cmpd="sng" cap="flat">
            <a:solidFill>
              <a:srgbClr val="10B981">
                <a:alpha val="100000"/>
              </a:srgbClr>
            </a:solidFill>
            <a:prstDash val="solid"/>
            <a:miter lim="10000000"/>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769100" y="5181600"/>
            <a:ext cx="4025900" cy="254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Pretrained model source + parameter count (if applicable)</a:t>
            </a:r>
            <a:endParaRPr lang="en-US" sz="1100"/>
          </a:p>
        </p:txBody>
      </p:sp>
      <p:sp>
        <p:nvSpPr>
          <p:cNvPr name="AutoShape 36" id="36"/>
          <p:cNvSpPr/>
          <p:nvPr/>
        </p:nvSpPr>
        <p:spPr>
          <a:xfrm rot="0" flipH="false" flipV="false">
            <a:off x="11379200" y="6464300"/>
            <a:ext cx="406400" cy="165100"/>
          </a:xfrm>
          <a:prstGeom prst="roundRect">
            <a:avLst>
              <a:gd name="adj" fmla="val 0"/>
            </a:avLst>
          </a:prstGeom>
          <a:noFill/>
          <a:ln w="25400" cmpd="sng" cap="flat">
            <a:noFill/>
            <a:prstDash val="solid"/>
            <a:round/>
          </a:ln>
        </p:spPr>
        <p:txBody>
          <a:bodyPr anchor="ctr" rtlCol="false" anchorCtr="false" vert="horz" wrap="square" lIns="0" rIns="0" tIns="0" bIns="0"/>
          <a:lstStyle/>
          <a:p>
            <a:pPr algn="r" indent="0">
              <a:lnSpc>
                <a:spcPct val="100000"/>
              </a:lnSpc>
              <a:defRPr/>
            </a:pPr>
            <a:r>
              <a:rPr lang="en-US" b="false" i="false" strike="noStrike" u="none" sz="900">
                <a:solidFill>
                  <a:srgbClr val="697386"/>
                </a:solidFill>
                <a:latin typeface="Aptos"/>
                <a:ea typeface="Aptos"/>
                <a:cs typeface="Aptos"/>
                <a:sym typeface="Aptos"/>
              </a:rPr>
              <a:t>09</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2832100" cy="6858000"/>
          </a:xfrm>
          <a:prstGeom prst="roundRect">
            <a:avLst>
              <a:gd name="adj" fmla="val 0"/>
            </a:avLst>
          </a:prstGeom>
          <a:solidFill>
            <a:srgbClr val="B4343A">
              <a:alpha val="100000"/>
            </a:srgbClr>
          </a:solidFill>
          <a:ln w="12700" cmpd="sng" cap="flat">
            <a:solidFill>
              <a:srgbClr val="B4343A">
                <a:alpha val="0"/>
              </a:srgbClr>
            </a:solidFill>
            <a:prstDash val="solid"/>
            <a:miter lim="10000000"/>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832100" y="0"/>
            <a:ext cx="9359900" cy="6858000"/>
          </a:xfrm>
          <a:prstGeom prst="roundRect">
            <a:avLst>
              <a:gd name="adj" fmla="val 0"/>
            </a:avLst>
          </a:prstGeom>
          <a:solidFill>
            <a:srgbClr val="16253F">
              <a:alpha val="100000"/>
            </a:srgbClr>
          </a:solidFill>
          <a:ln w="12700" cmpd="sng" cap="flat">
            <a:solidFill>
              <a:srgbClr val="16253F">
                <a:alpha val="0"/>
              </a:srgbClr>
            </a:solidFill>
            <a:prstDash val="solid"/>
            <a:miter lim="10000000"/>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2286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FFFFFF"/>
                </a:solidFill>
                <a:latin typeface="Play"/>
                <a:ea typeface="Play"/>
                <a:cs typeface="Play"/>
                <a:sym typeface="Play"/>
              </a:rPr>
              <a:t>Q&amp;A</a:t>
            </a:r>
            <a:endParaRPr lang="en-US" sz="1100"/>
          </a:p>
        </p:txBody>
      </p:sp>
      <p:sp>
        <p:nvSpPr>
          <p:cNvPr name="AutoShape 5" id="5"/>
          <p:cNvSpPr/>
          <p:nvPr/>
        </p:nvSpPr>
        <p:spPr>
          <a:xfrm rot="0" flipH="false" flipV="false">
            <a:off x="3733800" y="15367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Play"/>
                <a:ea typeface="Play"/>
                <a:cs typeface="Play"/>
                <a:sym typeface="Play"/>
              </a:rPr>
              <a:t>Appendix slides you may add after this page</a:t>
            </a:r>
            <a:endParaRPr lang="en-US" sz="1100"/>
          </a:p>
        </p:txBody>
      </p:sp>
      <p:sp>
        <p:nvSpPr>
          <p:cNvPr name="AutoShape 6" id="6"/>
          <p:cNvSpPr/>
          <p:nvPr/>
        </p:nvSpPr>
        <p:spPr>
          <a:xfrm rot="0" flipH="false" flipV="false">
            <a:off x="3733800" y="2413000"/>
            <a:ext cx="4826000" cy="2794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500">
                <a:solidFill>
                  <a:srgbClr val="D5DBE7"/>
                </a:solidFill>
                <a:latin typeface="Aptos"/>
                <a:ea typeface="Aptos"/>
                <a:cs typeface="Aptos"/>
                <a:sym typeface="Aptos"/>
              </a:rPr>
              <a:t>• More ablation details</a:t>
            </a:r>
            <a:r>
              <a:rPr lang="en-US" b="false" i="false" strike="noStrike" u="none" sz="1500">
                <a:solidFill>
                  <a:srgbClr val="D5DBE7"/>
                </a:solidFill>
                <a:latin typeface="Aptos"/>
                <a:ea typeface="Aptos"/>
                <a:cs typeface="Aptos"/>
                <a:sym typeface="Aptos"/>
              </a:rPr>
              <a:t/>
            </a:r>
            <a:endParaRPr lang="en-US" sz="1100"/>
          </a:p>
          <a:p>
            <a:pPr algn="l" indent="0">
              <a:lnSpc>
                <a:spcPct val="133333"/>
              </a:lnSpc>
            </a:pPr>
            <a:r>
              <a:rPr lang="en-US" b="false" i="false" strike="noStrike" u="none" sz="1500">
                <a:solidFill>
                  <a:srgbClr val="D5DBE7"/>
                </a:solidFill>
                <a:latin typeface="Aptos"/>
                <a:ea typeface="Aptos"/>
                <a:cs typeface="Aptos"/>
                <a:sym typeface="Aptos"/>
              </a:rPr>
              <a:t>• Extra EDA plots</a:t>
            </a:r>
            <a:r>
              <a:rPr lang="en-US" b="false" i="false" strike="noStrike" u="none" sz="1500">
                <a:solidFill>
                  <a:srgbClr val="D5DBE7"/>
                </a:solidFill>
                <a:latin typeface="Aptos"/>
                <a:ea typeface="Aptos"/>
                <a:cs typeface="Aptos"/>
                <a:sym typeface="Aptos"/>
              </a:rPr>
              <a:t/>
            </a:r>
          </a:p>
          <a:p>
            <a:pPr algn="l" indent="0">
              <a:lnSpc>
                <a:spcPct val="133333"/>
              </a:lnSpc>
            </a:pPr>
            <a:r>
              <a:rPr lang="en-US" b="false" i="false" strike="noStrike" u="none" sz="1500">
                <a:solidFill>
                  <a:srgbClr val="D5DBE7"/>
                </a:solidFill>
                <a:latin typeface="Aptos"/>
                <a:ea typeface="Aptos"/>
                <a:cs typeface="Aptos"/>
                <a:sym typeface="Aptos"/>
              </a:rPr>
              <a:t>• Architecture diagram / training curve</a:t>
            </a:r>
            <a:r>
              <a:rPr lang="en-US" b="false" i="false" strike="noStrike" u="none" sz="1500">
                <a:solidFill>
                  <a:srgbClr val="D5DBE7"/>
                </a:solidFill>
                <a:latin typeface="Aptos"/>
                <a:ea typeface="Aptos"/>
                <a:cs typeface="Aptos"/>
                <a:sym typeface="Aptos"/>
              </a:rPr>
              <a:t/>
            </a:r>
          </a:p>
          <a:p>
            <a:pPr algn="l" indent="0">
              <a:lnSpc>
                <a:spcPct val="133333"/>
              </a:lnSpc>
            </a:pPr>
            <a:r>
              <a:rPr lang="en-US" b="false" i="false" strike="noStrike" u="none" sz="1500">
                <a:solidFill>
                  <a:srgbClr val="D5DBE7"/>
                </a:solidFill>
                <a:latin typeface="Aptos"/>
                <a:ea typeface="Aptos"/>
                <a:cs typeface="Aptos"/>
                <a:sym typeface="Aptos"/>
              </a:rPr>
              <a:t>• Failure cases / qualitative examples</a:t>
            </a:r>
            <a:r>
              <a:rPr lang="en-US" b="false" i="false" strike="noStrike" u="none" sz="1500">
                <a:solidFill>
                  <a:srgbClr val="D5DBE7"/>
                </a:solidFill>
                <a:latin typeface="Aptos"/>
                <a:ea typeface="Aptos"/>
                <a:cs typeface="Aptos"/>
                <a:sym typeface="Aptos"/>
              </a:rPr>
              <a:t/>
            </a:r>
          </a:p>
          <a:p>
            <a:pPr algn="l" indent="0">
              <a:lnSpc>
                <a:spcPct val="133333"/>
              </a:lnSpc>
            </a:pPr>
            <a:r>
              <a:rPr lang="en-US" b="false" i="false" strike="noStrike" u="none" sz="1500">
                <a:solidFill>
                  <a:srgbClr val="D5DBE7"/>
                </a:solidFill>
                <a:latin typeface="Aptos"/>
                <a:ea typeface="Aptos"/>
                <a:cs typeface="Aptos"/>
                <a:sym typeface="Aptos"/>
              </a:rPr>
              <a:t>• Backup answers for validation and reproducibility</a:t>
            </a:r>
          </a:p>
        </p:txBody>
      </p:sp>
      <p:sp>
        <p:nvSpPr>
          <p:cNvPr name="AutoShape 7" id="7"/>
          <p:cNvSpPr/>
          <p:nvPr/>
        </p:nvSpPr>
        <p:spPr>
          <a:xfrm rot="0" flipH="false" flipV="false">
            <a:off x="8763000" y="2032000"/>
            <a:ext cx="2794000" cy="2794000"/>
          </a:xfrm>
          <a:prstGeom prst="roundRect">
            <a:avLst>
              <a:gd name="adj" fmla="val 3636"/>
            </a:avLst>
          </a:prstGeom>
          <a:solidFill>
            <a:srgbClr val="20314E">
              <a:alpha val="100000"/>
            </a:srgbClr>
          </a:solidFill>
          <a:ln w="12700" cmpd="sng" cap="flat">
            <a:solidFill>
              <a:srgbClr val="60738E">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0" y="2540000"/>
            <a:ext cx="254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Play"/>
                <a:ea typeface="Play"/>
                <a:cs typeface="Play"/>
                <a:sym typeface="Play"/>
              </a:rPr>
              <a:t>Thank you</a:t>
            </a:r>
            <a:endParaRPr lang="en-US" sz="1100"/>
          </a:p>
        </p:txBody>
      </p:sp>
      <p:sp>
        <p:nvSpPr>
          <p:cNvPr name="AutoShape 9" id="9"/>
          <p:cNvSpPr/>
          <p:nvPr/>
        </p:nvSpPr>
        <p:spPr>
          <a:xfrm rot="0" flipH="false" flipV="false">
            <a:off x="8890000" y="3683000"/>
            <a:ext cx="254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300">
                <a:solidFill>
                  <a:srgbClr val="A1B1C8"/>
                </a:solidFill>
                <a:latin typeface="Aptos"/>
                <a:ea typeface="Aptos"/>
                <a:cs typeface="Aptos"/>
                <a:sym typeface="Aptos"/>
              </a:rPr>
              <a:t>For your attention</a:t>
            </a:r>
            <a:endParaRPr lang="en-US" sz="1100"/>
          </a:p>
        </p:txBody>
      </p:sp>
      <p:sp>
        <p:nvSpPr>
          <p:cNvPr name="AutoShape 10" id="10"/>
          <p:cNvSpPr/>
          <p:nvPr/>
        </p:nvSpPr>
        <p:spPr>
          <a:xfrm rot="0" flipH="false" flipV="false">
            <a:off x="3733800" y="5842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8291A5"/>
                </a:solidFill>
                <a:latin typeface="Aptos"/>
                <a:ea typeface="Aptos"/>
                <a:cs typeface="Aptos"/>
                <a:sym typeface="Aptos"/>
              </a:rPr>
              <a:t>SDSC8007 • Final Presentation Template</a:t>
            </a:r>
            <a:endParaRPr lang="en-US" sz="1100"/>
          </a:p>
        </p:txBody>
      </p:sp>
      <p:sp>
        <p:nvSpPr>
          <p:cNvPr name="AutoShape 11" id="11"/>
          <p:cNvSpPr/>
          <p:nvPr/>
        </p:nvSpPr>
        <p:spPr>
          <a:xfrm rot="0" flipH="false" flipV="false">
            <a:off x="11303000" y="6223000"/>
            <a:ext cx="762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697386"/>
                </a:solidFill>
                <a:latin typeface="Aptos"/>
                <a:ea typeface="Aptos"/>
                <a:cs typeface="Aptos"/>
                <a:sym typeface="Aptos"/>
              </a:rPr>
              <a:t>10</a:t>
            </a:r>
            <a:endParaRPr lang="en-US" sz="1100"/>
          </a:p>
        </p:txBody>
      </p:sp>
      <p:pic>
        <p:nvPicPr>
          <p:cNvPr name="Picture 12" id="12"/>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